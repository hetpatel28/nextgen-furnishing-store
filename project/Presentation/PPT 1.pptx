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1"/>
  </p:notesMasterIdLst>
  <p:sldIdLst>
    <p:sldId id="256" r:id="rId2"/>
    <p:sldId id="257" r:id="rId3"/>
    <p:sldId id="258" r:id="rId4"/>
    <p:sldId id="264" r:id="rId5"/>
    <p:sldId id="259" r:id="rId6"/>
    <p:sldId id="260" r:id="rId7"/>
    <p:sldId id="261" r:id="rId8"/>
    <p:sldId id="262" r:id="rId9"/>
    <p:sldId id="263" r:id="rId10"/>
    <p:sldId id="265" r:id="rId11"/>
    <p:sldId id="266" r:id="rId12"/>
    <p:sldId id="287" r:id="rId13"/>
    <p:sldId id="288" r:id="rId14"/>
    <p:sldId id="268" r:id="rId15"/>
    <p:sldId id="295" r:id="rId16"/>
    <p:sldId id="272" r:id="rId17"/>
    <p:sldId id="271" r:id="rId18"/>
    <p:sldId id="269" r:id="rId19"/>
    <p:sldId id="270" r:id="rId20"/>
    <p:sldId id="296" r:id="rId21"/>
    <p:sldId id="274" r:id="rId22"/>
    <p:sldId id="286" r:id="rId23"/>
    <p:sldId id="275" r:id="rId24"/>
    <p:sldId id="297" r:id="rId25"/>
    <p:sldId id="278" r:id="rId26"/>
    <p:sldId id="276" r:id="rId27"/>
    <p:sldId id="285" r:id="rId28"/>
    <p:sldId id="298" r:id="rId29"/>
    <p:sldId id="299" r:id="rId30"/>
    <p:sldId id="300" r:id="rId31"/>
    <p:sldId id="277" r:id="rId32"/>
    <p:sldId id="279" r:id="rId33"/>
    <p:sldId id="280" r:id="rId34"/>
    <p:sldId id="281" r:id="rId35"/>
    <p:sldId id="284" r:id="rId36"/>
    <p:sldId id="289" r:id="rId37"/>
    <p:sldId id="290" r:id="rId38"/>
    <p:sldId id="291" r:id="rId39"/>
    <p:sldId id="292"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7370FAB-6B14-445A-ADF5-640F8E1B201E}">
          <p14:sldIdLst>
            <p14:sldId id="256"/>
          </p14:sldIdLst>
        </p14:section>
        <p14:section name="Untitled Section" id="{6F002C25-F9E9-41FF-AAD4-33BB0C55364C}">
          <p14:sldIdLst>
            <p14:sldId id="257"/>
            <p14:sldId id="258"/>
            <p14:sldId id="264"/>
            <p14:sldId id="259"/>
            <p14:sldId id="260"/>
            <p14:sldId id="261"/>
            <p14:sldId id="262"/>
            <p14:sldId id="263"/>
            <p14:sldId id="265"/>
            <p14:sldId id="266"/>
            <p14:sldId id="287"/>
            <p14:sldId id="288"/>
            <p14:sldId id="268"/>
            <p14:sldId id="295"/>
            <p14:sldId id="272"/>
            <p14:sldId id="271"/>
            <p14:sldId id="269"/>
            <p14:sldId id="270"/>
            <p14:sldId id="296"/>
            <p14:sldId id="274"/>
            <p14:sldId id="286"/>
            <p14:sldId id="275"/>
            <p14:sldId id="297"/>
            <p14:sldId id="278"/>
            <p14:sldId id="276"/>
            <p14:sldId id="285"/>
            <p14:sldId id="298"/>
            <p14:sldId id="299"/>
            <p14:sldId id="300"/>
            <p14:sldId id="277"/>
            <p14:sldId id="279"/>
            <p14:sldId id="280"/>
            <p14:sldId id="281"/>
            <p14:sldId id="284"/>
          </p14:sldIdLst>
        </p14:section>
        <p14:section name="Untitled Section" id="{2622E203-3958-4114-8DC7-BACCB008B186}">
          <p14:sldIdLst>
            <p14:sldId id="289"/>
            <p14:sldId id="290"/>
            <p14:sldId id="291"/>
            <p14:sldId id="292"/>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9" d="100"/>
          <a:sy n="89" d="100"/>
        </p:scale>
        <p:origin x="235"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E61F8B-C0DE-4382-A31D-E5B74A40E51A}" type="datetimeFigureOut">
              <a:rPr lang="en-IN" smtClean="0"/>
              <a:pPr/>
              <a:t>04-10-2024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027E7C-0007-4D3B-89B9-89C361503B6C}" type="slidenum">
              <a:rPr lang="en-IN" smtClean="0"/>
              <a:pPr/>
              <a:t>‹#›</a:t>
            </a:fld>
            <a:endParaRPr lang="en-IN"/>
          </a:p>
        </p:txBody>
      </p:sp>
    </p:spTree>
    <p:extLst>
      <p:ext uri="{BB962C8B-B14F-4D97-AF65-F5344CB8AC3E}">
        <p14:creationId xmlns:p14="http://schemas.microsoft.com/office/powerpoint/2010/main" val="2199364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EAE4D93-0E2F-40E6-B0D1-AE04789DB27B}" type="datetime1">
              <a:rPr lang="en-US" smtClean="0"/>
              <a:pPr/>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DF0105-F7BB-4557-857E-671300F2B486}" type="datetime1">
              <a:rPr lang="en-US" smtClean="0"/>
              <a:pPr/>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DAB649-B823-4D2A-A25E-F03FC7586A6D}" type="datetime1">
              <a:rPr lang="en-US" smtClean="0"/>
              <a:pPr/>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F6F693F-7E91-4272-B105-55076AD81529}" type="datetime1">
              <a:rPr lang="en-US" smtClean="0"/>
              <a:pPr/>
              <a:t>10/4/2024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2E967D-6B4C-4E27-B7AE-78061516A6F0}" type="datetime1">
              <a:rPr lang="en-US" smtClean="0"/>
              <a:pPr/>
              <a:t>10/4/2024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4DCA578-D37D-4B8B-99BC-536187B60284}" type="datetime1">
              <a:rPr lang="en-US" smtClean="0"/>
              <a:pPr/>
              <a:t>10/4/2024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14B53D-C7DF-4957-8191-16060EA46E7B}" type="datetime1">
              <a:rPr lang="en-US" smtClean="0"/>
              <a:pPr/>
              <a:t>10/4/2024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A6E79D8-6600-41D9-85C2-595C77159EB1}" type="datetime1">
              <a:rPr lang="en-US" smtClean="0"/>
              <a:pPr/>
              <a:t>10/4/2024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1671B0-D638-4D1C-A9A3-318E37E12B1A}" type="datetime1">
              <a:rPr lang="en-US" smtClean="0"/>
              <a:pPr/>
              <a:t>10/4/2024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D6DC3A-84E6-4C76-9E74-A1236E69F342}" type="datetime1">
              <a:rPr lang="en-US" smtClean="0"/>
              <a:pPr/>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228470-F9AD-407D-A482-5989A97C4820}" type="datetime1">
              <a:rPr lang="en-US" smtClean="0"/>
              <a:pPr/>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293F59-503E-4BBF-AC52-C13CC6324893}" type="datetime1">
              <a:rPr lang="en-US" smtClean="0"/>
              <a:pPr/>
              <a:t>10/4/2024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hyperlink" Target="https://d1wqtxts1xzle7.cloudfront.net/67583173/furnished_an_augmented_reality_based_approach_IJERTV10IS050253-libre.pdf?1623325210=&amp;response-content-disposition=inline;+filename=IJERT_Furnished_An_Augmented_Reality_bas.pdf&amp;Expires=1726337281&amp;Signature=Uh2wKr801Vu3RCfPALZnkLNdAuBocPPMzDy9oo-xhLCWwpXhrj0amByreNGeOELpPNKR~QwP6YOyKFBTYLfM-0rRwCYSxyV1dQhI8WgMfu1UfXwOJXp4Ap~8wKP7Gz3ITkH-yBTgrONMiaY5U6YxCYA1wLpLTBN9tXoRZZTsS8Q2IH1hgj38Xc1QUVhKrMOTogYgiKQM9-aGgr1N0qs5sNRchy-xJ50EL0n-t47bY8gWulGL7l1hQquVbHnTOmj4O1QpqJXsqqK-qAVCsbiMiqiyhS6F0dk3oYAnRjWnU~o09q1oJ2KzpcjLXRJhn-9VaRgmAixlzMD7enC5ZOu7lQ__&amp;Key-Pair-Id=APKAJLOHF5GGSLRBV4ZA" TargetMode="External"/><Relationship Id="rId2" Type="http://schemas.openxmlformats.org/officeDocument/2006/relationships/hyperlink" Target="https://d1wqtxts1xzle7.cloudfront.net/77822875/Yoon_VR_furniture-libre.pdf?1641011826=&amp;response-content-disposition=inline;+filename=What_virtual_reality_can_offer_to_the_fu.pdf&amp;Expires=1726337129&amp;Signature=gWu9gUn3Iy00zKenVOgZhBxc7bbdPbUNz63YVUhMfhcoSjWPHtcJQZfnG2aeyI5qmqTECMW8IhXPhxPGrwk4aVj3EhMXomjyIh~yYwF3WduVZqcYMisjENSxwbZftxRH9TiiNzA~THxnrAf3RGLODvgFNJw1e~Xmv-weTN3i93GWJ8vaKRVC1~W5vHGYYP0wrqqv9JNuQ7utpx3JHn5kPIu8bI5gMsWSm0mR22G8JIO7hrbwVQ2-pDopNCfm83amQg6lxSWsmrN-9b-R4SWalbZWoJKK0sjjouL6xhZqo9n-C~ny9QBIDzQ98iaFIHDimO7~TAHHTyjun~jjzB4y8g__&amp;Key-Pair-Id=APKAJLOHF5GGSLRBV4ZA" TargetMode="External"/><Relationship Id="rId1" Type="http://schemas.openxmlformats.org/officeDocument/2006/relationships/slideLayout" Target="../slideLayouts/slideLayout7.xml"/><Relationship Id="rId4" Type="http://schemas.openxmlformats.org/officeDocument/2006/relationships/hyperlink" Target="https://www.mdpi.com/1999-5903/14/12/38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logo of a university&#10;&#10;Description automatically generated">
            <a:extLst>
              <a:ext uri="{FF2B5EF4-FFF2-40B4-BE49-F238E27FC236}">
                <a16:creationId xmlns:a16="http://schemas.microsoft.com/office/drawing/2014/main" id="{DEABC28D-8C05-FDE0-EDA1-67D236EBB543}"/>
              </a:ext>
            </a:extLst>
          </p:cNvPr>
          <p:cNvPicPr>
            <a:picLocks noChangeAspect="1"/>
          </p:cNvPicPr>
          <p:nvPr/>
        </p:nvPicPr>
        <p:blipFill>
          <a:blip r:embed="rId2" cstate="print"/>
          <a:stretch>
            <a:fillRect/>
          </a:stretch>
        </p:blipFill>
        <p:spPr>
          <a:xfrm>
            <a:off x="428624" y="145011"/>
            <a:ext cx="1687064" cy="1788401"/>
          </a:xfrm>
          <a:prstGeom prst="rect">
            <a:avLst/>
          </a:prstGeom>
        </p:spPr>
      </p:pic>
      <p:pic>
        <p:nvPicPr>
          <p:cNvPr id="8" name="Picture 7" descr="A logo with different types of objects&#10;&#10;Description automatically generated">
            <a:extLst>
              <a:ext uri="{FF2B5EF4-FFF2-40B4-BE49-F238E27FC236}">
                <a16:creationId xmlns:a16="http://schemas.microsoft.com/office/drawing/2014/main" id="{EB2A400E-ABDC-41FD-E033-07A421615E3E}"/>
              </a:ext>
            </a:extLst>
          </p:cNvPr>
          <p:cNvPicPr>
            <a:picLocks noChangeAspect="1"/>
          </p:cNvPicPr>
          <p:nvPr/>
        </p:nvPicPr>
        <p:blipFill>
          <a:blip r:embed="rId3" cstate="print"/>
          <a:stretch>
            <a:fillRect/>
          </a:stretch>
        </p:blipFill>
        <p:spPr>
          <a:xfrm>
            <a:off x="9662846" y="149772"/>
            <a:ext cx="2116623" cy="1778876"/>
          </a:xfrm>
          <a:prstGeom prst="rect">
            <a:avLst/>
          </a:prstGeom>
        </p:spPr>
      </p:pic>
      <p:sp>
        <p:nvSpPr>
          <p:cNvPr id="9" name="TextBox 8">
            <a:extLst>
              <a:ext uri="{FF2B5EF4-FFF2-40B4-BE49-F238E27FC236}">
                <a16:creationId xmlns:a16="http://schemas.microsoft.com/office/drawing/2014/main" id="{408FB983-62BA-4A74-1936-C79D498E4793}"/>
              </a:ext>
            </a:extLst>
          </p:cNvPr>
          <p:cNvSpPr txBox="1"/>
          <p:nvPr/>
        </p:nvSpPr>
        <p:spPr>
          <a:xfrm>
            <a:off x="1788559" y="2419653"/>
            <a:ext cx="863174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t>NextGen Furnishings &amp; Digital Store</a:t>
            </a:r>
          </a:p>
        </p:txBody>
      </p:sp>
      <p:sp>
        <p:nvSpPr>
          <p:cNvPr id="10" name="TextBox 9">
            <a:extLst>
              <a:ext uri="{FF2B5EF4-FFF2-40B4-BE49-F238E27FC236}">
                <a16:creationId xmlns:a16="http://schemas.microsoft.com/office/drawing/2014/main" id="{7ADEA465-7A0E-3C7D-6D4B-524B21061D17}"/>
              </a:ext>
            </a:extLst>
          </p:cNvPr>
          <p:cNvSpPr txBox="1"/>
          <p:nvPr/>
        </p:nvSpPr>
        <p:spPr>
          <a:xfrm>
            <a:off x="6104433" y="3563190"/>
            <a:ext cx="6473237" cy="17851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Times New Roman"/>
                <a:cs typeface="Times New Roman"/>
              </a:rPr>
              <a:t>Internal Guide:</a:t>
            </a:r>
          </a:p>
          <a:p>
            <a:r>
              <a:rPr lang="en-US" dirty="0" err="1">
                <a:latin typeface="Times New Roman"/>
                <a:cs typeface="Times New Roman"/>
              </a:rPr>
              <a:t>Prof.</a:t>
            </a:r>
            <a:r>
              <a:rPr lang="en-US" dirty="0" err="1">
                <a:solidFill>
                  <a:srgbClr val="2F2F2F"/>
                </a:solidFill>
                <a:latin typeface="Times New Roman"/>
                <a:cs typeface="Times New Roman"/>
              </a:rPr>
              <a:t>Asiya</a:t>
            </a:r>
            <a:r>
              <a:rPr lang="en-US" dirty="0">
                <a:solidFill>
                  <a:srgbClr val="2F2F2F"/>
                </a:solidFill>
                <a:latin typeface="Times New Roman"/>
                <a:cs typeface="Times New Roman"/>
              </a:rPr>
              <a:t> </a:t>
            </a:r>
            <a:r>
              <a:rPr lang="en-US" dirty="0" err="1">
                <a:solidFill>
                  <a:srgbClr val="2F2F2F"/>
                </a:solidFill>
                <a:latin typeface="Times New Roman"/>
                <a:cs typeface="Times New Roman"/>
              </a:rPr>
              <a:t>Durani</a:t>
            </a:r>
            <a:endParaRPr lang="en-US" dirty="0">
              <a:latin typeface="Aptos" panose="020B0004020202020204"/>
              <a:cs typeface="Times New Roman"/>
            </a:endParaRPr>
          </a:p>
          <a:p>
            <a:r>
              <a:rPr lang="en-US" dirty="0">
                <a:latin typeface="Times New Roman"/>
                <a:cs typeface="Times New Roman"/>
              </a:rPr>
              <a:t>Assistant Professor (CSE Department)</a:t>
            </a:r>
            <a:endParaRPr lang="en-US" dirty="0"/>
          </a:p>
          <a:p>
            <a:r>
              <a:rPr lang="en-US" dirty="0">
                <a:latin typeface="Times New Roman"/>
                <a:cs typeface="Times New Roman"/>
              </a:rPr>
              <a:t>New L J Institute of Engineering &amp; Technology, Ahmedabad</a:t>
            </a:r>
            <a:endParaRPr lang="en-US" dirty="0"/>
          </a:p>
          <a:p>
            <a:br>
              <a:rPr lang="en-US" dirty="0"/>
            </a:br>
            <a:endParaRPr lang="en-US" dirty="0"/>
          </a:p>
        </p:txBody>
      </p:sp>
      <p:sp>
        <p:nvSpPr>
          <p:cNvPr id="11" name="TextBox 10">
            <a:extLst>
              <a:ext uri="{FF2B5EF4-FFF2-40B4-BE49-F238E27FC236}">
                <a16:creationId xmlns:a16="http://schemas.microsoft.com/office/drawing/2014/main" id="{D0EFAD3C-4CB5-CA54-0E5E-DDE89291B1D3}"/>
              </a:ext>
            </a:extLst>
          </p:cNvPr>
          <p:cNvSpPr txBox="1"/>
          <p:nvPr/>
        </p:nvSpPr>
        <p:spPr>
          <a:xfrm>
            <a:off x="0" y="3567954"/>
            <a:ext cx="6104433" cy="2923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Times New Roman"/>
                <a:cs typeface="Times New Roman"/>
              </a:rPr>
              <a:t>Submitted By:</a:t>
            </a:r>
          </a:p>
          <a:p>
            <a:r>
              <a:rPr lang="en-IN" dirty="0"/>
              <a:t>Patel Het </a:t>
            </a:r>
            <a:r>
              <a:rPr lang="en-IN" dirty="0" err="1"/>
              <a:t>Ashokkumar</a:t>
            </a:r>
            <a:r>
              <a:rPr lang="en-IN" dirty="0"/>
              <a:t> </a:t>
            </a:r>
            <a:r>
              <a:rPr lang="en-US" dirty="0">
                <a:ea typeface="+mn-lt"/>
                <a:cs typeface="+mn-lt"/>
              </a:rPr>
              <a:t>(</a:t>
            </a:r>
            <a:r>
              <a:rPr lang="en-IN" dirty="0"/>
              <a:t>221430131075</a:t>
            </a:r>
            <a:r>
              <a:rPr lang="en-US" dirty="0">
                <a:ea typeface="+mn-lt"/>
                <a:cs typeface="+mn-lt"/>
              </a:rPr>
              <a:t>) </a:t>
            </a:r>
            <a:endParaRPr lang="en-US" dirty="0"/>
          </a:p>
          <a:p>
            <a:r>
              <a:rPr lang="en-IN" dirty="0"/>
              <a:t>Patel Bhagya </a:t>
            </a:r>
            <a:r>
              <a:rPr lang="en-IN" dirty="0" err="1"/>
              <a:t>Nitinkumar</a:t>
            </a:r>
            <a:r>
              <a:rPr lang="en-US" dirty="0">
                <a:ea typeface="+mn-lt"/>
                <a:cs typeface="+mn-lt"/>
              </a:rPr>
              <a:t>(</a:t>
            </a:r>
            <a:r>
              <a:rPr lang="en-IN" dirty="0"/>
              <a:t>221430131073</a:t>
            </a:r>
            <a:r>
              <a:rPr lang="en-US" dirty="0">
                <a:ea typeface="+mn-lt"/>
                <a:cs typeface="+mn-lt"/>
              </a:rPr>
              <a:t>)</a:t>
            </a:r>
            <a:endParaRPr lang="en-US" dirty="0"/>
          </a:p>
          <a:p>
            <a:r>
              <a:rPr lang="en-IN" dirty="0"/>
              <a:t>Patel Neel </a:t>
            </a:r>
            <a:r>
              <a:rPr lang="en-IN" dirty="0" err="1"/>
              <a:t>Mukundlal</a:t>
            </a:r>
            <a:r>
              <a:rPr lang="en-US" dirty="0">
                <a:ea typeface="+mn-lt"/>
                <a:cs typeface="+mn-lt"/>
              </a:rPr>
              <a:t>(</a:t>
            </a:r>
            <a:r>
              <a:rPr lang="en-IN" dirty="0"/>
              <a:t>221430131081</a:t>
            </a:r>
            <a:r>
              <a:rPr lang="en-US" dirty="0">
                <a:ea typeface="+mn-lt"/>
                <a:cs typeface="+mn-lt"/>
              </a:rPr>
              <a:t>) </a:t>
            </a:r>
            <a:endParaRPr lang="en-US" dirty="0"/>
          </a:p>
          <a:p>
            <a:r>
              <a:rPr lang="en-IN" dirty="0"/>
              <a:t>Sheth Anand </a:t>
            </a:r>
            <a:r>
              <a:rPr lang="en-IN" dirty="0" err="1"/>
              <a:t>Ajaykumar</a:t>
            </a:r>
            <a:r>
              <a:rPr lang="en-IN" dirty="0"/>
              <a:t> </a:t>
            </a:r>
            <a:r>
              <a:rPr lang="en-US" dirty="0">
                <a:ea typeface="+mn-lt"/>
                <a:cs typeface="+mn-lt"/>
              </a:rPr>
              <a:t>(</a:t>
            </a:r>
            <a:r>
              <a:rPr lang="en-IN" dirty="0"/>
              <a:t>221430131111</a:t>
            </a:r>
            <a:r>
              <a:rPr lang="en-US" dirty="0">
                <a:ea typeface="+mn-lt"/>
                <a:cs typeface="+mn-lt"/>
              </a:rPr>
              <a:t>)</a:t>
            </a:r>
          </a:p>
          <a:p>
            <a:r>
              <a:rPr lang="en-US" dirty="0">
                <a:ea typeface="+mn-lt"/>
                <a:cs typeface="+mn-lt"/>
              </a:rPr>
              <a:t>Vedant </a:t>
            </a:r>
            <a:r>
              <a:rPr lang="en-US" dirty="0" err="1">
                <a:ea typeface="+mn-lt"/>
                <a:cs typeface="+mn-lt"/>
              </a:rPr>
              <a:t>Mukeshkumar</a:t>
            </a:r>
            <a:r>
              <a:rPr lang="en-US" dirty="0">
                <a:ea typeface="+mn-lt"/>
                <a:cs typeface="+mn-lt"/>
              </a:rPr>
              <a:t> Shah(</a:t>
            </a:r>
            <a:r>
              <a:rPr lang="en-IN" dirty="0"/>
              <a:t>221430131133</a:t>
            </a:r>
            <a:r>
              <a:rPr lang="en-US" dirty="0">
                <a:ea typeface="+mn-lt"/>
                <a:cs typeface="+mn-lt"/>
              </a:rPr>
              <a:t>)</a:t>
            </a:r>
          </a:p>
          <a:p>
            <a:endParaRPr lang="en-US" dirty="0"/>
          </a:p>
          <a:p>
            <a:endParaRPr lang="en-US" dirty="0">
              <a:ea typeface="+mn-lt"/>
              <a:cs typeface="+mn-lt"/>
            </a:endParaRPr>
          </a:p>
          <a:p>
            <a:r>
              <a:rPr lang="en-US" sz="2000" dirty="0">
                <a:ea typeface="+mn-lt"/>
                <a:cs typeface="+mn-lt"/>
              </a:rPr>
              <a:t>Computer Science and Engineering</a:t>
            </a:r>
            <a:r>
              <a:rPr lang="en-US" dirty="0">
                <a:ea typeface="+mn-lt"/>
                <a:cs typeface="+mn-lt"/>
              </a:rPr>
              <a:t>(CSE) 5th Sem</a:t>
            </a:r>
            <a:endParaRPr lang="en-US" dirty="0"/>
          </a:p>
          <a:p>
            <a:r>
              <a:rPr lang="en-US" dirty="0">
                <a:latin typeface="Times New Roman"/>
                <a:cs typeface="Times New Roman"/>
              </a:rPr>
              <a:t>New L J Institute of Engineering &amp; Technology, Ahmedabad</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4394D6-7EA5-CB99-39E3-A4B806009EED}"/>
              </a:ext>
            </a:extLst>
          </p:cNvPr>
          <p:cNvSpPr txBox="1"/>
          <p:nvPr/>
        </p:nvSpPr>
        <p:spPr>
          <a:xfrm>
            <a:off x="422233" y="475012"/>
            <a:ext cx="11435484"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dirty="0">
                <a:latin typeface="Times New Roman"/>
                <a:cs typeface="Times New Roman"/>
              </a:rPr>
              <a:t>Outline</a:t>
            </a:r>
            <a:endParaRPr lang="en-US" dirty="0"/>
          </a:p>
        </p:txBody>
      </p:sp>
      <p:sp>
        <p:nvSpPr>
          <p:cNvPr id="3" name="TextBox 2">
            <a:extLst>
              <a:ext uri="{FF2B5EF4-FFF2-40B4-BE49-F238E27FC236}">
                <a16:creationId xmlns:a16="http://schemas.microsoft.com/office/drawing/2014/main" id="{80E10371-8D8F-7E60-CE32-EC9FFF41FAFC}"/>
              </a:ext>
            </a:extLst>
          </p:cNvPr>
          <p:cNvSpPr txBox="1"/>
          <p:nvPr/>
        </p:nvSpPr>
        <p:spPr>
          <a:xfrm>
            <a:off x="791637" y="1432390"/>
            <a:ext cx="6245043" cy="465050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342900" indent="-342900">
              <a:lnSpc>
                <a:spcPct val="150000"/>
              </a:lnSpc>
              <a:buFont typeface="Arial"/>
              <a:buChar char="•"/>
            </a:pPr>
            <a:r>
              <a:rPr lang="en-US" sz="2500" dirty="0">
                <a:latin typeface="Times New Roman"/>
                <a:cs typeface="Times New Roman"/>
              </a:rPr>
              <a:t>Introduction</a:t>
            </a:r>
            <a:endParaRPr lang="en-US" sz="2500"/>
          </a:p>
          <a:p>
            <a:pPr marL="342900" indent="-342900">
              <a:lnSpc>
                <a:spcPct val="150000"/>
              </a:lnSpc>
              <a:buFont typeface="Arial"/>
              <a:buChar char="•"/>
            </a:pPr>
            <a:r>
              <a:rPr lang="en-US" sz="2500" dirty="0">
                <a:latin typeface="Times New Roman"/>
                <a:cs typeface="Times New Roman"/>
              </a:rPr>
              <a:t>Project Management</a:t>
            </a:r>
            <a:endParaRPr lang="en-US" sz="2500"/>
          </a:p>
          <a:p>
            <a:pPr marL="342900" indent="-342900">
              <a:lnSpc>
                <a:spcPct val="150000"/>
              </a:lnSpc>
              <a:buFont typeface="Arial"/>
              <a:buChar char="•"/>
            </a:pPr>
            <a:r>
              <a:rPr lang="en-US" sz="2500" dirty="0">
                <a:latin typeface="Times New Roman"/>
                <a:cs typeface="Times New Roman"/>
              </a:rPr>
              <a:t>Prior Art Search (PAS)</a:t>
            </a:r>
            <a:endParaRPr lang="en-US" sz="2500">
              <a:latin typeface="Aptos" panose="020B0004020202020204"/>
              <a:cs typeface="Times New Roman"/>
            </a:endParaRPr>
          </a:p>
          <a:p>
            <a:pPr marL="342900" indent="-342900">
              <a:lnSpc>
                <a:spcPct val="150000"/>
              </a:lnSpc>
              <a:buFont typeface="Arial"/>
              <a:buChar char="•"/>
            </a:pPr>
            <a:r>
              <a:rPr lang="en-US" sz="2500" dirty="0">
                <a:latin typeface="Times New Roman"/>
                <a:cs typeface="Times New Roman"/>
              </a:rPr>
              <a:t>System Requirements Study </a:t>
            </a:r>
            <a:r>
              <a:rPr lang="en-US" sz="2500" dirty="0">
                <a:solidFill>
                  <a:srgbClr val="FF0000"/>
                </a:solidFill>
                <a:latin typeface="Times New Roman"/>
                <a:cs typeface="Times New Roman"/>
              </a:rPr>
              <a:t>(Assessment-I)</a:t>
            </a:r>
            <a:endParaRPr lang="en-US" sz="2500"/>
          </a:p>
          <a:p>
            <a:pPr marL="342900" indent="-342900">
              <a:lnSpc>
                <a:spcPct val="150000"/>
              </a:lnSpc>
              <a:buFont typeface="Arial"/>
              <a:buChar char="•"/>
            </a:pPr>
            <a:r>
              <a:rPr lang="en-US" sz="2500" dirty="0">
                <a:latin typeface="Times New Roman"/>
                <a:cs typeface="Times New Roman"/>
              </a:rPr>
              <a:t>System Analysis</a:t>
            </a:r>
            <a:endParaRPr lang="en-US" sz="2500"/>
          </a:p>
          <a:p>
            <a:pPr marL="342900" indent="-342900">
              <a:lnSpc>
                <a:spcPct val="150000"/>
              </a:lnSpc>
              <a:buFont typeface="Arial"/>
              <a:buChar char="•"/>
            </a:pPr>
            <a:r>
              <a:rPr lang="en-US" sz="2500" dirty="0">
                <a:latin typeface="Times New Roman"/>
                <a:cs typeface="Times New Roman"/>
              </a:rPr>
              <a:t>System Design</a:t>
            </a:r>
            <a:endParaRPr lang="en-US" sz="2500"/>
          </a:p>
          <a:p>
            <a:pPr marL="342900" indent="-342900">
              <a:lnSpc>
                <a:spcPct val="150000"/>
              </a:lnSpc>
              <a:buFont typeface="Arial"/>
              <a:buChar char="•"/>
            </a:pPr>
            <a:r>
              <a:rPr lang="en-US" sz="2500" dirty="0">
                <a:latin typeface="Times New Roman"/>
                <a:cs typeface="Times New Roman"/>
              </a:rPr>
              <a:t>Implementation</a:t>
            </a:r>
            <a:endParaRPr lang="en-US" sz="2500"/>
          </a:p>
          <a:p>
            <a:pPr marL="342900" indent="-342900">
              <a:lnSpc>
                <a:spcPct val="150000"/>
              </a:lnSpc>
              <a:buFont typeface="Arial"/>
              <a:buChar char="•"/>
            </a:pPr>
            <a:r>
              <a:rPr lang="en-US" sz="2500" dirty="0">
                <a:latin typeface="Times New Roman"/>
                <a:cs typeface="Times New Roman"/>
              </a:rPr>
              <a:t>Testing </a:t>
            </a:r>
            <a:r>
              <a:rPr lang="en-US" sz="2500" dirty="0">
                <a:solidFill>
                  <a:srgbClr val="FF0000"/>
                </a:solidFill>
                <a:latin typeface="Times New Roman"/>
                <a:cs typeface="Times New Roman"/>
              </a:rPr>
              <a:t>(Assessment-II)</a:t>
            </a:r>
            <a:endParaRPr lang="en-US" sz="2500"/>
          </a:p>
        </p:txBody>
      </p:sp>
      <p:sp>
        <p:nvSpPr>
          <p:cNvPr id="4" name="TextBox 3">
            <a:extLst>
              <a:ext uri="{FF2B5EF4-FFF2-40B4-BE49-F238E27FC236}">
                <a16:creationId xmlns:a16="http://schemas.microsoft.com/office/drawing/2014/main" id="{DCCF8FB2-417A-0DF8-743B-A6464D103128}"/>
              </a:ext>
            </a:extLst>
          </p:cNvPr>
          <p:cNvSpPr txBox="1"/>
          <p:nvPr/>
        </p:nvSpPr>
        <p:spPr>
          <a:xfrm>
            <a:off x="7201243" y="1436592"/>
            <a:ext cx="4292704" cy="23421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Font typeface="Arial"/>
              <a:buChar char="•"/>
            </a:pPr>
            <a:r>
              <a:rPr lang="en-US" sz="2500" dirty="0">
                <a:latin typeface="Times New Roman"/>
                <a:cs typeface="Times New Roman"/>
              </a:rPr>
              <a:t>Limitation</a:t>
            </a:r>
            <a:endParaRPr lang="en-US" sz="2500"/>
          </a:p>
          <a:p>
            <a:pPr marL="342900" indent="-342900">
              <a:lnSpc>
                <a:spcPct val="150000"/>
              </a:lnSpc>
              <a:buFont typeface="Arial"/>
              <a:buChar char="•"/>
            </a:pPr>
            <a:r>
              <a:rPr lang="en-US" sz="2500" dirty="0">
                <a:latin typeface="Times New Roman"/>
                <a:cs typeface="Times New Roman"/>
              </a:rPr>
              <a:t>Future Enhancement</a:t>
            </a:r>
            <a:endParaRPr lang="en-US" sz="2500"/>
          </a:p>
          <a:p>
            <a:pPr marL="342900" indent="-342900">
              <a:lnSpc>
                <a:spcPct val="150000"/>
              </a:lnSpc>
              <a:buFont typeface="Arial"/>
              <a:buChar char="•"/>
            </a:pPr>
            <a:r>
              <a:rPr lang="en-US" sz="2500" dirty="0">
                <a:latin typeface="Times New Roman"/>
                <a:cs typeface="Times New Roman"/>
              </a:rPr>
              <a:t>Conclusion</a:t>
            </a:r>
            <a:endParaRPr lang="en-US" sz="2500">
              <a:latin typeface="Aptos" panose="020B0004020202020204"/>
              <a:cs typeface="Times New Roman"/>
            </a:endParaRPr>
          </a:p>
          <a:p>
            <a:pPr marL="342900" indent="-342900">
              <a:lnSpc>
                <a:spcPct val="150000"/>
              </a:lnSpc>
              <a:buFont typeface="Arial"/>
              <a:buChar char="•"/>
            </a:pPr>
            <a:r>
              <a:rPr lang="en-US" sz="2500" dirty="0">
                <a:latin typeface="Times New Roman"/>
                <a:cs typeface="Times New Roman"/>
              </a:rPr>
              <a:t>References </a:t>
            </a:r>
            <a:r>
              <a:rPr lang="en-US" sz="2500" dirty="0">
                <a:solidFill>
                  <a:srgbClr val="FF0000"/>
                </a:solidFill>
                <a:latin typeface="Times New Roman"/>
                <a:cs typeface="Times New Roman"/>
              </a:rPr>
              <a:t>(Assessment-III)</a:t>
            </a:r>
            <a:endParaRPr lang="en-US" sz="2500"/>
          </a:p>
        </p:txBody>
      </p:sp>
      <p:sp>
        <p:nvSpPr>
          <p:cNvPr id="5" name="Slide Number Placeholder 4">
            <a:extLst>
              <a:ext uri="{FF2B5EF4-FFF2-40B4-BE49-F238E27FC236}">
                <a16:creationId xmlns:a16="http://schemas.microsoft.com/office/drawing/2014/main" id="{750E5F60-5C4C-F907-F407-98E1C49A900C}"/>
              </a:ext>
            </a:extLst>
          </p:cNvPr>
          <p:cNvSpPr>
            <a:spLocks noGrp="1"/>
          </p:cNvSpPr>
          <p:nvPr>
            <p:ph type="sldNum" sz="quarter" idx="12"/>
          </p:nvPr>
        </p:nvSpPr>
        <p:spPr/>
        <p:txBody>
          <a:bodyPr/>
          <a:lstStyle/>
          <a:p>
            <a:fld id="{330EA680-D336-4FF7-8B7A-9848BB0A1C32}" type="slidenum">
              <a:rPr lang="en-US" smtClean="0"/>
              <a:pPr/>
              <a:t>2</a:t>
            </a:fld>
            <a:endParaRPr lang="en-US"/>
          </a:p>
        </p:txBody>
      </p:sp>
    </p:spTree>
    <p:extLst>
      <p:ext uri="{BB962C8B-B14F-4D97-AF65-F5344CB8AC3E}">
        <p14:creationId xmlns:p14="http://schemas.microsoft.com/office/powerpoint/2010/main" val="170006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4C63AE-E147-FE22-7B9B-D425F3517AAE}"/>
              </a:ext>
            </a:extLst>
          </p:cNvPr>
          <p:cNvSpPr txBox="1"/>
          <p:nvPr/>
        </p:nvSpPr>
        <p:spPr>
          <a:xfrm>
            <a:off x="199478" y="181968"/>
            <a:ext cx="10995657"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b="1" dirty="0">
                <a:latin typeface="Times New Roman"/>
                <a:cs typeface="Times New Roman"/>
              </a:rPr>
              <a:t>Introduction</a:t>
            </a:r>
            <a:endParaRPr lang="en-US" sz="4400" b="1" dirty="0"/>
          </a:p>
        </p:txBody>
      </p:sp>
      <p:sp>
        <p:nvSpPr>
          <p:cNvPr id="4" name="TextBox 3">
            <a:extLst>
              <a:ext uri="{FF2B5EF4-FFF2-40B4-BE49-F238E27FC236}">
                <a16:creationId xmlns:a16="http://schemas.microsoft.com/office/drawing/2014/main" id="{25A603FB-ABD8-C178-3F9A-06FA066B9208}"/>
              </a:ext>
            </a:extLst>
          </p:cNvPr>
          <p:cNvSpPr txBox="1"/>
          <p:nvPr/>
        </p:nvSpPr>
        <p:spPr>
          <a:xfrm>
            <a:off x="381311" y="1504776"/>
            <a:ext cx="10960471" cy="37602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dirty="0">
                <a:latin typeface="Times New Roman"/>
                <a:cs typeface="Times New Roman"/>
              </a:rPr>
              <a:t>Project Summary &amp; Profile:</a:t>
            </a:r>
            <a:endParaRPr lang="en-US" sz="2600" b="1" dirty="0">
              <a:latin typeface="Aptos" panose="020B0004020202020204"/>
              <a:cs typeface="Times New Roman"/>
            </a:endParaRPr>
          </a:p>
          <a:p>
            <a:pPr marL="342900" indent="-342900">
              <a:lnSpc>
                <a:spcPct val="150000"/>
              </a:lnSpc>
              <a:buFont typeface="Arial"/>
              <a:buChar char="•"/>
            </a:pPr>
            <a:r>
              <a:rPr lang="en-US" sz="2400" dirty="0"/>
              <a:t>The Furniture Innovation &amp; Digital Store explores trends in furniture design and digital retail, using AR, VR, and AI for better customer experiences</a:t>
            </a:r>
            <a:r>
              <a:rPr lang="en-US" sz="2300" dirty="0">
                <a:solidFill>
                  <a:srgbClr val="0D0D0D"/>
                </a:solidFill>
                <a:ea typeface="+mn-lt"/>
                <a:cs typeface="+mn-lt"/>
              </a:rPr>
              <a:t>.</a:t>
            </a:r>
            <a:endParaRPr lang="en-US" sz="2300" dirty="0">
              <a:latin typeface="Times New Roman"/>
              <a:cs typeface="Times New Roman"/>
            </a:endParaRPr>
          </a:p>
          <a:p>
            <a:pPr marL="342900" indent="-342900">
              <a:lnSpc>
                <a:spcPct val="150000"/>
              </a:lnSpc>
              <a:buFont typeface="Arial"/>
              <a:buChar char="•"/>
            </a:pPr>
            <a:r>
              <a:rPr lang="en-US" sz="2400" dirty="0"/>
              <a:t>Case studies highlight successful digital strategies, while interactive features like price calculators and virtual showrooms enhance user engagement.</a:t>
            </a:r>
          </a:p>
          <a:p>
            <a:pPr marL="342900" indent="-342900">
              <a:lnSpc>
                <a:spcPct val="150000"/>
              </a:lnSpc>
              <a:buFont typeface="Arial"/>
              <a:buChar char="•"/>
            </a:pPr>
            <a:r>
              <a:rPr lang="en-US" sz="2400" dirty="0"/>
              <a:t>The project equips retailers with tools and insights to thrive in the digital marketplace.</a:t>
            </a:r>
            <a:endParaRPr lang="en-US" sz="2000" dirty="0">
              <a:latin typeface="Times New Roman"/>
              <a:cs typeface="Times New Roman"/>
            </a:endParaRPr>
          </a:p>
        </p:txBody>
      </p:sp>
      <p:sp>
        <p:nvSpPr>
          <p:cNvPr id="7" name="Slide Number Placeholder 6">
            <a:extLst>
              <a:ext uri="{FF2B5EF4-FFF2-40B4-BE49-F238E27FC236}">
                <a16:creationId xmlns:a16="http://schemas.microsoft.com/office/drawing/2014/main" id="{84FD7576-6D9C-1652-1761-D70903C4D60D}"/>
              </a:ext>
            </a:extLst>
          </p:cNvPr>
          <p:cNvSpPr>
            <a:spLocks noGrp="1"/>
          </p:cNvSpPr>
          <p:nvPr>
            <p:ph type="sldNum" sz="quarter" idx="12"/>
          </p:nvPr>
        </p:nvSpPr>
        <p:spPr/>
        <p:txBody>
          <a:bodyPr/>
          <a:lstStyle/>
          <a:p>
            <a:fld id="{330EA680-D336-4FF7-8B7A-9848BB0A1C32}" type="slidenum">
              <a:rPr lang="en-US" smtClean="0"/>
              <a:pPr/>
              <a:t>3</a:t>
            </a:fld>
            <a:endParaRPr lang="en-US"/>
          </a:p>
        </p:txBody>
      </p:sp>
    </p:spTree>
    <p:extLst>
      <p:ext uri="{BB962C8B-B14F-4D97-AF65-F5344CB8AC3E}">
        <p14:creationId xmlns:p14="http://schemas.microsoft.com/office/powerpoint/2010/main" val="1920780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14528A-D246-0A4B-9A33-948349C6AF33}"/>
              </a:ext>
            </a:extLst>
          </p:cNvPr>
          <p:cNvSpPr txBox="1"/>
          <p:nvPr/>
        </p:nvSpPr>
        <p:spPr>
          <a:xfrm>
            <a:off x="545880" y="366581"/>
            <a:ext cx="7770669" cy="50711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lnSpc>
                <a:spcPct val="150000"/>
              </a:lnSpc>
            </a:pPr>
            <a:r>
              <a:rPr lang="en-US" sz="2600" b="1" baseline="0" dirty="0">
                <a:latin typeface="Times New Roman"/>
                <a:ea typeface="Segoe UI"/>
                <a:cs typeface="Segoe UI"/>
              </a:rPr>
              <a:t>Purpose:</a:t>
            </a:r>
            <a:r>
              <a:rPr lang="en-US" sz="2600" dirty="0">
                <a:solidFill>
                  <a:srgbClr val="808080"/>
                </a:solidFill>
                <a:latin typeface="Times New Roman"/>
                <a:ea typeface="Segoe UI"/>
                <a:cs typeface="Segoe UI"/>
              </a:rPr>
              <a:t>​</a:t>
            </a:r>
            <a:endParaRPr lang="en-US" dirty="0"/>
          </a:p>
          <a:p>
            <a:pPr marL="285750" lvl="0" indent="-285750" rtl="0">
              <a:lnSpc>
                <a:spcPct val="150000"/>
              </a:lnSpc>
              <a:buFont typeface="Arial,Sans-Serif"/>
              <a:buChar char="•"/>
            </a:pPr>
            <a:r>
              <a:rPr lang="en-US" sz="2400" dirty="0"/>
              <a:t>Revolutionize the furniture retail industry by integrating advanced digital technologies.</a:t>
            </a:r>
          </a:p>
          <a:p>
            <a:pPr marL="285750" lvl="0" indent="-285750" rtl="0">
              <a:lnSpc>
                <a:spcPct val="150000"/>
              </a:lnSpc>
              <a:buFont typeface="Arial,Sans-Serif"/>
              <a:buChar char="•"/>
            </a:pPr>
            <a:r>
              <a:rPr lang="en-US" sz="2400" dirty="0"/>
              <a:t>Enhance customer experience through personalized designs and innovative solutions.</a:t>
            </a:r>
          </a:p>
          <a:p>
            <a:pPr marL="285750" lvl="0" indent="-285750" rtl="0">
              <a:lnSpc>
                <a:spcPct val="150000"/>
              </a:lnSpc>
              <a:buFont typeface="Arial,Sans-Serif"/>
              <a:buChar char="•"/>
            </a:pPr>
            <a:r>
              <a:rPr lang="en-US" sz="2400" dirty="0"/>
              <a:t>Promote sustainability in material sourcing and manufacturing processes.</a:t>
            </a:r>
          </a:p>
          <a:p>
            <a:pPr marL="285750" lvl="0" indent="-285750" rtl="0">
              <a:lnSpc>
                <a:spcPct val="150000"/>
              </a:lnSpc>
              <a:buFont typeface="Arial,Sans-Serif"/>
              <a:buChar char="•"/>
            </a:pPr>
            <a:r>
              <a:rPr lang="en-US" sz="2400" dirty="0"/>
              <a:t>Expand market reach and improve efficiency through data-driven insights and digital marketing.</a:t>
            </a:r>
          </a:p>
        </p:txBody>
      </p:sp>
      <p:sp>
        <p:nvSpPr>
          <p:cNvPr id="3" name="Rectangle 1">
            <a:extLst>
              <a:ext uri="{FF2B5EF4-FFF2-40B4-BE49-F238E27FC236}">
                <a16:creationId xmlns:a16="http://schemas.microsoft.com/office/drawing/2014/main" id="{D8AE155F-56D6-F718-5824-EAC6324A6812}"/>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Slide Number Placeholder 6">
            <a:extLst>
              <a:ext uri="{FF2B5EF4-FFF2-40B4-BE49-F238E27FC236}">
                <a16:creationId xmlns:a16="http://schemas.microsoft.com/office/drawing/2014/main" id="{642BD293-178E-61B9-DC10-D1048547A3FE}"/>
              </a:ext>
            </a:extLst>
          </p:cNvPr>
          <p:cNvSpPr>
            <a:spLocks noGrp="1"/>
          </p:cNvSpPr>
          <p:nvPr>
            <p:ph type="sldNum" sz="quarter" idx="12"/>
          </p:nvPr>
        </p:nvSpPr>
        <p:spPr/>
        <p:txBody>
          <a:bodyPr/>
          <a:lstStyle/>
          <a:p>
            <a:fld id="{330EA680-D336-4FF7-8B7A-9848BB0A1C32}" type="slidenum">
              <a:rPr lang="en-US" smtClean="0"/>
              <a:pPr/>
              <a:t>4</a:t>
            </a:fld>
            <a:endParaRPr lang="en-US"/>
          </a:p>
        </p:txBody>
      </p:sp>
    </p:spTree>
    <p:extLst>
      <p:ext uri="{BB962C8B-B14F-4D97-AF65-F5344CB8AC3E}">
        <p14:creationId xmlns:p14="http://schemas.microsoft.com/office/powerpoint/2010/main" val="1750767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D1BD9F-55DC-8F76-01FF-B89F7FB0E0D3}"/>
              </a:ext>
            </a:extLst>
          </p:cNvPr>
          <p:cNvSpPr txBox="1"/>
          <p:nvPr/>
        </p:nvSpPr>
        <p:spPr>
          <a:xfrm>
            <a:off x="577271" y="317774"/>
            <a:ext cx="11048437" cy="65710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dirty="0">
                <a:solidFill>
                  <a:srgbClr val="000000"/>
                </a:solidFill>
                <a:latin typeface="Times New Roman"/>
                <a:ea typeface="+mn-lt"/>
                <a:cs typeface="Times New Roman"/>
              </a:rPr>
              <a:t>Scope &amp; Objectives:</a:t>
            </a:r>
            <a:endParaRPr lang="en-US" dirty="0"/>
          </a:p>
          <a:p>
            <a:pPr>
              <a:lnSpc>
                <a:spcPct val="150000"/>
              </a:lnSpc>
            </a:pPr>
            <a:r>
              <a:rPr lang="en-US" sz="2200" b="1" dirty="0">
                <a:solidFill>
                  <a:srgbClr val="0D0D0D"/>
                </a:solidFill>
                <a:ea typeface="+mn-lt"/>
                <a:cs typeface="+mn-lt"/>
              </a:rPr>
              <a:t>Scope:</a:t>
            </a:r>
            <a:endParaRPr lang="en-US" sz="2200" b="1" dirty="0"/>
          </a:p>
          <a:p>
            <a:pPr marL="285750" indent="-285750">
              <a:lnSpc>
                <a:spcPct val="150000"/>
              </a:lnSpc>
              <a:buFont typeface="Arial"/>
              <a:buChar char="•"/>
            </a:pPr>
            <a:r>
              <a:rPr lang="en-US" sz="2000" dirty="0"/>
              <a:t>Develop a user-friendly digital platform with a virtual showroom and customization tools.</a:t>
            </a:r>
          </a:p>
          <a:p>
            <a:pPr marL="285750" indent="-285750">
              <a:lnSpc>
                <a:spcPct val="150000"/>
              </a:lnSpc>
              <a:buFont typeface="Arial"/>
              <a:buChar char="•"/>
            </a:pPr>
            <a:r>
              <a:rPr lang="en-US" sz="2000" dirty="0"/>
              <a:t>Collaborate with designers and integrate IoT for innovative designs and supply chain optimization.</a:t>
            </a:r>
            <a:r>
              <a:rPr lang="en-US" sz="2000" dirty="0">
                <a:solidFill>
                  <a:srgbClr val="0D0D0D"/>
                </a:solidFill>
                <a:ea typeface="+mn-lt"/>
                <a:cs typeface="+mn-lt"/>
              </a:rPr>
              <a:t> </a:t>
            </a:r>
          </a:p>
          <a:p>
            <a:pPr marL="285750" indent="-285750">
              <a:lnSpc>
                <a:spcPct val="150000"/>
              </a:lnSpc>
              <a:buFont typeface="Arial"/>
              <a:buChar char="•"/>
            </a:pPr>
            <a:r>
              <a:rPr lang="en-US" sz="2000" dirty="0"/>
              <a:t>Focus on sustainability in material sourcing and manufacturing, while enabling customer co-creation.</a:t>
            </a:r>
          </a:p>
          <a:p>
            <a:pPr>
              <a:lnSpc>
                <a:spcPct val="150000"/>
              </a:lnSpc>
            </a:pPr>
            <a:r>
              <a:rPr lang="en-US" sz="2400" b="1" dirty="0">
                <a:solidFill>
                  <a:srgbClr val="0D0D0D"/>
                </a:solidFill>
                <a:ea typeface="+mn-lt"/>
                <a:cs typeface="+mn-lt"/>
              </a:rPr>
              <a:t> </a:t>
            </a:r>
            <a:r>
              <a:rPr lang="en-US" sz="2200" b="1" dirty="0">
                <a:solidFill>
                  <a:srgbClr val="0D0D0D"/>
                </a:solidFill>
                <a:ea typeface="+mn-lt"/>
                <a:cs typeface="+mn-lt"/>
              </a:rPr>
              <a:t>Objectives:</a:t>
            </a:r>
            <a:endParaRPr lang="en-US" sz="2200" b="1" dirty="0"/>
          </a:p>
          <a:p>
            <a:pPr marL="285750" indent="-285750">
              <a:lnSpc>
                <a:spcPct val="150000"/>
              </a:lnSpc>
              <a:buFont typeface="Arial,Sans-Serif"/>
              <a:buChar char="•"/>
            </a:pPr>
            <a:r>
              <a:rPr kumimoji="0" lang="en-US" altLang="en-US" sz="2000" b="0" i="0" u="none" strike="noStrike" cap="none" normalizeH="0" baseline="0" dirty="0">
                <a:ln>
                  <a:noFill/>
                </a:ln>
                <a:solidFill>
                  <a:schemeClr val="tx1"/>
                </a:solidFill>
                <a:effectLst/>
                <a:latin typeface="Arial" panose="020B0604020202020204" pitchFamily="34" charset="0"/>
              </a:rPr>
              <a:t>The project enhances furniture retail by focusing on customer experience, innovation, and sustainability.</a:t>
            </a:r>
            <a:endParaRPr lang="en-US" sz="2000" dirty="0"/>
          </a:p>
          <a:p>
            <a:pPr marL="285750" lvl="0" indent="-285750" rtl="0">
              <a:lnSpc>
                <a:spcPct val="150000"/>
              </a:lnSpc>
              <a:buFont typeface="Arial,Sans-Serif"/>
              <a:buChar char="•"/>
            </a:pPr>
            <a:r>
              <a:rPr lang="en-US" sz="2000" dirty="0"/>
              <a:t>Data analytics guide product development and marketing strategies.</a:t>
            </a:r>
          </a:p>
          <a:p>
            <a:pPr marL="285750" lvl="0" indent="-285750" rtl="0">
              <a:lnSpc>
                <a:spcPct val="150000"/>
              </a:lnSpc>
              <a:buFont typeface="Arial,Sans-Serif"/>
              <a:buChar char="•"/>
            </a:pPr>
            <a:r>
              <a:rPr lang="en-US" sz="2000" dirty="0"/>
              <a:t>Digital marketing expands market reach and boosts brand visibility.</a:t>
            </a:r>
          </a:p>
          <a:p>
            <a:pPr marL="285750" lvl="0" indent="-285750" rtl="0">
              <a:lnSpc>
                <a:spcPct val="150000"/>
              </a:lnSpc>
              <a:buFont typeface="Arial,Sans-Serif"/>
              <a:buChar char="•"/>
            </a:pPr>
            <a:r>
              <a:rPr lang="en-US" sz="2000" dirty="0"/>
              <a:t>Continuous improvements ensure adaptation to evolving trends and technology.</a:t>
            </a:r>
          </a:p>
          <a:p>
            <a:endParaRPr lang="en-US" sz="2600" b="1" dirty="0">
              <a:solidFill>
                <a:srgbClr val="000000"/>
              </a:solidFill>
              <a:latin typeface="Times New Roman"/>
              <a:cs typeface="Times New Roman"/>
            </a:endParaRPr>
          </a:p>
        </p:txBody>
      </p:sp>
      <p:sp>
        <p:nvSpPr>
          <p:cNvPr id="5" name="Slide Number Placeholder 4">
            <a:extLst>
              <a:ext uri="{FF2B5EF4-FFF2-40B4-BE49-F238E27FC236}">
                <a16:creationId xmlns:a16="http://schemas.microsoft.com/office/drawing/2014/main" id="{8974840A-7F10-2804-689D-753919C04786}"/>
              </a:ext>
            </a:extLst>
          </p:cNvPr>
          <p:cNvSpPr>
            <a:spLocks noGrp="1"/>
          </p:cNvSpPr>
          <p:nvPr>
            <p:ph type="sldNum" sz="quarter" idx="12"/>
          </p:nvPr>
        </p:nvSpPr>
        <p:spPr/>
        <p:txBody>
          <a:bodyPr/>
          <a:lstStyle/>
          <a:p>
            <a:fld id="{330EA680-D336-4FF7-8B7A-9848BB0A1C32}" type="slidenum">
              <a:rPr lang="en-US" smtClean="0"/>
              <a:pPr/>
              <a:t>5</a:t>
            </a:fld>
            <a:endParaRPr lang="en-US"/>
          </a:p>
        </p:txBody>
      </p:sp>
    </p:spTree>
    <p:extLst>
      <p:ext uri="{BB962C8B-B14F-4D97-AF65-F5344CB8AC3E}">
        <p14:creationId xmlns:p14="http://schemas.microsoft.com/office/powerpoint/2010/main" val="1885819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73BB99-7E1D-24A1-C64E-EF5156AA281C}"/>
              </a:ext>
            </a:extLst>
          </p:cNvPr>
          <p:cNvSpPr txBox="1"/>
          <p:nvPr/>
        </p:nvSpPr>
        <p:spPr>
          <a:xfrm>
            <a:off x="721315" y="475012"/>
            <a:ext cx="10467866" cy="25699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dirty="0">
                <a:latin typeface="Times New Roman"/>
                <a:cs typeface="Times New Roman"/>
              </a:rPr>
              <a:t>Technologies:</a:t>
            </a:r>
          </a:p>
          <a:p>
            <a:pPr marL="285750" indent="-285750">
              <a:lnSpc>
                <a:spcPct val="150000"/>
              </a:lnSpc>
              <a:buFont typeface="Arial"/>
              <a:buChar char="•"/>
            </a:pPr>
            <a:r>
              <a:rPr lang="en-US" sz="2200" dirty="0">
                <a:solidFill>
                  <a:srgbClr val="0D0D0D"/>
                </a:solidFill>
                <a:ea typeface="+mn-lt"/>
                <a:cs typeface="+mn-lt"/>
              </a:rPr>
              <a:t>Frontend: HTML, CSS, JavaScript, React.js</a:t>
            </a:r>
            <a:endParaRPr lang="en-US" sz="2200" dirty="0"/>
          </a:p>
          <a:p>
            <a:pPr marL="285750" indent="-285750">
              <a:lnSpc>
                <a:spcPct val="150000"/>
              </a:lnSpc>
              <a:buFont typeface="Arial"/>
              <a:buChar char="•"/>
            </a:pPr>
            <a:r>
              <a:rPr lang="en-US" sz="2200" dirty="0">
                <a:solidFill>
                  <a:srgbClr val="0D0D0D"/>
                </a:solidFill>
                <a:ea typeface="+mn-lt"/>
                <a:cs typeface="+mn-lt"/>
              </a:rPr>
              <a:t>Backend: Node.js</a:t>
            </a:r>
            <a:endParaRPr lang="en-US" sz="2200" dirty="0">
              <a:solidFill>
                <a:srgbClr val="000000"/>
              </a:solidFill>
              <a:ea typeface="+mn-lt"/>
              <a:cs typeface="+mn-lt"/>
            </a:endParaRPr>
          </a:p>
          <a:p>
            <a:pPr marL="285750" indent="-285750">
              <a:lnSpc>
                <a:spcPct val="150000"/>
              </a:lnSpc>
              <a:buFont typeface="Arial"/>
              <a:buChar char="•"/>
            </a:pPr>
            <a:r>
              <a:rPr lang="en-US" sz="2200" dirty="0">
                <a:solidFill>
                  <a:srgbClr val="0D0D0D"/>
                </a:solidFill>
                <a:ea typeface="+mn-lt"/>
                <a:cs typeface="+mn-lt"/>
              </a:rPr>
              <a:t>Database:  MongoDB</a:t>
            </a:r>
            <a:endParaRPr lang="en-US" sz="2200" dirty="0"/>
          </a:p>
          <a:p>
            <a:br>
              <a:rPr lang="en-US" dirty="0"/>
            </a:br>
            <a:endParaRPr lang="en-US" dirty="0"/>
          </a:p>
        </p:txBody>
      </p:sp>
      <p:sp>
        <p:nvSpPr>
          <p:cNvPr id="5" name="Slide Number Placeholder 4">
            <a:extLst>
              <a:ext uri="{FF2B5EF4-FFF2-40B4-BE49-F238E27FC236}">
                <a16:creationId xmlns:a16="http://schemas.microsoft.com/office/drawing/2014/main" id="{C5EC6457-61F4-ACEB-A755-1A5F3E4075EA}"/>
              </a:ext>
            </a:extLst>
          </p:cNvPr>
          <p:cNvSpPr>
            <a:spLocks noGrp="1"/>
          </p:cNvSpPr>
          <p:nvPr>
            <p:ph type="sldNum" sz="quarter" idx="12"/>
          </p:nvPr>
        </p:nvSpPr>
        <p:spPr/>
        <p:txBody>
          <a:bodyPr/>
          <a:lstStyle/>
          <a:p>
            <a:fld id="{330EA680-D336-4FF7-8B7A-9848BB0A1C32}" type="slidenum">
              <a:rPr lang="en-US" smtClean="0"/>
              <a:pPr/>
              <a:t>6</a:t>
            </a:fld>
            <a:endParaRPr lang="en-US"/>
          </a:p>
        </p:txBody>
      </p:sp>
    </p:spTree>
    <p:extLst>
      <p:ext uri="{BB962C8B-B14F-4D97-AF65-F5344CB8AC3E}">
        <p14:creationId xmlns:p14="http://schemas.microsoft.com/office/powerpoint/2010/main" val="2251774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B1CEB1-8BBA-2C25-0CF9-A5EE2B95D4E0}"/>
              </a:ext>
            </a:extLst>
          </p:cNvPr>
          <p:cNvSpPr txBox="1"/>
          <p:nvPr/>
        </p:nvSpPr>
        <p:spPr>
          <a:xfrm>
            <a:off x="404640" y="475012"/>
            <a:ext cx="11435484"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dirty="0">
                <a:latin typeface="Times New Roman"/>
                <a:cs typeface="Times New Roman"/>
              </a:rPr>
              <a:t>Project Management:</a:t>
            </a:r>
            <a:endParaRPr lang="en-US" b="1" dirty="0"/>
          </a:p>
        </p:txBody>
      </p:sp>
      <p:sp>
        <p:nvSpPr>
          <p:cNvPr id="3" name="TextBox 2">
            <a:extLst>
              <a:ext uri="{FF2B5EF4-FFF2-40B4-BE49-F238E27FC236}">
                <a16:creationId xmlns:a16="http://schemas.microsoft.com/office/drawing/2014/main" id="{277610D7-844B-4E1E-D2B4-F3374DC134DC}"/>
              </a:ext>
            </a:extLst>
          </p:cNvPr>
          <p:cNvSpPr txBox="1"/>
          <p:nvPr/>
        </p:nvSpPr>
        <p:spPr>
          <a:xfrm>
            <a:off x="404741" y="1413365"/>
            <a:ext cx="10151191" cy="19082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dirty="0">
                <a:latin typeface="Times New Roman"/>
                <a:cs typeface="Times New Roman"/>
              </a:rPr>
              <a:t>Project Planning:</a:t>
            </a:r>
            <a:endParaRPr lang="en-US" sz="2600" b="1" dirty="0">
              <a:latin typeface="Aptos" panose="020B0004020202020204"/>
              <a:cs typeface="Times New Roman"/>
            </a:endParaRPr>
          </a:p>
          <a:p>
            <a:pPr marL="285750" indent="-285750">
              <a:lnSpc>
                <a:spcPct val="150000"/>
              </a:lnSpc>
              <a:buFont typeface="Arial"/>
              <a:buChar char="•"/>
            </a:pPr>
            <a:r>
              <a:rPr lang="en-US" sz="2200" dirty="0">
                <a:solidFill>
                  <a:srgbClr val="0D0D0D"/>
                </a:solidFill>
                <a:ea typeface="+mn-lt"/>
                <a:cs typeface="+mn-lt"/>
              </a:rPr>
              <a:t>Agile development model for iterative improvements.</a:t>
            </a:r>
            <a:endParaRPr lang="en-US" sz="2200" dirty="0"/>
          </a:p>
          <a:p>
            <a:pPr marL="285750" indent="-285750">
              <a:lnSpc>
                <a:spcPct val="150000"/>
              </a:lnSpc>
              <a:buFont typeface="Arial"/>
              <a:buChar char="•"/>
            </a:pPr>
            <a:r>
              <a:rPr lang="en-US" sz="2200" dirty="0">
                <a:solidFill>
                  <a:srgbClr val="0D0D0D"/>
                </a:solidFill>
                <a:ea typeface="+mn-lt"/>
                <a:cs typeface="+mn-lt"/>
              </a:rPr>
              <a:t>Phased approach: requirements, design, development, testing, deployment.</a:t>
            </a:r>
            <a:endParaRPr lang="en-US" sz="2200" dirty="0"/>
          </a:p>
          <a:p>
            <a:endParaRPr lang="en-US" sz="2600" b="1" dirty="0">
              <a:latin typeface="Times New Roman"/>
              <a:cs typeface="Times New Roman"/>
            </a:endParaRPr>
          </a:p>
        </p:txBody>
      </p:sp>
      <p:sp>
        <p:nvSpPr>
          <p:cNvPr id="4" name="TextBox 3">
            <a:extLst>
              <a:ext uri="{FF2B5EF4-FFF2-40B4-BE49-F238E27FC236}">
                <a16:creationId xmlns:a16="http://schemas.microsoft.com/office/drawing/2014/main" id="{0FEB2296-79AB-085E-C8A5-E8940A1E607C}"/>
              </a:ext>
            </a:extLst>
          </p:cNvPr>
          <p:cNvSpPr txBox="1"/>
          <p:nvPr/>
        </p:nvSpPr>
        <p:spPr>
          <a:xfrm>
            <a:off x="527791" y="3377865"/>
            <a:ext cx="10397494" cy="19082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dirty="0">
                <a:latin typeface="Times New Roman"/>
                <a:cs typeface="Times New Roman"/>
              </a:rPr>
              <a:t>Roles and Responsibilities :</a:t>
            </a:r>
          </a:p>
          <a:p>
            <a:pPr marL="285750" indent="-285750">
              <a:lnSpc>
                <a:spcPct val="150000"/>
              </a:lnSpc>
              <a:buFont typeface="Arial"/>
              <a:buChar char="•"/>
            </a:pPr>
            <a:r>
              <a:rPr lang="en-US" sz="2200" dirty="0">
                <a:solidFill>
                  <a:srgbClr val="0D0D0D"/>
                </a:solidFill>
                <a:ea typeface="+mn-lt"/>
                <a:cs typeface="+mn-lt"/>
              </a:rPr>
              <a:t>Project Manager: Oversee project progress and coordinate team activities.</a:t>
            </a:r>
            <a:endParaRPr lang="en-US" sz="2200" dirty="0"/>
          </a:p>
          <a:p>
            <a:pPr marL="285750" indent="-285750">
              <a:lnSpc>
                <a:spcPct val="150000"/>
              </a:lnSpc>
              <a:buFont typeface="Arial"/>
              <a:buChar char="•"/>
            </a:pPr>
            <a:r>
              <a:rPr lang="en-US" sz="2200" dirty="0">
                <a:solidFill>
                  <a:srgbClr val="0D0D0D"/>
                </a:solidFill>
                <a:ea typeface="+mn-lt"/>
                <a:cs typeface="+mn-lt"/>
              </a:rPr>
              <a:t>Software Engineers: Develop frontend and backend components.</a:t>
            </a:r>
            <a:endParaRPr lang="en-US" sz="2200" dirty="0"/>
          </a:p>
          <a:p>
            <a:endParaRPr lang="en-US" sz="2600" b="1" dirty="0">
              <a:latin typeface="Times New Roman"/>
              <a:cs typeface="Times New Roman"/>
            </a:endParaRPr>
          </a:p>
        </p:txBody>
      </p:sp>
      <p:sp>
        <p:nvSpPr>
          <p:cNvPr id="7" name="Slide Number Placeholder 6">
            <a:extLst>
              <a:ext uri="{FF2B5EF4-FFF2-40B4-BE49-F238E27FC236}">
                <a16:creationId xmlns:a16="http://schemas.microsoft.com/office/drawing/2014/main" id="{59424FA7-C60B-1BD7-C8FB-5AFFEE34F30C}"/>
              </a:ext>
            </a:extLst>
          </p:cNvPr>
          <p:cNvSpPr>
            <a:spLocks noGrp="1"/>
          </p:cNvSpPr>
          <p:nvPr>
            <p:ph type="sldNum" sz="quarter" idx="12"/>
          </p:nvPr>
        </p:nvSpPr>
        <p:spPr/>
        <p:txBody>
          <a:bodyPr/>
          <a:lstStyle/>
          <a:p>
            <a:fld id="{330EA680-D336-4FF7-8B7A-9848BB0A1C32}" type="slidenum">
              <a:rPr lang="en-US" smtClean="0"/>
              <a:pPr/>
              <a:t>7</a:t>
            </a:fld>
            <a:endParaRPr lang="en-US"/>
          </a:p>
        </p:txBody>
      </p:sp>
    </p:spTree>
    <p:extLst>
      <p:ext uri="{BB962C8B-B14F-4D97-AF65-F5344CB8AC3E}">
        <p14:creationId xmlns:p14="http://schemas.microsoft.com/office/powerpoint/2010/main" val="4201714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339239-A606-268F-A609-253C1EBCCEDC}"/>
              </a:ext>
            </a:extLst>
          </p:cNvPr>
          <p:cNvSpPr txBox="1"/>
          <p:nvPr/>
        </p:nvSpPr>
        <p:spPr>
          <a:xfrm>
            <a:off x="389246" y="228708"/>
            <a:ext cx="10503052" cy="4924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dirty="0">
                <a:latin typeface="Times New Roman"/>
                <a:cs typeface="Times New Roman"/>
              </a:rPr>
              <a:t>Project Scheduling -Gantt Chart</a:t>
            </a:r>
            <a:endParaRPr lang="en-US" sz="2600" b="1" dirty="0"/>
          </a:p>
        </p:txBody>
      </p:sp>
      <p:pic>
        <p:nvPicPr>
          <p:cNvPr id="4" name="Picture 3">
            <a:extLst>
              <a:ext uri="{FF2B5EF4-FFF2-40B4-BE49-F238E27FC236}">
                <a16:creationId xmlns:a16="http://schemas.microsoft.com/office/drawing/2014/main" id="{20DF767E-4633-4CCE-6B08-3938B0439E2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389246" y="720215"/>
            <a:ext cx="10964554" cy="5715091"/>
          </a:xfrm>
          <a:prstGeom prst="rect">
            <a:avLst/>
          </a:prstGeom>
        </p:spPr>
      </p:pic>
      <p:sp>
        <p:nvSpPr>
          <p:cNvPr id="6" name="Slide Number Placeholder 5">
            <a:extLst>
              <a:ext uri="{FF2B5EF4-FFF2-40B4-BE49-F238E27FC236}">
                <a16:creationId xmlns:a16="http://schemas.microsoft.com/office/drawing/2014/main" id="{3DFD0AA0-8EB5-701E-E83B-37D874F2230C}"/>
              </a:ext>
            </a:extLst>
          </p:cNvPr>
          <p:cNvSpPr>
            <a:spLocks noGrp="1"/>
          </p:cNvSpPr>
          <p:nvPr>
            <p:ph type="sldNum" sz="quarter" idx="12"/>
          </p:nvPr>
        </p:nvSpPr>
        <p:spPr/>
        <p:txBody>
          <a:bodyPr/>
          <a:lstStyle/>
          <a:p>
            <a:fld id="{330EA680-D336-4FF7-8B7A-9848BB0A1C32}" type="slidenum">
              <a:rPr lang="en-US" smtClean="0"/>
              <a:pPr/>
              <a:t>8</a:t>
            </a:fld>
            <a:endParaRPr lang="en-US"/>
          </a:p>
        </p:txBody>
      </p:sp>
    </p:spTree>
    <p:extLst>
      <p:ext uri="{BB962C8B-B14F-4D97-AF65-F5344CB8AC3E}">
        <p14:creationId xmlns:p14="http://schemas.microsoft.com/office/powerpoint/2010/main" val="261148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B7B4A3-020E-6509-9A25-078C26B65673}"/>
              </a:ext>
            </a:extLst>
          </p:cNvPr>
          <p:cNvSpPr txBox="1"/>
          <p:nvPr/>
        </p:nvSpPr>
        <p:spPr>
          <a:xfrm>
            <a:off x="228709" y="263895"/>
            <a:ext cx="1108362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dirty="0">
                <a:latin typeface="Times New Roman"/>
                <a:cs typeface="Times New Roman"/>
              </a:rPr>
              <a:t>Risk Management:</a:t>
            </a:r>
          </a:p>
          <a:p>
            <a:endParaRPr lang="en-US" sz="2200" b="1" dirty="0">
              <a:latin typeface="Times New Roman"/>
              <a:cs typeface="Times New Roman"/>
            </a:endParaRPr>
          </a:p>
        </p:txBody>
      </p:sp>
      <p:sp>
        <p:nvSpPr>
          <p:cNvPr id="4" name="TextBox 3">
            <a:extLst>
              <a:ext uri="{FF2B5EF4-FFF2-40B4-BE49-F238E27FC236}">
                <a16:creationId xmlns:a16="http://schemas.microsoft.com/office/drawing/2014/main" id="{A8504B6A-B262-ED86-4419-DD2CA56BAB4E}"/>
              </a:ext>
            </a:extLst>
          </p:cNvPr>
          <p:cNvSpPr txBox="1"/>
          <p:nvPr/>
        </p:nvSpPr>
        <p:spPr>
          <a:xfrm>
            <a:off x="422233" y="967618"/>
            <a:ext cx="11030844" cy="14131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300" b="1" dirty="0">
                <a:solidFill>
                  <a:srgbClr val="0D0D0D"/>
                </a:solidFill>
                <a:ea typeface="+mn-lt"/>
                <a:cs typeface="+mn-lt"/>
              </a:rPr>
              <a:t>Identification:</a:t>
            </a:r>
          </a:p>
          <a:p>
            <a:pPr marL="171450" indent="-171450">
              <a:lnSpc>
                <a:spcPct val="150000"/>
              </a:lnSpc>
              <a:buFont typeface="Arial"/>
              <a:buChar char="•"/>
            </a:pPr>
            <a:r>
              <a:rPr lang="en-US" sz="2200" dirty="0">
                <a:solidFill>
                  <a:srgbClr val="0D0D0D"/>
                </a:solidFill>
                <a:ea typeface="+mn-lt"/>
                <a:cs typeface="+mn-lt"/>
              </a:rPr>
              <a:t>Inadequate infrastructure for handling high user traffic.</a:t>
            </a:r>
          </a:p>
          <a:p>
            <a:pPr marL="171450" indent="-171450">
              <a:lnSpc>
                <a:spcPct val="150000"/>
              </a:lnSpc>
              <a:buFont typeface="Arial"/>
              <a:buChar char="•"/>
            </a:pPr>
            <a:r>
              <a:rPr lang="en-US" sz="2200" dirty="0">
                <a:solidFill>
                  <a:srgbClr val="0D0D0D"/>
                </a:solidFill>
                <a:ea typeface="+mn-lt"/>
                <a:cs typeface="+mn-lt"/>
              </a:rPr>
              <a:t>Technical challenges in integrating various technologies.</a:t>
            </a:r>
            <a:endParaRPr lang="en-US" sz="2200" dirty="0"/>
          </a:p>
        </p:txBody>
      </p:sp>
      <p:sp>
        <p:nvSpPr>
          <p:cNvPr id="5" name="TextBox 4">
            <a:extLst>
              <a:ext uri="{FF2B5EF4-FFF2-40B4-BE49-F238E27FC236}">
                <a16:creationId xmlns:a16="http://schemas.microsoft.com/office/drawing/2014/main" id="{E62D5991-0355-0AD6-9A32-F3AF4F765D20}"/>
              </a:ext>
            </a:extLst>
          </p:cNvPr>
          <p:cNvSpPr txBox="1"/>
          <p:nvPr/>
        </p:nvSpPr>
        <p:spPr>
          <a:xfrm>
            <a:off x="425532" y="2636758"/>
            <a:ext cx="8233548" cy="9514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600" b="1" dirty="0">
                <a:solidFill>
                  <a:srgbClr val="0D0D0D"/>
                </a:solidFill>
                <a:ea typeface="+mn-lt"/>
                <a:cs typeface="+mn-lt"/>
              </a:rPr>
              <a:t>Analysis:</a:t>
            </a:r>
          </a:p>
          <a:p>
            <a:pPr marL="171450" indent="-171450">
              <a:lnSpc>
                <a:spcPct val="150000"/>
              </a:lnSpc>
              <a:buFont typeface="Arial"/>
              <a:buChar char="•"/>
            </a:pPr>
            <a:r>
              <a:rPr lang="en-IN" sz="2000" dirty="0"/>
              <a:t>Disruption in Data Security</a:t>
            </a:r>
            <a:r>
              <a:rPr lang="en-US" sz="2200" dirty="0">
                <a:solidFill>
                  <a:srgbClr val="0D0D0D"/>
                </a:solidFill>
                <a:ea typeface="+mn-lt"/>
                <a:cs typeface="+mn-lt"/>
              </a:rPr>
              <a:t>, loss of data, reputational damage.</a:t>
            </a:r>
            <a:endParaRPr lang="en-US" sz="2200" dirty="0"/>
          </a:p>
        </p:txBody>
      </p:sp>
      <p:sp>
        <p:nvSpPr>
          <p:cNvPr id="7" name="Slide Number Placeholder 6">
            <a:extLst>
              <a:ext uri="{FF2B5EF4-FFF2-40B4-BE49-F238E27FC236}">
                <a16:creationId xmlns:a16="http://schemas.microsoft.com/office/drawing/2014/main" id="{BA1865A8-A643-FED7-9215-3C73B1B6E745}"/>
              </a:ext>
            </a:extLst>
          </p:cNvPr>
          <p:cNvSpPr>
            <a:spLocks noGrp="1"/>
          </p:cNvSpPr>
          <p:nvPr>
            <p:ph type="sldNum" sz="quarter" idx="12"/>
          </p:nvPr>
        </p:nvSpPr>
        <p:spPr/>
        <p:txBody>
          <a:bodyPr/>
          <a:lstStyle/>
          <a:p>
            <a:fld id="{330EA680-D336-4FF7-8B7A-9848BB0A1C32}" type="slidenum">
              <a:rPr lang="en-US" smtClean="0"/>
              <a:pPr/>
              <a:t>9</a:t>
            </a:fld>
            <a:endParaRPr lang="en-US"/>
          </a:p>
        </p:txBody>
      </p:sp>
    </p:spTree>
    <p:extLst>
      <p:ext uri="{BB962C8B-B14F-4D97-AF65-F5344CB8AC3E}">
        <p14:creationId xmlns:p14="http://schemas.microsoft.com/office/powerpoint/2010/main" val="1511208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0EAB2D-D221-7047-DF70-0E87DEAA188D}"/>
              </a:ext>
            </a:extLst>
          </p:cNvPr>
          <p:cNvSpPr txBox="1"/>
          <p:nvPr/>
        </p:nvSpPr>
        <p:spPr>
          <a:xfrm>
            <a:off x="0" y="0"/>
            <a:ext cx="1089009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latin typeface="Times New Roman"/>
                <a:cs typeface="Times New Roman"/>
              </a:rPr>
              <a:t>Prior Art Search (PAS):</a:t>
            </a:r>
            <a:endParaRPr lang="en-US" sz="4000"/>
          </a:p>
        </p:txBody>
      </p:sp>
      <p:graphicFrame>
        <p:nvGraphicFramePr>
          <p:cNvPr id="17" name="Table 16">
            <a:extLst>
              <a:ext uri="{FF2B5EF4-FFF2-40B4-BE49-F238E27FC236}">
                <a16:creationId xmlns:a16="http://schemas.microsoft.com/office/drawing/2014/main" id="{B421AB37-0236-9959-419D-AB29A1BF2264}"/>
              </a:ext>
            </a:extLst>
          </p:cNvPr>
          <p:cNvGraphicFramePr>
            <a:graphicFrameLocks noGrp="1"/>
          </p:cNvGraphicFramePr>
          <p:nvPr>
            <p:extLst>
              <p:ext uri="{D42A27DB-BD31-4B8C-83A1-F6EECF244321}">
                <p14:modId xmlns:p14="http://schemas.microsoft.com/office/powerpoint/2010/main" val="2688990530"/>
              </p:ext>
            </p:extLst>
          </p:nvPr>
        </p:nvGraphicFramePr>
        <p:xfrm>
          <a:off x="101600" y="707885"/>
          <a:ext cx="11984886" cy="6141150"/>
        </p:xfrm>
        <a:graphic>
          <a:graphicData uri="http://schemas.openxmlformats.org/drawingml/2006/table">
            <a:tbl>
              <a:tblPr firstRow="1" bandRow="1">
                <a:tableStyleId>{5940675A-B579-460E-94D1-54222C63F5DA}</a:tableStyleId>
              </a:tblPr>
              <a:tblGrid>
                <a:gridCol w="1908906">
                  <a:extLst>
                    <a:ext uri="{9D8B030D-6E8A-4147-A177-3AD203B41FA5}">
                      <a16:colId xmlns:a16="http://schemas.microsoft.com/office/drawing/2014/main" val="3109151351"/>
                    </a:ext>
                  </a:extLst>
                </a:gridCol>
                <a:gridCol w="1846384">
                  <a:extLst>
                    <a:ext uri="{9D8B030D-6E8A-4147-A177-3AD203B41FA5}">
                      <a16:colId xmlns:a16="http://schemas.microsoft.com/office/drawing/2014/main" val="1990444093"/>
                    </a:ext>
                  </a:extLst>
                </a:gridCol>
                <a:gridCol w="1494691">
                  <a:extLst>
                    <a:ext uri="{9D8B030D-6E8A-4147-A177-3AD203B41FA5}">
                      <a16:colId xmlns:a16="http://schemas.microsoft.com/office/drawing/2014/main" val="2528479741"/>
                    </a:ext>
                  </a:extLst>
                </a:gridCol>
                <a:gridCol w="6734905">
                  <a:extLst>
                    <a:ext uri="{9D8B030D-6E8A-4147-A177-3AD203B41FA5}">
                      <a16:colId xmlns:a16="http://schemas.microsoft.com/office/drawing/2014/main" val="1287130365"/>
                    </a:ext>
                  </a:extLst>
                </a:gridCol>
              </a:tblGrid>
              <a:tr h="646112">
                <a:tc>
                  <a:txBody>
                    <a:bodyPr/>
                    <a:lstStyle/>
                    <a:p>
                      <a:pPr lvl="0">
                        <a:lnSpc>
                          <a:spcPct val="150000"/>
                        </a:lnSpc>
                        <a:buNone/>
                      </a:pPr>
                      <a:r>
                        <a:rPr lang="en-US" sz="2200" b="1" i="0" u="none" strike="noStrike" noProof="0" dirty="0">
                          <a:latin typeface="Aptos"/>
                        </a:rPr>
                        <a:t>Paper Title </a:t>
                      </a:r>
                      <a:endParaRPr lang="en-US" sz="2200" b="1" dirty="0"/>
                    </a:p>
                  </a:txBody>
                  <a:tcPr/>
                </a:tc>
                <a:tc>
                  <a:txBody>
                    <a:bodyPr/>
                    <a:lstStyle/>
                    <a:p>
                      <a:pPr lvl="0">
                        <a:lnSpc>
                          <a:spcPct val="100000"/>
                        </a:lnSpc>
                        <a:buNone/>
                      </a:pPr>
                      <a:r>
                        <a:rPr lang="en-US" sz="2200" b="1" i="0" u="none" strike="noStrike" noProof="0" dirty="0">
                          <a:latin typeface="Aptos"/>
                        </a:rPr>
                        <a:t>Paper Author</a:t>
                      </a:r>
                      <a:r>
                        <a:rPr lang="en-US" sz="1800" b="0" i="0" u="none" strike="noStrike" noProof="0" dirty="0">
                          <a:latin typeface="Aptos"/>
                        </a:rPr>
                        <a:t> </a:t>
                      </a:r>
                      <a:endParaRPr lang="en-US" dirty="0"/>
                    </a:p>
                  </a:txBody>
                  <a:tcPr/>
                </a:tc>
                <a:tc>
                  <a:txBody>
                    <a:bodyPr/>
                    <a:lstStyle/>
                    <a:p>
                      <a:pPr lvl="0">
                        <a:lnSpc>
                          <a:spcPct val="100000"/>
                        </a:lnSpc>
                        <a:buNone/>
                      </a:pPr>
                      <a:r>
                        <a:rPr lang="en-US" sz="2200" b="1" i="0" u="none" strike="noStrike" noProof="0" dirty="0">
                          <a:latin typeface="Aptos"/>
                        </a:rPr>
                        <a:t>Published year </a:t>
                      </a:r>
                      <a:endParaRPr lang="en-US" sz="2200" b="1"/>
                    </a:p>
                  </a:txBody>
                  <a:tcPr/>
                </a:tc>
                <a:tc>
                  <a:txBody>
                    <a:bodyPr/>
                    <a:lstStyle/>
                    <a:p>
                      <a:pPr lvl="0">
                        <a:lnSpc>
                          <a:spcPct val="150000"/>
                        </a:lnSpc>
                        <a:buNone/>
                      </a:pPr>
                      <a:r>
                        <a:rPr lang="en-US" sz="2200" b="1" i="0" u="none" strike="noStrike" noProof="0" dirty="0">
                          <a:latin typeface="Aptos"/>
                        </a:rPr>
                        <a:t>Summary</a:t>
                      </a:r>
                      <a:endParaRPr lang="en-US" sz="2200" b="1" dirty="0"/>
                    </a:p>
                  </a:txBody>
                  <a:tcPr/>
                </a:tc>
                <a:extLst>
                  <a:ext uri="{0D108BD9-81ED-4DB2-BD59-A6C34878D82A}">
                    <a16:rowId xmlns:a16="http://schemas.microsoft.com/office/drawing/2014/main" val="1745118417"/>
                  </a:ext>
                </a:extLst>
              </a:tr>
              <a:tr h="3532297">
                <a:tc>
                  <a:txBody>
                    <a:bodyPr/>
                    <a:lstStyle/>
                    <a:p>
                      <a:pPr lvl="0">
                        <a:buNone/>
                      </a:pPr>
                      <a:r>
                        <a:rPr lang="en-US" sz="1600" dirty="0"/>
                        <a:t>The Usefulness of an Augmented Reality-Based Interactive 3D Furniture Catalog as a Tool to Aid Furniture Store Sales Operations</a:t>
                      </a:r>
                    </a:p>
                  </a:txBody>
                  <a:tcPr/>
                </a:tc>
                <a:tc>
                  <a:txBody>
                    <a:bodyPr/>
                    <a:lstStyle/>
                    <a:p>
                      <a:pPr lvl="0">
                        <a:buNone/>
                      </a:pPr>
                      <a:r>
                        <a:rPr lang="pt-BR" sz="2000" b="1" dirty="0"/>
                        <a:t>P. R. S. de Oliveira, R. T. A. Pereira, and C. B. D. Pimentel</a:t>
                      </a:r>
                      <a:r>
                        <a:rPr lang="pt-BR" sz="2000" dirty="0"/>
                        <a:t>.</a:t>
                      </a:r>
                      <a:endParaRPr lang="en-US" sz="2000" dirty="0"/>
                    </a:p>
                  </a:txBody>
                  <a:tcPr/>
                </a:tc>
                <a:tc>
                  <a:txBody>
                    <a:bodyPr/>
                    <a:lstStyle/>
                    <a:p>
                      <a:pPr lvl="0">
                        <a:buNone/>
                      </a:pPr>
                      <a:r>
                        <a:rPr lang="en-US" sz="2000" dirty="0"/>
                        <a:t>2022</a:t>
                      </a:r>
                    </a:p>
                  </a:txBody>
                  <a:tcPr/>
                </a:tc>
                <a:tc>
                  <a:txBody>
                    <a:bodyPr/>
                    <a:lstStyle/>
                    <a:p>
                      <a:pPr lvl="0">
                        <a:buNone/>
                      </a:pPr>
                      <a:r>
                        <a:rPr lang="en-US" sz="1800" dirty="0"/>
                        <a:t>The research paper evaluates the effectiveness of an augmented reality (AR) interactive 3D furniture catalog in enhancing sales operations for furniture stores. It demonstrates how AR technology improves customer engagement and decision-making by providing immersive and interactive product experiences. The study highlights increased sales efficiency and customer satisfaction through the implementation of AR-based tools</a:t>
                      </a:r>
                    </a:p>
                  </a:txBody>
                  <a:tcPr/>
                </a:tc>
                <a:extLst>
                  <a:ext uri="{0D108BD9-81ED-4DB2-BD59-A6C34878D82A}">
                    <a16:rowId xmlns:a16="http://schemas.microsoft.com/office/drawing/2014/main" val="1576516942"/>
                  </a:ext>
                </a:extLst>
              </a:tr>
              <a:tr h="1846853">
                <a:tc>
                  <a:txBody>
                    <a:bodyPr/>
                    <a:lstStyle/>
                    <a:p>
                      <a:pPr lvl="0">
                        <a:buNone/>
                      </a:pPr>
                      <a:r>
                        <a:rPr lang="en-US" sz="1600" dirty="0"/>
                        <a:t>Applying Modern Interactive Techniques to Interior Designing of Home Furniture Stores</a:t>
                      </a:r>
                    </a:p>
                  </a:txBody>
                  <a:tcPr/>
                </a:tc>
                <a:tc>
                  <a:txBody>
                    <a:bodyPr/>
                    <a:lstStyle/>
                    <a:p>
                      <a:pPr lvl="0">
                        <a:buNone/>
                      </a:pPr>
                      <a:r>
                        <a:rPr lang="en-US" sz="2000" b="1" dirty="0"/>
                        <a:t>J. M. Smith, A. L. Brown, and K. P. Johnson</a:t>
                      </a:r>
                      <a:r>
                        <a:rPr lang="en-US" sz="2000" dirty="0"/>
                        <a:t>.</a:t>
                      </a:r>
                    </a:p>
                  </a:txBody>
                  <a:tcPr/>
                </a:tc>
                <a:tc>
                  <a:txBody>
                    <a:bodyPr/>
                    <a:lstStyle/>
                    <a:p>
                      <a:pPr lvl="0">
                        <a:buNone/>
                      </a:pPr>
                      <a:r>
                        <a:rPr lang="en-US" sz="2000" dirty="0"/>
                        <a:t>2024</a:t>
                      </a:r>
                    </a:p>
                  </a:txBody>
                  <a:tcPr/>
                </a:tc>
                <a:tc>
                  <a:txBody>
                    <a:bodyPr/>
                    <a:lstStyle/>
                    <a:p>
                      <a:pPr lvl="0">
                        <a:buNone/>
                      </a:pPr>
                      <a:r>
                        <a:rPr lang="en-US" sz="1800" dirty="0"/>
                        <a:t>The paper explores the integration of modern interactive techniques into the interior design of home furniture stores. It examines how technologies like virtual reality and interactive displays enhance customer engagement and optimize store layouts. The research highlights the potential for these techniques to improve customer experience and boost sales.</a:t>
                      </a:r>
                      <a:endParaRPr lang="en-US" sz="1800" b="0" i="0" u="none" strike="noStrike" noProof="0" dirty="0"/>
                    </a:p>
                  </a:txBody>
                  <a:tcPr/>
                </a:tc>
                <a:extLst>
                  <a:ext uri="{0D108BD9-81ED-4DB2-BD59-A6C34878D82A}">
                    <a16:rowId xmlns:a16="http://schemas.microsoft.com/office/drawing/2014/main" val="3679800026"/>
                  </a:ext>
                </a:extLst>
              </a:tr>
            </a:tbl>
          </a:graphicData>
        </a:graphic>
      </p:graphicFrame>
      <p:sp>
        <p:nvSpPr>
          <p:cNvPr id="5" name="Slide Number Placeholder 4">
            <a:extLst>
              <a:ext uri="{FF2B5EF4-FFF2-40B4-BE49-F238E27FC236}">
                <a16:creationId xmlns:a16="http://schemas.microsoft.com/office/drawing/2014/main" id="{8DC5DB3E-4730-4D6A-2578-0DC7217113A0}"/>
              </a:ext>
            </a:extLst>
          </p:cNvPr>
          <p:cNvSpPr>
            <a:spLocks noGrp="1"/>
          </p:cNvSpPr>
          <p:nvPr>
            <p:ph type="sldNum" sz="quarter" idx="12"/>
          </p:nvPr>
        </p:nvSpPr>
        <p:spPr/>
        <p:txBody>
          <a:bodyPr/>
          <a:lstStyle/>
          <a:p>
            <a:fld id="{330EA680-D336-4FF7-8B7A-9848BB0A1C32}" type="slidenum">
              <a:rPr lang="en-US" smtClean="0"/>
              <a:pPr/>
              <a:t>10</a:t>
            </a:fld>
            <a:endParaRPr lang="en-US"/>
          </a:p>
        </p:txBody>
      </p:sp>
    </p:spTree>
    <p:extLst>
      <p:ext uri="{BB962C8B-B14F-4D97-AF65-F5344CB8AC3E}">
        <p14:creationId xmlns:p14="http://schemas.microsoft.com/office/powerpoint/2010/main" val="653434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0F86F4-3273-9D6A-C670-B29757269023}"/>
              </a:ext>
            </a:extLst>
          </p:cNvPr>
          <p:cNvSpPr txBox="1"/>
          <p:nvPr/>
        </p:nvSpPr>
        <p:spPr>
          <a:xfrm>
            <a:off x="172231" y="203021"/>
            <a:ext cx="11435749"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dirty="0">
                <a:latin typeface="Times New Roman"/>
                <a:cs typeface="Times New Roman"/>
              </a:rPr>
              <a:t>System Requirements Study:</a:t>
            </a:r>
            <a:endParaRPr lang="en-US" b="1" dirty="0"/>
          </a:p>
        </p:txBody>
      </p:sp>
      <p:sp>
        <p:nvSpPr>
          <p:cNvPr id="3" name="TextBox 2">
            <a:extLst>
              <a:ext uri="{FF2B5EF4-FFF2-40B4-BE49-F238E27FC236}">
                <a16:creationId xmlns:a16="http://schemas.microsoft.com/office/drawing/2014/main" id="{E2B11BFE-86C0-4613-59D0-85369BD614B2}"/>
              </a:ext>
            </a:extLst>
          </p:cNvPr>
          <p:cNvSpPr txBox="1"/>
          <p:nvPr/>
        </p:nvSpPr>
        <p:spPr>
          <a:xfrm>
            <a:off x="334267" y="1266700"/>
            <a:ext cx="11417891" cy="28969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600" b="1" dirty="0">
                <a:latin typeface="Times New Roman"/>
                <a:cs typeface="Times New Roman"/>
              </a:rPr>
              <a:t>Existing System</a:t>
            </a:r>
            <a:r>
              <a:rPr lang="en-US" sz="2600" b="1" dirty="0">
                <a:latin typeface="Aptos"/>
                <a:cs typeface="Times New Roman"/>
              </a:rPr>
              <a:t>:</a:t>
            </a:r>
            <a:endParaRPr lang="en-US" dirty="0"/>
          </a:p>
          <a:p>
            <a:pPr marL="285750" indent="-285750">
              <a:lnSpc>
                <a:spcPct val="150000"/>
              </a:lnSpc>
              <a:buFont typeface="Arial"/>
              <a:buChar char="•"/>
            </a:pPr>
            <a:r>
              <a:rPr lang="en-US" sz="2200" dirty="0">
                <a:ea typeface="+mn-lt"/>
                <a:cs typeface="+mn-lt"/>
              </a:rPr>
              <a:t>Problems: </a:t>
            </a:r>
            <a:r>
              <a:rPr lang="en-IN" sz="2400" dirty="0"/>
              <a:t>Data Management Issues</a:t>
            </a:r>
            <a:r>
              <a:rPr lang="en-US" sz="2200" dirty="0">
                <a:ea typeface="+mn-lt"/>
                <a:cs typeface="+mn-lt"/>
              </a:rPr>
              <a:t>,</a:t>
            </a:r>
            <a:r>
              <a:rPr lang="en-IN" sz="2400" dirty="0"/>
              <a:t> Scalability Constraint</a:t>
            </a:r>
            <a:r>
              <a:rPr lang="en-US" sz="2200" dirty="0">
                <a:ea typeface="+mn-lt"/>
                <a:cs typeface="+mn-lt"/>
              </a:rPr>
              <a:t>,</a:t>
            </a:r>
            <a:r>
              <a:rPr lang="en-IN" sz="2400" dirty="0"/>
              <a:t> Security Vulnerabilities</a:t>
            </a:r>
            <a:r>
              <a:rPr lang="en-US" sz="2200" dirty="0">
                <a:ea typeface="+mn-lt"/>
                <a:cs typeface="+mn-lt"/>
              </a:rPr>
              <a:t>.</a:t>
            </a:r>
          </a:p>
          <a:p>
            <a:pPr marL="285750" indent="-285750">
              <a:lnSpc>
                <a:spcPct val="150000"/>
              </a:lnSpc>
              <a:buFont typeface="Arial"/>
              <a:buChar char="•"/>
            </a:pPr>
            <a:r>
              <a:rPr lang="en-US" sz="2200" dirty="0">
                <a:ea typeface="+mn-lt"/>
                <a:cs typeface="+mn-lt"/>
              </a:rPr>
              <a:t>Solutions</a:t>
            </a:r>
            <a:r>
              <a:rPr lang="en-US" sz="2400" dirty="0">
                <a:ea typeface="+mn-lt"/>
                <a:cs typeface="+mn-lt"/>
              </a:rPr>
              <a:t>: </a:t>
            </a:r>
            <a:r>
              <a:rPr lang="en-IN" sz="2400" dirty="0"/>
              <a:t>Enhance Data Management, Increase Scalability, Strengthen Security, Upgrade Technology</a:t>
            </a:r>
            <a:r>
              <a:rPr lang="en-US" sz="2200" dirty="0">
                <a:ea typeface="+mn-lt"/>
                <a:cs typeface="+mn-lt"/>
              </a:rPr>
              <a:t>.</a:t>
            </a:r>
            <a:endParaRPr lang="en-US" sz="2200" dirty="0"/>
          </a:p>
          <a:p>
            <a:pPr>
              <a:lnSpc>
                <a:spcPct val="150000"/>
              </a:lnSpc>
            </a:pPr>
            <a:endParaRPr lang="en-US" sz="2600" b="1" dirty="0"/>
          </a:p>
        </p:txBody>
      </p:sp>
      <p:sp>
        <p:nvSpPr>
          <p:cNvPr id="6" name="Slide Number Placeholder 5">
            <a:extLst>
              <a:ext uri="{FF2B5EF4-FFF2-40B4-BE49-F238E27FC236}">
                <a16:creationId xmlns:a16="http://schemas.microsoft.com/office/drawing/2014/main" id="{B47B5880-2EC1-F190-CA07-64ACF4E1FEF3}"/>
              </a:ext>
            </a:extLst>
          </p:cNvPr>
          <p:cNvSpPr>
            <a:spLocks noGrp="1"/>
          </p:cNvSpPr>
          <p:nvPr>
            <p:ph type="sldNum" sz="quarter" idx="12"/>
          </p:nvPr>
        </p:nvSpPr>
        <p:spPr/>
        <p:txBody>
          <a:bodyPr/>
          <a:lstStyle/>
          <a:p>
            <a:fld id="{330EA680-D336-4FF7-8B7A-9848BB0A1C32}" type="slidenum">
              <a:rPr lang="en-US" smtClean="0"/>
              <a:pPr/>
              <a:t>11</a:t>
            </a:fld>
            <a:endParaRPr lang="en-US"/>
          </a:p>
        </p:txBody>
      </p:sp>
    </p:spTree>
    <p:extLst>
      <p:ext uri="{BB962C8B-B14F-4D97-AF65-F5344CB8AC3E}">
        <p14:creationId xmlns:p14="http://schemas.microsoft.com/office/powerpoint/2010/main" val="1109794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72716" y="192506"/>
            <a:ext cx="11646568" cy="5262979"/>
          </a:xfrm>
          <a:prstGeom prst="rect">
            <a:avLst/>
          </a:prstGeom>
        </p:spPr>
        <p:txBody>
          <a:bodyPr wrap="square">
            <a:spAutoFit/>
          </a:bodyPr>
          <a:lstStyle/>
          <a:p>
            <a:r>
              <a:rPr lang="en-US" sz="2400" b="1" dirty="0"/>
              <a:t>Proposed System:</a:t>
            </a:r>
          </a:p>
          <a:p>
            <a:endParaRPr lang="en-US" sz="2400" dirty="0"/>
          </a:p>
          <a:p>
            <a:r>
              <a:rPr lang="en-US" sz="2400" b="1" dirty="0"/>
              <a:t>Modules &amp; Features in the New System:</a:t>
            </a:r>
          </a:p>
          <a:p>
            <a:endParaRPr lang="en-US" sz="2400" dirty="0"/>
          </a:p>
          <a:p>
            <a:pPr lvl="1"/>
            <a:r>
              <a:rPr lang="en-US" sz="2400" b="1" dirty="0"/>
              <a:t>Product Management:</a:t>
            </a:r>
            <a:r>
              <a:rPr lang="en-US" sz="2400" dirty="0"/>
              <a:t> Create, organize, and manage product listings.</a:t>
            </a:r>
          </a:p>
          <a:p>
            <a:pPr lvl="1"/>
            <a:endParaRPr lang="en-US" sz="2400" dirty="0"/>
          </a:p>
          <a:p>
            <a:pPr lvl="1"/>
            <a:r>
              <a:rPr lang="en-US" sz="2400" b="1" dirty="0"/>
              <a:t>Order Processing:</a:t>
            </a:r>
            <a:r>
              <a:rPr lang="en-US" sz="2400" dirty="0"/>
              <a:t> Handle order placements, payments, and tracking</a:t>
            </a:r>
          </a:p>
          <a:p>
            <a:pPr lvl="1"/>
            <a:endParaRPr lang="en-US" sz="2400" dirty="0"/>
          </a:p>
          <a:p>
            <a:pPr lvl="1"/>
            <a:r>
              <a:rPr lang="en-US" sz="2400" b="1" dirty="0"/>
              <a:t>Content Management:</a:t>
            </a:r>
            <a:r>
              <a:rPr lang="en-US" sz="2400" dirty="0"/>
              <a:t> Manage product descriptions, images, and promotional content.</a:t>
            </a:r>
          </a:p>
          <a:p>
            <a:pPr lvl="1"/>
            <a:endParaRPr lang="en-US" sz="2400" dirty="0"/>
          </a:p>
          <a:p>
            <a:pPr lvl="1"/>
            <a:r>
              <a:rPr lang="en-US" sz="2400" b="1" dirty="0"/>
              <a:t>Customer Support:</a:t>
            </a:r>
            <a:r>
              <a:rPr lang="en-US" sz="2400" dirty="0"/>
              <a:t> Provide assistance through chat, email, and ticketing systems.</a:t>
            </a:r>
          </a:p>
          <a:p>
            <a:pPr lvl="1"/>
            <a:endParaRPr lang="en-US" sz="2400" dirty="0"/>
          </a:p>
        </p:txBody>
      </p:sp>
      <p:sp>
        <p:nvSpPr>
          <p:cNvPr id="5" name="Slide Number Placeholder 4">
            <a:extLst>
              <a:ext uri="{FF2B5EF4-FFF2-40B4-BE49-F238E27FC236}">
                <a16:creationId xmlns:a16="http://schemas.microsoft.com/office/drawing/2014/main" id="{731AA950-1898-04EE-E6B5-73545F03743B}"/>
              </a:ext>
            </a:extLst>
          </p:cNvPr>
          <p:cNvSpPr>
            <a:spLocks noGrp="1"/>
          </p:cNvSpPr>
          <p:nvPr>
            <p:ph type="sldNum" sz="quarter" idx="12"/>
          </p:nvPr>
        </p:nvSpPr>
        <p:spPr/>
        <p:txBody>
          <a:bodyPr/>
          <a:lstStyle/>
          <a:p>
            <a:fld id="{330EA680-D336-4FF7-8B7A-9848BB0A1C32}"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56674" y="304800"/>
            <a:ext cx="11935326" cy="3416320"/>
          </a:xfrm>
          <a:prstGeom prst="rect">
            <a:avLst/>
          </a:prstGeom>
        </p:spPr>
        <p:txBody>
          <a:bodyPr wrap="square">
            <a:spAutoFit/>
          </a:bodyPr>
          <a:lstStyle/>
          <a:p>
            <a:endParaRPr lang="en-US" sz="2400" b="1" dirty="0"/>
          </a:p>
          <a:p>
            <a:r>
              <a:rPr lang="en-US" sz="2400" b="1" dirty="0"/>
              <a:t>User Characteristics:</a:t>
            </a:r>
          </a:p>
          <a:p>
            <a:endParaRPr lang="en-US" sz="2400" dirty="0"/>
          </a:p>
          <a:p>
            <a:pPr lvl="1"/>
            <a:r>
              <a:rPr lang="en-US" sz="2400" b="1" dirty="0"/>
              <a:t>Administrators:</a:t>
            </a:r>
            <a:r>
              <a:rPr lang="en-US" sz="2400" dirty="0"/>
              <a:t> Manage system settings, oversee user accounts, and handle system configurations.</a:t>
            </a:r>
          </a:p>
          <a:p>
            <a:pPr lvl="1"/>
            <a:endParaRPr lang="en-US" sz="2400" dirty="0"/>
          </a:p>
          <a:p>
            <a:pPr lvl="1"/>
            <a:r>
              <a:rPr lang="en-US" sz="2400" b="1" dirty="0"/>
              <a:t>Sellers/Vendors:</a:t>
            </a:r>
            <a:r>
              <a:rPr lang="en-US" sz="2400" dirty="0"/>
              <a:t> List and manage products, process orders, and handle inventory.</a:t>
            </a:r>
          </a:p>
          <a:p>
            <a:pPr lvl="1"/>
            <a:endParaRPr lang="en-US" sz="2400" dirty="0"/>
          </a:p>
          <a:p>
            <a:pPr lvl="1"/>
            <a:r>
              <a:rPr lang="en-US" sz="2400" b="1" dirty="0"/>
              <a:t>Customers:</a:t>
            </a:r>
            <a:r>
              <a:rPr lang="en-US" sz="2400" dirty="0"/>
              <a:t> Browse products, place orders, view order history, and leave reviews.</a:t>
            </a:r>
          </a:p>
        </p:txBody>
      </p:sp>
      <p:sp>
        <p:nvSpPr>
          <p:cNvPr id="5" name="Slide Number Placeholder 4">
            <a:extLst>
              <a:ext uri="{FF2B5EF4-FFF2-40B4-BE49-F238E27FC236}">
                <a16:creationId xmlns:a16="http://schemas.microsoft.com/office/drawing/2014/main" id="{E7875B9D-6678-2DCB-147B-AED52E8F8E61}"/>
              </a:ext>
            </a:extLst>
          </p:cNvPr>
          <p:cNvSpPr>
            <a:spLocks noGrp="1"/>
          </p:cNvSpPr>
          <p:nvPr>
            <p:ph type="sldNum" sz="quarter" idx="12"/>
          </p:nvPr>
        </p:nvSpPr>
        <p:spPr/>
        <p:txBody>
          <a:bodyPr/>
          <a:lstStyle/>
          <a:p>
            <a:fld id="{330EA680-D336-4FF7-8B7A-9848BB0A1C32}"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8DBDE7-68E3-FB5A-8A0B-8E0F30006C32}"/>
              </a:ext>
            </a:extLst>
          </p:cNvPr>
          <p:cNvSpPr txBox="1"/>
          <p:nvPr/>
        </p:nvSpPr>
        <p:spPr>
          <a:xfrm>
            <a:off x="351860" y="384848"/>
            <a:ext cx="10432680" cy="4924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dirty="0">
                <a:latin typeface="Times New Roman"/>
                <a:cs typeface="Times New Roman"/>
              </a:rPr>
              <a:t>Hardware &amp; Software Requirements:</a:t>
            </a:r>
            <a:endParaRPr lang="en-US" sz="2600" b="1" dirty="0"/>
          </a:p>
        </p:txBody>
      </p:sp>
      <p:sp>
        <p:nvSpPr>
          <p:cNvPr id="3" name="TextBox 2">
            <a:extLst>
              <a:ext uri="{FF2B5EF4-FFF2-40B4-BE49-F238E27FC236}">
                <a16:creationId xmlns:a16="http://schemas.microsoft.com/office/drawing/2014/main" id="{803D5DB9-D0A3-8530-65E5-D01B502515EB}"/>
              </a:ext>
            </a:extLst>
          </p:cNvPr>
          <p:cNvSpPr txBox="1"/>
          <p:nvPr/>
        </p:nvSpPr>
        <p:spPr>
          <a:xfrm>
            <a:off x="350761" y="991807"/>
            <a:ext cx="10344715" cy="31366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400" b="1" dirty="0">
                <a:latin typeface="Times New Roman"/>
                <a:ea typeface="+mn-lt"/>
                <a:cs typeface="+mn-lt"/>
              </a:rPr>
              <a:t>Hardware</a:t>
            </a:r>
            <a:r>
              <a:rPr lang="en-US" sz="2400" b="1" dirty="0">
                <a:ea typeface="+mn-lt"/>
                <a:cs typeface="+mn-lt"/>
              </a:rPr>
              <a:t>:</a:t>
            </a:r>
            <a:endParaRPr lang="en-US" sz="2400" b="1" dirty="0"/>
          </a:p>
          <a:p>
            <a:pPr marL="285750" indent="-285750">
              <a:lnSpc>
                <a:spcPct val="150000"/>
              </a:lnSpc>
              <a:buFont typeface="Arial"/>
              <a:buChar char="•"/>
            </a:pPr>
            <a:r>
              <a:rPr lang="en-US" sz="2200" dirty="0">
                <a:ea typeface="+mn-lt"/>
                <a:cs typeface="+mn-lt"/>
              </a:rPr>
              <a:t>Processor: Intel Core i3 or equivalent</a:t>
            </a:r>
          </a:p>
          <a:p>
            <a:pPr marL="285750" indent="-285750">
              <a:lnSpc>
                <a:spcPct val="150000"/>
              </a:lnSpc>
              <a:buFont typeface="Arial"/>
              <a:buChar char="•"/>
            </a:pPr>
            <a:r>
              <a:rPr lang="en-US" sz="2200" dirty="0">
                <a:ea typeface="+mn-lt"/>
                <a:cs typeface="+mn-lt"/>
              </a:rPr>
              <a:t>Memory: 4GB RAM</a:t>
            </a:r>
          </a:p>
          <a:p>
            <a:pPr marL="285750" indent="-285750">
              <a:lnSpc>
                <a:spcPct val="150000"/>
              </a:lnSpc>
              <a:buFont typeface="Arial"/>
              <a:buChar char="•"/>
            </a:pPr>
            <a:r>
              <a:rPr lang="en-US" sz="2200" dirty="0">
                <a:ea typeface="+mn-lt"/>
                <a:cs typeface="+mn-lt"/>
              </a:rPr>
              <a:t>Storage: 128GB SSD or higher</a:t>
            </a:r>
          </a:p>
          <a:p>
            <a:pPr marL="285750" indent="-285750">
              <a:lnSpc>
                <a:spcPct val="150000"/>
              </a:lnSpc>
              <a:buFont typeface="Arial"/>
              <a:buChar char="•"/>
            </a:pPr>
            <a:r>
              <a:rPr lang="en-US" sz="2200" dirty="0">
                <a:ea typeface="+mn-lt"/>
                <a:cs typeface="+mn-lt"/>
              </a:rPr>
              <a:t>Internet Connectivity</a:t>
            </a:r>
          </a:p>
          <a:p>
            <a:pPr algn="l">
              <a:lnSpc>
                <a:spcPct val="150000"/>
              </a:lnSpc>
            </a:pPr>
            <a:endParaRPr lang="en-US" sz="2200" dirty="0"/>
          </a:p>
        </p:txBody>
      </p:sp>
      <p:sp>
        <p:nvSpPr>
          <p:cNvPr id="4" name="TextBox 3">
            <a:extLst>
              <a:ext uri="{FF2B5EF4-FFF2-40B4-BE49-F238E27FC236}">
                <a16:creationId xmlns:a16="http://schemas.microsoft.com/office/drawing/2014/main" id="{447C02FC-8FC8-CB96-8A59-FEC0B5EB95A2}"/>
              </a:ext>
            </a:extLst>
          </p:cNvPr>
          <p:cNvSpPr txBox="1"/>
          <p:nvPr/>
        </p:nvSpPr>
        <p:spPr>
          <a:xfrm>
            <a:off x="299081" y="3852878"/>
            <a:ext cx="9711365" cy="10592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endParaRPr lang="en-US" sz="2200" dirty="0"/>
          </a:p>
          <a:p>
            <a:pPr algn="l">
              <a:lnSpc>
                <a:spcPct val="150000"/>
              </a:lnSpc>
            </a:pPr>
            <a:endParaRPr lang="en-US" sz="2200" dirty="0"/>
          </a:p>
        </p:txBody>
      </p:sp>
      <p:sp>
        <p:nvSpPr>
          <p:cNvPr id="6" name="TextBox 5">
            <a:extLst>
              <a:ext uri="{FF2B5EF4-FFF2-40B4-BE49-F238E27FC236}">
                <a16:creationId xmlns:a16="http://schemas.microsoft.com/office/drawing/2014/main" id="{C000572E-3551-E448-F07B-81C830785E16}"/>
              </a:ext>
            </a:extLst>
          </p:cNvPr>
          <p:cNvSpPr txBox="1"/>
          <p:nvPr/>
        </p:nvSpPr>
        <p:spPr>
          <a:xfrm>
            <a:off x="355159" y="3605475"/>
            <a:ext cx="11261761" cy="24718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dirty="0">
                <a:latin typeface="Times New Roman"/>
                <a:ea typeface="+mn-lt"/>
                <a:cs typeface="+mn-lt"/>
              </a:rPr>
              <a:t>Software</a:t>
            </a:r>
            <a:r>
              <a:rPr lang="en-US" sz="2600" b="1" dirty="0">
                <a:ea typeface="+mn-lt"/>
                <a:cs typeface="+mn-lt"/>
              </a:rPr>
              <a:t>:</a:t>
            </a:r>
          </a:p>
          <a:p>
            <a:pPr marL="285750" indent="-285750">
              <a:lnSpc>
                <a:spcPct val="150000"/>
              </a:lnSpc>
              <a:buFont typeface="Arial,Sans-Serif"/>
              <a:buChar char="•"/>
            </a:pPr>
            <a:r>
              <a:rPr lang="en-US" sz="2200" dirty="0">
                <a:latin typeface="Arial"/>
                <a:cs typeface="Arial"/>
              </a:rPr>
              <a:t>Operating System: Windows 10 or macOS Catalina</a:t>
            </a:r>
            <a:endParaRPr lang="en-US" sz="2200" dirty="0">
              <a:solidFill>
                <a:srgbClr val="808080"/>
              </a:solidFill>
              <a:latin typeface="Arial"/>
              <a:cs typeface="Arial"/>
            </a:endParaRPr>
          </a:p>
          <a:p>
            <a:pPr marL="285750" indent="-285750">
              <a:lnSpc>
                <a:spcPct val="150000"/>
              </a:lnSpc>
              <a:buFont typeface="Arial,Sans-Serif"/>
              <a:buChar char="•"/>
            </a:pPr>
            <a:r>
              <a:rPr lang="en-US" sz="2200" dirty="0">
                <a:latin typeface="Arial"/>
                <a:cs typeface="Arial"/>
              </a:rPr>
              <a:t>Web Browser: Google Chrome, Mozilla Firefox, Safari</a:t>
            </a:r>
            <a:endParaRPr lang="en-US" sz="2200" dirty="0">
              <a:solidFill>
                <a:srgbClr val="808080"/>
              </a:solidFill>
              <a:latin typeface="Arial"/>
              <a:cs typeface="Arial"/>
            </a:endParaRPr>
          </a:p>
          <a:p>
            <a:pPr marL="285750" indent="-285750">
              <a:lnSpc>
                <a:spcPct val="150000"/>
              </a:lnSpc>
              <a:buFont typeface="Arial,Sans-Serif"/>
              <a:buChar char="•"/>
            </a:pPr>
            <a:r>
              <a:rPr lang="en-US" sz="2200" dirty="0">
                <a:latin typeface="Arial"/>
                <a:cs typeface="Arial"/>
              </a:rPr>
              <a:t>Database: </a:t>
            </a:r>
            <a:r>
              <a:rPr lang="en-US" sz="2200" dirty="0">
                <a:solidFill>
                  <a:srgbClr val="0D0D0D"/>
                </a:solidFill>
                <a:ea typeface="+mn-lt"/>
                <a:cs typeface="+mn-lt"/>
              </a:rPr>
              <a:t>MongoDB</a:t>
            </a:r>
            <a:endParaRPr lang="en-US" sz="2200" dirty="0">
              <a:solidFill>
                <a:srgbClr val="808080"/>
              </a:solidFill>
              <a:ea typeface="+mn-lt"/>
              <a:cs typeface="+mn-lt"/>
            </a:endParaRPr>
          </a:p>
          <a:p>
            <a:pPr marL="285750" indent="-285750">
              <a:lnSpc>
                <a:spcPct val="150000"/>
              </a:lnSpc>
              <a:buFont typeface="Arial,Sans-Serif"/>
              <a:buChar char="•"/>
            </a:pPr>
            <a:r>
              <a:rPr lang="en-US" sz="2200" dirty="0">
                <a:latin typeface="Arial"/>
                <a:cs typeface="Arial"/>
              </a:rPr>
              <a:t>Development Framework: </a:t>
            </a:r>
            <a:r>
              <a:rPr lang="en-US" sz="2200" dirty="0">
                <a:solidFill>
                  <a:srgbClr val="0D0D0D"/>
                </a:solidFill>
                <a:ea typeface="+mn-lt"/>
                <a:cs typeface="+mn-lt"/>
              </a:rPr>
              <a:t>React.js</a:t>
            </a:r>
            <a:endParaRPr lang="en-US" dirty="0">
              <a:solidFill>
                <a:srgbClr val="0D0D0D"/>
              </a:solidFill>
              <a:ea typeface="+mn-lt"/>
              <a:cs typeface="+mn-lt"/>
            </a:endParaRPr>
          </a:p>
        </p:txBody>
      </p:sp>
      <p:sp>
        <p:nvSpPr>
          <p:cNvPr id="8" name="Slide Number Placeholder 7">
            <a:extLst>
              <a:ext uri="{FF2B5EF4-FFF2-40B4-BE49-F238E27FC236}">
                <a16:creationId xmlns:a16="http://schemas.microsoft.com/office/drawing/2014/main" id="{69C8DAD9-0460-1AC8-5CF0-FF40F7E5A875}"/>
              </a:ext>
            </a:extLst>
          </p:cNvPr>
          <p:cNvSpPr>
            <a:spLocks noGrp="1"/>
          </p:cNvSpPr>
          <p:nvPr>
            <p:ph type="sldNum" sz="quarter" idx="12"/>
          </p:nvPr>
        </p:nvSpPr>
        <p:spPr/>
        <p:txBody>
          <a:bodyPr/>
          <a:lstStyle/>
          <a:p>
            <a:fld id="{330EA680-D336-4FF7-8B7A-9848BB0A1C32}" type="slidenum">
              <a:rPr lang="en-US" smtClean="0"/>
              <a:pPr/>
              <a:t>14</a:t>
            </a:fld>
            <a:endParaRPr lang="en-US"/>
          </a:p>
        </p:txBody>
      </p:sp>
    </p:spTree>
    <p:extLst>
      <p:ext uri="{BB962C8B-B14F-4D97-AF65-F5344CB8AC3E}">
        <p14:creationId xmlns:p14="http://schemas.microsoft.com/office/powerpoint/2010/main" val="30442172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451FB3AA-4C20-5422-A189-D38643C4BBD8}"/>
              </a:ext>
            </a:extLst>
          </p:cNvPr>
          <p:cNvSpPr>
            <a:spLocks noGrp="1"/>
          </p:cNvSpPr>
          <p:nvPr>
            <p:ph type="title"/>
          </p:nvPr>
        </p:nvSpPr>
        <p:spPr>
          <a:xfrm>
            <a:off x="297585" y="337416"/>
            <a:ext cx="10515600" cy="603063"/>
          </a:xfrm>
        </p:spPr>
        <p:txBody>
          <a:bodyPr>
            <a:normAutofit/>
          </a:bodyPr>
          <a:lstStyle/>
          <a:p>
            <a:r>
              <a:rPr lang="en-US" sz="3000" b="1" dirty="0"/>
              <a:t>Assumptions</a:t>
            </a:r>
            <a:endParaRPr lang="en-IN" sz="3000" b="1" dirty="0"/>
          </a:p>
        </p:txBody>
      </p:sp>
      <p:sp>
        <p:nvSpPr>
          <p:cNvPr id="2" name="Slide Number Placeholder 1">
            <a:extLst>
              <a:ext uri="{FF2B5EF4-FFF2-40B4-BE49-F238E27FC236}">
                <a16:creationId xmlns:a16="http://schemas.microsoft.com/office/drawing/2014/main" id="{C6C77AEF-F309-229B-EF52-EAAB708E9E8E}"/>
              </a:ext>
            </a:extLst>
          </p:cNvPr>
          <p:cNvSpPr>
            <a:spLocks noGrp="1"/>
          </p:cNvSpPr>
          <p:nvPr>
            <p:ph type="sldNum" sz="quarter" idx="12"/>
          </p:nvPr>
        </p:nvSpPr>
        <p:spPr/>
        <p:txBody>
          <a:bodyPr/>
          <a:lstStyle/>
          <a:p>
            <a:fld id="{330EA680-D336-4FF7-8B7A-9848BB0A1C32}" type="slidenum">
              <a:rPr lang="en-US" smtClean="0"/>
              <a:pPr/>
              <a:t>15</a:t>
            </a:fld>
            <a:endParaRPr lang="en-US"/>
          </a:p>
        </p:txBody>
      </p:sp>
      <p:sp>
        <p:nvSpPr>
          <p:cNvPr id="13" name="Rectangle 1">
            <a:extLst>
              <a:ext uri="{FF2B5EF4-FFF2-40B4-BE49-F238E27FC236}">
                <a16:creationId xmlns:a16="http://schemas.microsoft.com/office/drawing/2014/main" id="{AC0D5C7B-10C4-1783-E19A-BC9FCB5476DC}"/>
              </a:ext>
            </a:extLst>
          </p:cNvPr>
          <p:cNvSpPr>
            <a:spLocks noGrp="1" noChangeArrowheads="1"/>
          </p:cNvSpPr>
          <p:nvPr>
            <p:ph idx="1"/>
          </p:nvPr>
        </p:nvSpPr>
        <p:spPr bwMode="auto">
          <a:xfrm>
            <a:off x="297585" y="925002"/>
            <a:ext cx="11475257"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Customer Adoption:</a:t>
            </a:r>
            <a:r>
              <a:rPr kumimoji="0" lang="en-US" altLang="en-US" sz="2000" b="0" i="0" u="none" strike="noStrike" cap="none" normalizeH="0" baseline="0" dirty="0">
                <a:ln>
                  <a:noFill/>
                </a:ln>
                <a:solidFill>
                  <a:schemeClr val="tx1"/>
                </a:solidFill>
                <a:effectLst/>
                <a:latin typeface="Arial" panose="020B0604020202020204" pitchFamily="34" charset="0"/>
              </a:rPr>
              <a:t> It is assumed that customers will be willing to engage with and adopt new</a:t>
            </a:r>
          </a:p>
          <a:p>
            <a:pPr marL="0" marR="0" lvl="0" indent="0" algn="l" defTabSz="914400" rtl="0" eaLnBrk="0" fontAlgn="base" latinLnBrk="0" hangingPunct="0">
              <a:lnSpc>
                <a:spcPct val="100000"/>
              </a:lnSpc>
              <a:spcBef>
                <a:spcPct val="0"/>
              </a:spcBef>
              <a:spcAft>
                <a:spcPct val="0"/>
              </a:spcAft>
              <a:buClrTx/>
              <a:buSzTx/>
              <a:buNone/>
              <a:tabLst/>
            </a:pPr>
            <a:r>
              <a:rPr lang="en-US" altLang="en-US" sz="2000" dirty="0">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      digital tools like AR and VR for furniture shopping.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Technology Integration:</a:t>
            </a:r>
            <a:r>
              <a:rPr kumimoji="0" lang="en-US" altLang="en-US" sz="2000" b="0" i="0" u="none" strike="noStrike" cap="none" normalizeH="0" baseline="0" dirty="0">
                <a:ln>
                  <a:noFill/>
                </a:ln>
                <a:solidFill>
                  <a:schemeClr val="tx1"/>
                </a:solidFill>
                <a:effectLst/>
                <a:latin typeface="Arial" panose="020B0604020202020204" pitchFamily="34" charset="0"/>
              </a:rPr>
              <a:t> The necessary technologies (AR, VR, AI) will integrate smoothly into the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			existing</a:t>
            </a:r>
            <a:r>
              <a:rPr lang="en-US" altLang="en-US" sz="2000" dirty="0">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 systems without significant delays.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Sustainability Demand:</a:t>
            </a:r>
            <a:r>
              <a:rPr kumimoji="0" lang="en-US" altLang="en-US" sz="2000" b="0" i="0" u="none" strike="noStrike" cap="none" normalizeH="0" baseline="0" dirty="0">
                <a:ln>
                  <a:noFill/>
                </a:ln>
                <a:solidFill>
                  <a:schemeClr val="tx1"/>
                </a:solidFill>
                <a:effectLst/>
                <a:latin typeface="Arial" panose="020B0604020202020204" pitchFamily="34" charset="0"/>
              </a:rPr>
              <a:t> Customers will prioritize and value eco-friendly and sustainable furniture </a:t>
            </a:r>
          </a:p>
          <a:p>
            <a:pPr marL="0" marR="0" lvl="0" indent="0" algn="l" defTabSz="914400" rtl="0" eaLnBrk="0" fontAlgn="base" latinLnBrk="0" hangingPunct="0">
              <a:lnSpc>
                <a:spcPct val="100000"/>
              </a:lnSpc>
              <a:spcBef>
                <a:spcPct val="0"/>
              </a:spcBef>
              <a:spcAft>
                <a:spcPct val="0"/>
              </a:spcAft>
              <a:buClrTx/>
              <a:buSzTx/>
              <a:buNone/>
              <a:tabLst/>
            </a:pPr>
            <a:r>
              <a:rPr lang="en-US" altLang="en-US" sz="2000" dirty="0">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options, driving demand.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Partnership Support:</a:t>
            </a:r>
            <a:r>
              <a:rPr kumimoji="0" lang="en-US" altLang="en-US" sz="2000" b="0" i="0" u="none" strike="noStrike" cap="none" normalizeH="0" baseline="0" dirty="0">
                <a:ln>
                  <a:noFill/>
                </a:ln>
                <a:solidFill>
                  <a:schemeClr val="tx1"/>
                </a:solidFill>
                <a:effectLst/>
                <a:latin typeface="Arial" panose="020B0604020202020204" pitchFamily="34" charset="0"/>
              </a:rPr>
              <a:t> Strategic partners (designers, tech providers, manufacturers) will actively</a:t>
            </a:r>
          </a:p>
          <a:p>
            <a:pPr marL="0" marR="0" lvl="0" indent="0" algn="l" defTabSz="914400" rtl="0" eaLnBrk="0" fontAlgn="base" latinLnBrk="0" hangingPunct="0">
              <a:lnSpc>
                <a:spcPct val="100000"/>
              </a:lnSpc>
              <a:spcBef>
                <a:spcPct val="0"/>
              </a:spcBef>
              <a:spcAft>
                <a:spcPct val="0"/>
              </a:spcAft>
              <a:buClrTx/>
              <a:buSzTx/>
              <a:buNone/>
              <a:tabLst/>
            </a:pPr>
            <a:r>
              <a:rPr lang="en-US" altLang="en-US" sz="2000" dirty="0">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 collaborate and support project goals throughout the development. </a:t>
            </a:r>
          </a:p>
        </p:txBody>
      </p:sp>
    </p:spTree>
    <p:extLst>
      <p:ext uri="{BB962C8B-B14F-4D97-AF65-F5344CB8AC3E}">
        <p14:creationId xmlns:p14="http://schemas.microsoft.com/office/powerpoint/2010/main" val="2063947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89F5-E747-B837-9604-D2C94748C78B}"/>
              </a:ext>
            </a:extLst>
          </p:cNvPr>
          <p:cNvSpPr>
            <a:spLocks noGrp="1"/>
          </p:cNvSpPr>
          <p:nvPr>
            <p:ph type="title"/>
          </p:nvPr>
        </p:nvSpPr>
        <p:spPr>
          <a:xfrm>
            <a:off x="605118" y="-265579"/>
            <a:ext cx="10515600" cy="1690688"/>
          </a:xfrm>
        </p:spPr>
        <p:txBody>
          <a:bodyPr>
            <a:normAutofit/>
          </a:bodyPr>
          <a:lstStyle/>
          <a:p>
            <a:r>
              <a:rPr lang="en-US" sz="2800" b="1" dirty="0"/>
              <a:t>Dependencies</a:t>
            </a:r>
            <a:endParaRPr lang="en-IN" sz="2800" b="1" dirty="0"/>
          </a:p>
        </p:txBody>
      </p:sp>
      <p:sp>
        <p:nvSpPr>
          <p:cNvPr id="3" name="Content Placeholder 2">
            <a:extLst>
              <a:ext uri="{FF2B5EF4-FFF2-40B4-BE49-F238E27FC236}">
                <a16:creationId xmlns:a16="http://schemas.microsoft.com/office/drawing/2014/main" id="{C15AE1EA-5964-5392-E9EF-FE9D125E6C58}"/>
              </a:ext>
            </a:extLst>
          </p:cNvPr>
          <p:cNvSpPr>
            <a:spLocks noGrp="1"/>
          </p:cNvSpPr>
          <p:nvPr>
            <p:ph idx="1"/>
          </p:nvPr>
        </p:nvSpPr>
        <p:spPr>
          <a:xfrm>
            <a:off x="515471" y="1081552"/>
            <a:ext cx="10515600" cy="5274797"/>
          </a:xfrm>
        </p:spPr>
        <p:txBody>
          <a:bodyPr>
            <a:normAutofit/>
          </a:bodyPr>
          <a:lstStyle/>
          <a:p>
            <a:r>
              <a:rPr lang="en-US" sz="2000" b="1" dirty="0"/>
              <a:t>Technology Providers:</a:t>
            </a:r>
            <a:r>
              <a:rPr lang="en-US" sz="2000" dirty="0"/>
              <a:t> The project depends on timely delivery and integration of AR, VR, and AI technologies from external vendors.</a:t>
            </a:r>
          </a:p>
          <a:p>
            <a:endParaRPr lang="en-US" sz="2000" dirty="0"/>
          </a:p>
          <a:p>
            <a:r>
              <a:rPr lang="en-US" sz="2000" b="1" dirty="0"/>
              <a:t>Supply Chain Partners:</a:t>
            </a:r>
            <a:r>
              <a:rPr lang="en-US" sz="2000" dirty="0"/>
              <a:t> Dependence on sustainable material suppliers and manufacturers for eco-friendly furniture production.</a:t>
            </a:r>
          </a:p>
          <a:p>
            <a:endParaRPr lang="en-US" sz="2000" dirty="0"/>
          </a:p>
          <a:p>
            <a:r>
              <a:rPr lang="en-US" sz="2000" b="1" dirty="0"/>
              <a:t>Customer Engagement:</a:t>
            </a:r>
            <a:r>
              <a:rPr lang="en-US" sz="2000" dirty="0"/>
              <a:t> The success of interactive tools like virtual showrooms relies on customer willingness to use and engage with these features.</a:t>
            </a:r>
          </a:p>
          <a:p>
            <a:endParaRPr lang="en-US" sz="2000" dirty="0"/>
          </a:p>
          <a:p>
            <a:r>
              <a:rPr lang="en-US" sz="2000" b="1" dirty="0"/>
              <a:t>Marketing and Sales Teams:</a:t>
            </a:r>
            <a:r>
              <a:rPr lang="en-US" sz="2000" dirty="0"/>
              <a:t> The effectiveness of digital marketing strategies and staff training is critical for expanding market reach and ensuring smooth operations.</a:t>
            </a:r>
            <a:endParaRPr lang="en-IN" sz="2000" dirty="0"/>
          </a:p>
        </p:txBody>
      </p:sp>
      <p:sp>
        <p:nvSpPr>
          <p:cNvPr id="4" name="Slide Number Placeholder 3">
            <a:extLst>
              <a:ext uri="{FF2B5EF4-FFF2-40B4-BE49-F238E27FC236}">
                <a16:creationId xmlns:a16="http://schemas.microsoft.com/office/drawing/2014/main" id="{098D56F8-5000-3477-8935-C4AA52D22FC2}"/>
              </a:ext>
            </a:extLst>
          </p:cNvPr>
          <p:cNvSpPr>
            <a:spLocks noGrp="1"/>
          </p:cNvSpPr>
          <p:nvPr>
            <p:ph type="sldNum" sz="quarter" idx="12"/>
          </p:nvPr>
        </p:nvSpPr>
        <p:spPr/>
        <p:txBody>
          <a:bodyPr/>
          <a:lstStyle/>
          <a:p>
            <a:fld id="{330EA680-D336-4FF7-8B7A-9848BB0A1C32}" type="slidenum">
              <a:rPr lang="en-US" smtClean="0"/>
              <a:pPr/>
              <a:t>16</a:t>
            </a:fld>
            <a:endParaRPr lang="en-US"/>
          </a:p>
        </p:txBody>
      </p:sp>
    </p:spTree>
    <p:extLst>
      <p:ext uri="{BB962C8B-B14F-4D97-AF65-F5344CB8AC3E}">
        <p14:creationId xmlns:p14="http://schemas.microsoft.com/office/powerpoint/2010/main" val="2330185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B0DCAA-4310-7FF1-D3BF-9D540D4D26BB}"/>
              </a:ext>
            </a:extLst>
          </p:cNvPr>
          <p:cNvSpPr txBox="1"/>
          <p:nvPr/>
        </p:nvSpPr>
        <p:spPr>
          <a:xfrm>
            <a:off x="844" y="5849"/>
            <a:ext cx="8732627" cy="20005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dirty="0">
                <a:latin typeface="Times New Roman"/>
                <a:cs typeface="Times New Roman"/>
              </a:rPr>
              <a:t>System Analysis:</a:t>
            </a:r>
            <a:endParaRPr lang="en-US" dirty="0">
              <a:latin typeface="Aptos"/>
              <a:cs typeface="Times New Roman"/>
            </a:endParaRPr>
          </a:p>
          <a:p>
            <a:endParaRPr lang="en-US" sz="4400" b="1" dirty="0">
              <a:latin typeface="Times New Roman"/>
              <a:cs typeface="Times New Roman"/>
            </a:endParaRPr>
          </a:p>
          <a:p>
            <a:br>
              <a:rPr lang="en-US" dirty="0"/>
            </a:br>
            <a:endParaRPr lang="en-US" dirty="0"/>
          </a:p>
        </p:txBody>
      </p:sp>
      <p:sp>
        <p:nvSpPr>
          <p:cNvPr id="4" name="TextBox 3">
            <a:extLst>
              <a:ext uri="{FF2B5EF4-FFF2-40B4-BE49-F238E27FC236}">
                <a16:creationId xmlns:a16="http://schemas.microsoft.com/office/drawing/2014/main" id="{6BDAAE51-452D-F7BB-59D8-891BCF3F997D}"/>
              </a:ext>
            </a:extLst>
          </p:cNvPr>
          <p:cNvSpPr txBox="1"/>
          <p:nvPr/>
        </p:nvSpPr>
        <p:spPr>
          <a:xfrm>
            <a:off x="683110" y="770710"/>
            <a:ext cx="11047336"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400" b="1" dirty="0"/>
          </a:p>
          <a:p>
            <a:r>
              <a:rPr lang="en-US" sz="2400" b="1" dirty="0"/>
              <a:t>Technical Feasibility:</a:t>
            </a:r>
            <a:endParaRPr lang="en-US" sz="2400" dirty="0"/>
          </a:p>
          <a:p>
            <a:pPr lvl="1"/>
            <a:r>
              <a:rPr lang="en-US" sz="2400" dirty="0"/>
              <a:t>Evaluate system requirements (hardware and software)</a:t>
            </a:r>
          </a:p>
          <a:p>
            <a:pPr lvl="1"/>
            <a:r>
              <a:rPr lang="en-US" sz="2400" dirty="0"/>
              <a:t>Address scalability (vertical and horizontal)</a:t>
            </a:r>
          </a:p>
          <a:p>
            <a:pPr lvl="1"/>
            <a:r>
              <a:rPr lang="en-US" sz="2400" dirty="0"/>
              <a:t>Integrate with payment gateways, shipping providers, and CRM systems</a:t>
            </a:r>
          </a:p>
          <a:p>
            <a:pPr lvl="1"/>
            <a:r>
              <a:rPr lang="en-US" sz="2400" dirty="0"/>
              <a:t>Implement security measures and performance optimization</a:t>
            </a:r>
          </a:p>
          <a:p>
            <a:endParaRPr lang="en-US" sz="2400" dirty="0"/>
          </a:p>
          <a:p>
            <a:r>
              <a:rPr lang="en-US" sz="2400" b="1" dirty="0"/>
              <a:t>Operational Feasibility:</a:t>
            </a:r>
            <a:endParaRPr lang="en-US" sz="2400" dirty="0"/>
          </a:p>
          <a:p>
            <a:pPr lvl="1"/>
            <a:r>
              <a:rPr lang="en-US" sz="2400" dirty="0"/>
              <a:t>Assess user acceptance and experience</a:t>
            </a:r>
          </a:p>
          <a:p>
            <a:pPr lvl="1"/>
            <a:r>
              <a:rPr lang="en-US" sz="2400" dirty="0"/>
              <a:t>Manage content effectively (product info, promotions)</a:t>
            </a:r>
          </a:p>
          <a:p>
            <a:pPr lvl="1"/>
            <a:r>
              <a:rPr lang="en-US" sz="2400" dirty="0"/>
              <a:t>Ensure maintenance and support for functionality and security</a:t>
            </a:r>
          </a:p>
          <a:p>
            <a:endParaRPr lang="en-US" sz="2400" dirty="0"/>
          </a:p>
          <a:p>
            <a:r>
              <a:rPr lang="en-US" sz="2400" b="1" dirty="0"/>
              <a:t>Economic Feasibility:</a:t>
            </a:r>
            <a:endParaRPr lang="en-US" sz="2400" dirty="0"/>
          </a:p>
          <a:p>
            <a:pPr lvl="1"/>
            <a:r>
              <a:rPr lang="en-US" sz="2400" dirty="0"/>
              <a:t>Perform cost-benefit analysis (costs vs. benefits)</a:t>
            </a:r>
          </a:p>
          <a:p>
            <a:pPr lvl="1"/>
            <a:r>
              <a:rPr lang="en-US" sz="2400" dirty="0"/>
              <a:t>Conduct risk analysis (financial risks and impacts)</a:t>
            </a:r>
          </a:p>
        </p:txBody>
      </p:sp>
      <p:sp>
        <p:nvSpPr>
          <p:cNvPr id="7" name="TextBox 6">
            <a:extLst>
              <a:ext uri="{FF2B5EF4-FFF2-40B4-BE49-F238E27FC236}">
                <a16:creationId xmlns:a16="http://schemas.microsoft.com/office/drawing/2014/main" id="{3B6F38A3-55D2-3138-3F64-1FDC39B92176}"/>
              </a:ext>
            </a:extLst>
          </p:cNvPr>
          <p:cNvSpPr txBox="1"/>
          <p:nvPr/>
        </p:nvSpPr>
        <p:spPr>
          <a:xfrm>
            <a:off x="683954" y="3972504"/>
            <a:ext cx="509241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400" b="1" dirty="0">
              <a:latin typeface="Times New Roman"/>
              <a:cs typeface="Times New Roman"/>
            </a:endParaRPr>
          </a:p>
          <a:p>
            <a:endParaRPr lang="en-US" sz="2400" b="1" dirty="0">
              <a:latin typeface="Times New Roman"/>
              <a:cs typeface="Times New Roman"/>
            </a:endParaRPr>
          </a:p>
        </p:txBody>
      </p:sp>
      <p:sp>
        <p:nvSpPr>
          <p:cNvPr id="6" name="Slide Number Placeholder 5">
            <a:extLst>
              <a:ext uri="{FF2B5EF4-FFF2-40B4-BE49-F238E27FC236}">
                <a16:creationId xmlns:a16="http://schemas.microsoft.com/office/drawing/2014/main" id="{24631C58-D58F-48D0-D884-0D73D54E5C31}"/>
              </a:ext>
            </a:extLst>
          </p:cNvPr>
          <p:cNvSpPr>
            <a:spLocks noGrp="1"/>
          </p:cNvSpPr>
          <p:nvPr>
            <p:ph type="sldNum" sz="quarter" idx="12"/>
          </p:nvPr>
        </p:nvSpPr>
        <p:spPr/>
        <p:txBody>
          <a:bodyPr/>
          <a:lstStyle/>
          <a:p>
            <a:fld id="{330EA680-D336-4FF7-8B7A-9848BB0A1C32}" type="slidenum">
              <a:rPr lang="en-US" smtClean="0"/>
              <a:pPr/>
              <a:t>17</a:t>
            </a:fld>
            <a:endParaRPr lang="en-US"/>
          </a:p>
        </p:txBody>
      </p:sp>
    </p:spTree>
    <p:extLst>
      <p:ext uri="{BB962C8B-B14F-4D97-AF65-F5344CB8AC3E}">
        <p14:creationId xmlns:p14="http://schemas.microsoft.com/office/powerpoint/2010/main" val="37084111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15AB8E-E9C7-A52B-B444-4D2CBD424BCA}"/>
              </a:ext>
            </a:extLst>
          </p:cNvPr>
          <p:cNvSpPr txBox="1"/>
          <p:nvPr/>
        </p:nvSpPr>
        <p:spPr>
          <a:xfrm>
            <a:off x="196365" y="151627"/>
            <a:ext cx="795876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System Activity Diagram:</a:t>
            </a:r>
            <a:endParaRPr lang="en-US" sz="3000" b="1" dirty="0"/>
          </a:p>
        </p:txBody>
      </p:sp>
      <p:sp>
        <p:nvSpPr>
          <p:cNvPr id="6" name="Slide Number Placeholder 5">
            <a:extLst>
              <a:ext uri="{FF2B5EF4-FFF2-40B4-BE49-F238E27FC236}">
                <a16:creationId xmlns:a16="http://schemas.microsoft.com/office/drawing/2014/main" id="{5D471663-DA86-C744-D78C-24858A5723EE}"/>
              </a:ext>
            </a:extLst>
          </p:cNvPr>
          <p:cNvSpPr>
            <a:spLocks noGrp="1"/>
          </p:cNvSpPr>
          <p:nvPr>
            <p:ph type="sldNum" sz="quarter" idx="12"/>
          </p:nvPr>
        </p:nvSpPr>
        <p:spPr/>
        <p:txBody>
          <a:bodyPr/>
          <a:lstStyle/>
          <a:p>
            <a:fld id="{330EA680-D336-4FF7-8B7A-9848BB0A1C32}" type="slidenum">
              <a:rPr lang="en-US" smtClean="0"/>
              <a:pPr/>
              <a:t>18</a:t>
            </a:fld>
            <a:endParaRPr lang="en-US"/>
          </a:p>
        </p:txBody>
      </p:sp>
      <p:pic>
        <p:nvPicPr>
          <p:cNvPr id="7" name="Picture 6">
            <a:extLst>
              <a:ext uri="{FF2B5EF4-FFF2-40B4-BE49-F238E27FC236}">
                <a16:creationId xmlns:a16="http://schemas.microsoft.com/office/drawing/2014/main" id="{4EF5F7B2-5DC8-0792-3773-8E1344FBB7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713" y="705625"/>
            <a:ext cx="10046898" cy="6000748"/>
          </a:xfrm>
          <a:prstGeom prst="rect">
            <a:avLst/>
          </a:prstGeom>
        </p:spPr>
      </p:pic>
      <p:sp>
        <p:nvSpPr>
          <p:cNvPr id="9" name="TextBox 8">
            <a:extLst>
              <a:ext uri="{FF2B5EF4-FFF2-40B4-BE49-F238E27FC236}">
                <a16:creationId xmlns:a16="http://schemas.microsoft.com/office/drawing/2014/main" id="{E3AF88C7-6C55-33C4-E642-F9BC5148458C}"/>
              </a:ext>
            </a:extLst>
          </p:cNvPr>
          <p:cNvSpPr txBox="1"/>
          <p:nvPr/>
        </p:nvSpPr>
        <p:spPr>
          <a:xfrm>
            <a:off x="3057326" y="767752"/>
            <a:ext cx="5767496" cy="369332"/>
          </a:xfrm>
          <a:prstGeom prst="rect">
            <a:avLst/>
          </a:prstGeom>
          <a:noFill/>
        </p:spPr>
        <p:txBody>
          <a:bodyPr wrap="square" rtlCol="0">
            <a:spAutoFit/>
          </a:bodyPr>
          <a:lstStyle/>
          <a:p>
            <a:r>
              <a:rPr lang="en-IN" b="1" spc="300" dirty="0">
                <a:effectLst>
                  <a:outerShdw blurRad="38100" dist="38100" dir="2700000" algn="tl">
                    <a:srgbClr val="000000">
                      <a:alpha val="43137"/>
                    </a:srgbClr>
                  </a:outerShdw>
                </a:effectLst>
              </a:rPr>
              <a:t>NextGen Furnishings &amp; Digital Store</a:t>
            </a:r>
          </a:p>
        </p:txBody>
      </p:sp>
    </p:spTree>
    <p:extLst>
      <p:ext uri="{BB962C8B-B14F-4D97-AF65-F5344CB8AC3E}">
        <p14:creationId xmlns:p14="http://schemas.microsoft.com/office/powerpoint/2010/main" val="40226547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D41AB5-3628-2CAE-6B4C-B7958B59D27B}"/>
              </a:ext>
            </a:extLst>
          </p:cNvPr>
          <p:cNvSpPr txBox="1"/>
          <p:nvPr/>
        </p:nvSpPr>
        <p:spPr>
          <a:xfrm>
            <a:off x="285344" y="266224"/>
            <a:ext cx="9520048"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Use Case Diagram:</a:t>
            </a:r>
            <a:endParaRPr lang="en-US" sz="3000" b="1" dirty="0"/>
          </a:p>
        </p:txBody>
      </p:sp>
      <p:sp>
        <p:nvSpPr>
          <p:cNvPr id="6" name="Slide Number Placeholder 5">
            <a:extLst>
              <a:ext uri="{FF2B5EF4-FFF2-40B4-BE49-F238E27FC236}">
                <a16:creationId xmlns:a16="http://schemas.microsoft.com/office/drawing/2014/main" id="{D9209C08-1A78-E8FA-E643-A058A58F2A2E}"/>
              </a:ext>
            </a:extLst>
          </p:cNvPr>
          <p:cNvSpPr>
            <a:spLocks noGrp="1"/>
          </p:cNvSpPr>
          <p:nvPr>
            <p:ph type="sldNum" sz="quarter" idx="12"/>
          </p:nvPr>
        </p:nvSpPr>
        <p:spPr/>
        <p:txBody>
          <a:bodyPr/>
          <a:lstStyle/>
          <a:p>
            <a:fld id="{330EA680-D336-4FF7-8B7A-9848BB0A1C32}" type="slidenum">
              <a:rPr lang="en-US" smtClean="0"/>
              <a:pPr/>
              <a:t>19</a:t>
            </a:fld>
            <a:endParaRPr lang="en-US"/>
          </a:p>
        </p:txBody>
      </p:sp>
      <p:pic>
        <p:nvPicPr>
          <p:cNvPr id="5" name="Picture 4">
            <a:extLst>
              <a:ext uri="{FF2B5EF4-FFF2-40B4-BE49-F238E27FC236}">
                <a16:creationId xmlns:a16="http://schemas.microsoft.com/office/drawing/2014/main" id="{CC4DABF2-788D-F323-7DFD-DD3DE4FA82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819914"/>
            <a:ext cx="9789543" cy="6038086"/>
          </a:xfrm>
          <a:prstGeom prst="rect">
            <a:avLst/>
          </a:prstGeom>
        </p:spPr>
      </p:pic>
      <p:sp>
        <p:nvSpPr>
          <p:cNvPr id="7" name="TextBox 6">
            <a:extLst>
              <a:ext uri="{FF2B5EF4-FFF2-40B4-BE49-F238E27FC236}">
                <a16:creationId xmlns:a16="http://schemas.microsoft.com/office/drawing/2014/main" id="{CD5AE5E8-18E5-D5EF-F309-29504678D132}"/>
              </a:ext>
            </a:extLst>
          </p:cNvPr>
          <p:cNvSpPr txBox="1"/>
          <p:nvPr/>
        </p:nvSpPr>
        <p:spPr>
          <a:xfrm>
            <a:off x="4009163" y="742276"/>
            <a:ext cx="4106172" cy="369332"/>
          </a:xfrm>
          <a:prstGeom prst="rect">
            <a:avLst/>
          </a:prstGeom>
          <a:noFill/>
        </p:spPr>
        <p:txBody>
          <a:bodyPr wrap="square" rtlCol="0">
            <a:spAutoFit/>
          </a:bodyPr>
          <a:lstStyle/>
          <a:p>
            <a:r>
              <a:rPr lang="en-US" dirty="0"/>
              <a:t>NextGen Furnishing &amp; Digital Store</a:t>
            </a:r>
            <a:endParaRPr lang="en-IN" dirty="0"/>
          </a:p>
        </p:txBody>
      </p:sp>
    </p:spTree>
    <p:extLst>
      <p:ext uri="{BB962C8B-B14F-4D97-AF65-F5344CB8AC3E}">
        <p14:creationId xmlns:p14="http://schemas.microsoft.com/office/powerpoint/2010/main" val="1318047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D41AB5-3628-2CAE-6B4C-B7958B59D27B}"/>
              </a:ext>
            </a:extLst>
          </p:cNvPr>
          <p:cNvSpPr txBox="1"/>
          <p:nvPr/>
        </p:nvSpPr>
        <p:spPr>
          <a:xfrm>
            <a:off x="285344" y="266224"/>
            <a:ext cx="9520048"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Sequence Diagram:</a:t>
            </a:r>
            <a:endParaRPr lang="en-US" sz="3000" b="1" dirty="0"/>
          </a:p>
        </p:txBody>
      </p:sp>
      <p:sp>
        <p:nvSpPr>
          <p:cNvPr id="6" name="Slide Number Placeholder 5">
            <a:extLst>
              <a:ext uri="{FF2B5EF4-FFF2-40B4-BE49-F238E27FC236}">
                <a16:creationId xmlns:a16="http://schemas.microsoft.com/office/drawing/2014/main" id="{D9209C08-1A78-E8FA-E643-A058A58F2A2E}"/>
              </a:ext>
            </a:extLst>
          </p:cNvPr>
          <p:cNvSpPr>
            <a:spLocks noGrp="1"/>
          </p:cNvSpPr>
          <p:nvPr>
            <p:ph type="sldNum" sz="quarter" idx="12"/>
          </p:nvPr>
        </p:nvSpPr>
        <p:spPr/>
        <p:txBody>
          <a:bodyPr/>
          <a:lstStyle/>
          <a:p>
            <a:fld id="{330EA680-D336-4FF7-8B7A-9848BB0A1C32}" type="slidenum">
              <a:rPr lang="en-US" smtClean="0"/>
              <a:pPr/>
              <a:t>20</a:t>
            </a:fld>
            <a:endParaRPr lang="en-US"/>
          </a:p>
        </p:txBody>
      </p:sp>
    </p:spTree>
    <p:extLst>
      <p:ext uri="{BB962C8B-B14F-4D97-AF65-F5344CB8AC3E}">
        <p14:creationId xmlns:p14="http://schemas.microsoft.com/office/powerpoint/2010/main" val="440664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7C1C966-100C-34AF-EEAB-9B409C8C1A16}"/>
              </a:ext>
            </a:extLst>
          </p:cNvPr>
          <p:cNvGraphicFramePr>
            <a:graphicFrameLocks noGrp="1"/>
          </p:cNvGraphicFramePr>
          <p:nvPr>
            <p:extLst>
              <p:ext uri="{D42A27DB-BD31-4B8C-83A1-F6EECF244321}">
                <p14:modId xmlns:p14="http://schemas.microsoft.com/office/powerpoint/2010/main" val="2709931771"/>
              </p:ext>
            </p:extLst>
          </p:nvPr>
        </p:nvGraphicFramePr>
        <p:xfrm>
          <a:off x="1859280" y="1357376"/>
          <a:ext cx="9026373" cy="3126891"/>
        </p:xfrm>
        <a:graphic>
          <a:graphicData uri="http://schemas.openxmlformats.org/drawingml/2006/table">
            <a:tbl>
              <a:tblPr firstRow="1" bandRow="1">
                <a:tableStyleId>{5C22544A-7EE6-4342-B048-85BDC9FD1C3A}</a:tableStyleId>
              </a:tblPr>
              <a:tblGrid>
                <a:gridCol w="3008791">
                  <a:extLst>
                    <a:ext uri="{9D8B030D-6E8A-4147-A177-3AD203B41FA5}">
                      <a16:colId xmlns:a16="http://schemas.microsoft.com/office/drawing/2014/main" val="656490514"/>
                    </a:ext>
                  </a:extLst>
                </a:gridCol>
                <a:gridCol w="3008791">
                  <a:extLst>
                    <a:ext uri="{9D8B030D-6E8A-4147-A177-3AD203B41FA5}">
                      <a16:colId xmlns:a16="http://schemas.microsoft.com/office/drawing/2014/main" val="1586978359"/>
                    </a:ext>
                  </a:extLst>
                </a:gridCol>
                <a:gridCol w="3008791">
                  <a:extLst>
                    <a:ext uri="{9D8B030D-6E8A-4147-A177-3AD203B41FA5}">
                      <a16:colId xmlns:a16="http://schemas.microsoft.com/office/drawing/2014/main" val="1098642673"/>
                    </a:ext>
                  </a:extLst>
                </a:gridCol>
              </a:tblGrid>
              <a:tr h="970414">
                <a:tc>
                  <a:txBody>
                    <a:bodyPr/>
                    <a:lstStyle/>
                    <a:p>
                      <a:pPr lvl="0">
                        <a:buNone/>
                      </a:pPr>
                      <a:r>
                        <a:rPr lang="en-US" sz="2800" dirty="0"/>
                        <a:t>User</a:t>
                      </a:r>
                    </a:p>
                  </a:txBody>
                  <a:tcPr/>
                </a:tc>
                <a:tc>
                  <a:txBody>
                    <a:bodyPr/>
                    <a:lstStyle/>
                    <a:p>
                      <a:pPr lvl="0">
                        <a:buNone/>
                      </a:pPr>
                      <a:r>
                        <a:rPr lang="en-US" sz="2900" b="1" i="0" u="none" strike="noStrike" noProof="0" dirty="0">
                          <a:solidFill>
                            <a:srgbClr val="FFFFFF"/>
                          </a:solidFill>
                          <a:latin typeface="Aptos"/>
                        </a:rPr>
                        <a:t>Product</a:t>
                      </a:r>
                      <a:endParaRPr lang="en-US" dirty="0"/>
                    </a:p>
                  </a:txBody>
                  <a:tcPr/>
                </a:tc>
                <a:tc>
                  <a:txBody>
                    <a:bodyPr/>
                    <a:lstStyle/>
                    <a:p>
                      <a:pPr lvl="0">
                        <a:buNone/>
                      </a:pPr>
                      <a:endParaRPr lang="en-US" dirty="0"/>
                    </a:p>
                  </a:txBody>
                  <a:tcPr/>
                </a:tc>
                <a:extLst>
                  <a:ext uri="{0D108BD9-81ED-4DB2-BD59-A6C34878D82A}">
                    <a16:rowId xmlns:a16="http://schemas.microsoft.com/office/drawing/2014/main" val="3577977982"/>
                  </a:ext>
                </a:extLst>
              </a:tr>
              <a:tr h="862591">
                <a:tc>
                  <a:txBody>
                    <a:bodyPr/>
                    <a:lstStyle/>
                    <a:p>
                      <a:pPr lvl="0">
                        <a:buNone/>
                      </a:pPr>
                      <a:r>
                        <a:rPr lang="en-US" sz="1700" b="0" i="0" u="none" strike="noStrike" noProof="0" dirty="0" err="1">
                          <a:solidFill>
                            <a:schemeClr val="tx1"/>
                          </a:solidFill>
                          <a:latin typeface="Segoe UI"/>
                        </a:rPr>
                        <a:t>User_id</a:t>
                      </a:r>
                      <a:endParaRPr lang="en-US" sz="1700" b="0" i="0" u="none" strike="noStrike" noProof="0" dirty="0">
                        <a:solidFill>
                          <a:srgbClr val="000000"/>
                        </a:solidFill>
                        <a:latin typeface="Segoe UI"/>
                      </a:endParaRPr>
                    </a:p>
                    <a:p>
                      <a:pPr lvl="0">
                        <a:buNone/>
                      </a:pPr>
                      <a:r>
                        <a:rPr lang="en-US" sz="1700" b="0" i="0" u="none" strike="noStrike" noProof="0" dirty="0">
                          <a:solidFill>
                            <a:schemeClr val="tx1"/>
                          </a:solidFill>
                          <a:latin typeface="Segoe UI"/>
                        </a:rPr>
                        <a:t>(Primary Key)</a:t>
                      </a:r>
                      <a:endParaRPr lang="en-US" dirty="0"/>
                    </a:p>
                  </a:txBody>
                  <a:tcPr/>
                </a:tc>
                <a:tc>
                  <a:txBody>
                    <a:bodyPr/>
                    <a:lstStyle/>
                    <a:p>
                      <a:pPr lvl="0">
                        <a:buNone/>
                      </a:pPr>
                      <a:r>
                        <a:rPr lang="en-US" sz="1800" b="0" i="0" u="none" strike="noStrike" noProof="0" dirty="0" err="1">
                          <a:solidFill>
                            <a:srgbClr val="000000"/>
                          </a:solidFill>
                          <a:latin typeface="Segoe UI"/>
                        </a:rPr>
                        <a:t>Product_id</a:t>
                      </a:r>
                      <a:endParaRPr lang="en-US" sz="1800" b="0" i="0" u="none" strike="noStrike" noProof="0" dirty="0">
                        <a:solidFill>
                          <a:srgbClr val="000000"/>
                        </a:solidFill>
                        <a:latin typeface="Segoe UI"/>
                      </a:endParaRPr>
                    </a:p>
                    <a:p>
                      <a:pPr lvl="0">
                        <a:buNone/>
                      </a:pPr>
                      <a:r>
                        <a:rPr lang="en-US" sz="1700" b="0" i="0" u="none" strike="noStrike" noProof="0" dirty="0">
                          <a:solidFill>
                            <a:schemeClr val="tx1"/>
                          </a:solidFill>
                          <a:latin typeface="Segoe UI"/>
                        </a:rPr>
                        <a:t>(Primary Key)</a:t>
                      </a:r>
                      <a:endParaRPr lang="en-US" dirty="0"/>
                    </a:p>
                  </a:txBody>
                  <a:tcPr/>
                </a:tc>
                <a:tc>
                  <a:txBody>
                    <a:bodyPr/>
                    <a:lstStyle/>
                    <a:p>
                      <a:pPr lvl="0">
                        <a:buNone/>
                      </a:pPr>
                      <a:r>
                        <a:rPr lang="en-US" sz="1800" b="0" i="0" u="none" strike="noStrike" noProof="0" dirty="0" err="1">
                          <a:solidFill>
                            <a:srgbClr val="000000"/>
                          </a:solidFill>
                          <a:latin typeface="Segoe UI"/>
                        </a:rPr>
                        <a:t>Instructure_id</a:t>
                      </a:r>
                      <a:endParaRPr lang="en-US" sz="1800" b="0" i="0" u="none" strike="noStrike" noProof="0" dirty="0">
                        <a:solidFill>
                          <a:srgbClr val="000000"/>
                        </a:solidFill>
                        <a:latin typeface="Segoe UI"/>
                      </a:endParaRPr>
                    </a:p>
                    <a:p>
                      <a:pPr lvl="0">
                        <a:buNone/>
                      </a:pPr>
                      <a:r>
                        <a:rPr lang="en-US" sz="1700" b="0" i="0" u="none" strike="noStrike" noProof="0" dirty="0">
                          <a:solidFill>
                            <a:schemeClr val="tx1"/>
                          </a:solidFill>
                          <a:latin typeface="Segoe UI"/>
                        </a:rPr>
                        <a:t>(Primary Key)</a:t>
                      </a:r>
                      <a:endParaRPr lang="en-US" dirty="0"/>
                    </a:p>
                  </a:txBody>
                  <a:tcPr/>
                </a:tc>
                <a:extLst>
                  <a:ext uri="{0D108BD9-81ED-4DB2-BD59-A6C34878D82A}">
                    <a16:rowId xmlns:a16="http://schemas.microsoft.com/office/drawing/2014/main" val="3255014293"/>
                  </a:ext>
                </a:extLst>
              </a:tr>
              <a:tr h="646943">
                <a:tc>
                  <a:txBody>
                    <a:bodyPr/>
                    <a:lstStyle/>
                    <a:p>
                      <a:pPr lvl="0">
                        <a:buNone/>
                      </a:pPr>
                      <a:r>
                        <a:rPr lang="en-US" sz="1800" b="0" i="0" u="none" strike="noStrike" noProof="0" dirty="0" err="1">
                          <a:solidFill>
                            <a:srgbClr val="000000"/>
                          </a:solidFill>
                          <a:latin typeface="Aptos"/>
                        </a:rPr>
                        <a:t>User_name</a:t>
                      </a:r>
                      <a:endParaRPr lang="en-US" dirty="0" err="1"/>
                    </a:p>
                  </a:txBody>
                  <a:tcPr/>
                </a:tc>
                <a:tc>
                  <a:txBody>
                    <a:bodyPr/>
                    <a:lstStyle/>
                    <a:p>
                      <a:pPr lvl="0">
                        <a:buNone/>
                      </a:pPr>
                      <a:r>
                        <a:rPr lang="en-US" sz="1800" b="0" i="0" u="none" strike="noStrike" noProof="0" dirty="0" err="1">
                          <a:solidFill>
                            <a:srgbClr val="000000"/>
                          </a:solidFill>
                          <a:latin typeface="Aptos"/>
                        </a:rPr>
                        <a:t>Product_name</a:t>
                      </a:r>
                      <a:endParaRPr lang="en-US" dirty="0" err="1"/>
                    </a:p>
                  </a:txBody>
                  <a:tcPr/>
                </a:tc>
                <a:tc>
                  <a:txBody>
                    <a:bodyPr/>
                    <a:lstStyle/>
                    <a:p>
                      <a:pPr lvl="0">
                        <a:buNone/>
                      </a:pPr>
                      <a:r>
                        <a:rPr lang="en-US" sz="1800" b="0" i="0" u="none" strike="noStrike" noProof="0" dirty="0" err="1">
                          <a:solidFill>
                            <a:srgbClr val="000000"/>
                          </a:solidFill>
                          <a:latin typeface="Aptos"/>
                        </a:rPr>
                        <a:t>Instructure_name</a:t>
                      </a:r>
                      <a:endParaRPr lang="en-US" dirty="0" err="1"/>
                    </a:p>
                  </a:txBody>
                  <a:tcPr/>
                </a:tc>
                <a:extLst>
                  <a:ext uri="{0D108BD9-81ED-4DB2-BD59-A6C34878D82A}">
                    <a16:rowId xmlns:a16="http://schemas.microsoft.com/office/drawing/2014/main" val="789958730"/>
                  </a:ext>
                </a:extLst>
              </a:tr>
              <a:tr h="646943">
                <a:tc>
                  <a:txBody>
                    <a:bodyPr/>
                    <a:lstStyle/>
                    <a:p>
                      <a:pPr lvl="0">
                        <a:buNone/>
                      </a:pPr>
                      <a:endParaRPr lang="en-US" dirty="0"/>
                    </a:p>
                  </a:txBody>
                  <a:tcPr/>
                </a:tc>
                <a:tc>
                  <a:txBody>
                    <a:bodyPr/>
                    <a:lstStyle/>
                    <a:p>
                      <a:endParaRPr lang="en-US"/>
                    </a:p>
                  </a:txBody>
                  <a:tcPr/>
                </a:tc>
                <a:tc>
                  <a:txBody>
                    <a:bodyPr/>
                    <a:lstStyle/>
                    <a:p>
                      <a:pPr lvl="0">
                        <a:buNone/>
                      </a:pPr>
                      <a:endParaRPr lang="en-US" dirty="0"/>
                    </a:p>
                  </a:txBody>
                  <a:tcPr/>
                </a:tc>
                <a:extLst>
                  <a:ext uri="{0D108BD9-81ED-4DB2-BD59-A6C34878D82A}">
                    <a16:rowId xmlns:a16="http://schemas.microsoft.com/office/drawing/2014/main" val="1210482734"/>
                  </a:ext>
                </a:extLst>
              </a:tr>
            </a:tbl>
          </a:graphicData>
        </a:graphic>
      </p:graphicFrame>
      <p:sp>
        <p:nvSpPr>
          <p:cNvPr id="4" name="TextBox 3">
            <a:extLst>
              <a:ext uri="{FF2B5EF4-FFF2-40B4-BE49-F238E27FC236}">
                <a16:creationId xmlns:a16="http://schemas.microsoft.com/office/drawing/2014/main" id="{0745DC36-3ED9-79A4-2535-A85BEF72ADFB}"/>
              </a:ext>
            </a:extLst>
          </p:cNvPr>
          <p:cNvSpPr txBox="1"/>
          <p:nvPr/>
        </p:nvSpPr>
        <p:spPr>
          <a:xfrm>
            <a:off x="82301" y="28401"/>
            <a:ext cx="452202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dirty="0">
                <a:latin typeface="Times New Roman"/>
                <a:cs typeface="Times New Roman"/>
              </a:rPr>
              <a:t>System Design:</a:t>
            </a:r>
            <a:endParaRPr lang="en-US" dirty="0"/>
          </a:p>
        </p:txBody>
      </p:sp>
      <p:sp>
        <p:nvSpPr>
          <p:cNvPr id="5" name="TextBox 4">
            <a:extLst>
              <a:ext uri="{FF2B5EF4-FFF2-40B4-BE49-F238E27FC236}">
                <a16:creationId xmlns:a16="http://schemas.microsoft.com/office/drawing/2014/main" id="{ED4C23E0-AE1F-C1A6-9489-15210DA009F6}"/>
              </a:ext>
            </a:extLst>
          </p:cNvPr>
          <p:cNvSpPr txBox="1"/>
          <p:nvPr/>
        </p:nvSpPr>
        <p:spPr>
          <a:xfrm>
            <a:off x="1301707" y="808907"/>
            <a:ext cx="7287431"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Database Design/Data Structure Design:</a:t>
            </a:r>
            <a:endParaRPr lang="en-US" dirty="0"/>
          </a:p>
        </p:txBody>
      </p:sp>
      <p:sp>
        <p:nvSpPr>
          <p:cNvPr id="8" name="Rectangle 7"/>
          <p:cNvSpPr/>
          <p:nvPr/>
        </p:nvSpPr>
        <p:spPr>
          <a:xfrm>
            <a:off x="1389017" y="4762139"/>
            <a:ext cx="9544594" cy="1200329"/>
          </a:xfrm>
          <a:prstGeom prst="rect">
            <a:avLst/>
          </a:prstGeom>
        </p:spPr>
        <p:txBody>
          <a:bodyPr wrap="square">
            <a:spAutoFit/>
          </a:bodyPr>
          <a:lstStyle/>
          <a:p>
            <a:r>
              <a:rPr lang="en-US" sz="2400" b="1" dirty="0"/>
              <a:t>Customers and Products Relationship:</a:t>
            </a:r>
            <a:endParaRPr lang="en-US" sz="2400" dirty="0"/>
          </a:p>
          <a:p>
            <a:r>
              <a:rPr lang="en-US" sz="2400" dirty="0"/>
              <a:t>	Many-to-Many Relationship: A customer can purchase multiple products, and a product can be bought by multiple customers</a:t>
            </a:r>
            <a:r>
              <a:rPr lang="en-US" dirty="0"/>
              <a:t>.</a:t>
            </a:r>
          </a:p>
        </p:txBody>
      </p:sp>
      <p:sp>
        <p:nvSpPr>
          <p:cNvPr id="7" name="Slide Number Placeholder 6">
            <a:extLst>
              <a:ext uri="{FF2B5EF4-FFF2-40B4-BE49-F238E27FC236}">
                <a16:creationId xmlns:a16="http://schemas.microsoft.com/office/drawing/2014/main" id="{19030F2D-79AB-1E25-C182-31401FB4B1C6}"/>
              </a:ext>
            </a:extLst>
          </p:cNvPr>
          <p:cNvSpPr>
            <a:spLocks noGrp="1"/>
          </p:cNvSpPr>
          <p:nvPr>
            <p:ph type="sldNum" sz="quarter" idx="12"/>
          </p:nvPr>
        </p:nvSpPr>
        <p:spPr/>
        <p:txBody>
          <a:bodyPr/>
          <a:lstStyle/>
          <a:p>
            <a:fld id="{330EA680-D336-4FF7-8B7A-9848BB0A1C32}" type="slidenum">
              <a:rPr lang="en-US" smtClean="0"/>
              <a:pPr/>
              <a:t>21</a:t>
            </a:fld>
            <a:endParaRPr lang="en-US"/>
          </a:p>
        </p:txBody>
      </p:sp>
    </p:spTree>
    <p:extLst>
      <p:ext uri="{BB962C8B-B14F-4D97-AF65-F5344CB8AC3E}">
        <p14:creationId xmlns:p14="http://schemas.microsoft.com/office/powerpoint/2010/main" val="10030599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47537" y="209006"/>
            <a:ext cx="10500474" cy="6001643"/>
          </a:xfrm>
          <a:prstGeom prst="rect">
            <a:avLst/>
          </a:prstGeom>
        </p:spPr>
        <p:txBody>
          <a:bodyPr wrap="square">
            <a:spAutoFit/>
          </a:bodyPr>
          <a:lstStyle/>
          <a:p>
            <a:endParaRPr lang="en-US" sz="2400" dirty="0"/>
          </a:p>
          <a:p>
            <a:r>
              <a:rPr lang="en-US" sz="2400" b="1" dirty="0"/>
              <a:t>Products and Categories Relationship:</a:t>
            </a:r>
            <a:endParaRPr lang="en-US" sz="2400" dirty="0"/>
          </a:p>
          <a:p>
            <a:r>
              <a:rPr lang="en-US" sz="2400" dirty="0"/>
              <a:t>	Many-to-One Relationship: A product belongs to a single category, but a category can include multiple products.</a:t>
            </a:r>
          </a:p>
          <a:p>
            <a:endParaRPr lang="en-US" sz="2400" dirty="0"/>
          </a:p>
          <a:p>
            <a:r>
              <a:rPr lang="en-US" sz="2400" b="1" dirty="0"/>
              <a:t>Customers and Orders Relationship:</a:t>
            </a:r>
            <a:endParaRPr lang="en-US" sz="2400" dirty="0"/>
          </a:p>
          <a:p>
            <a:r>
              <a:rPr lang="en-US" sz="2400" dirty="0"/>
              <a:t>	One-to-Many Relationship: A customer can place multiple orders, but each order is typically associated with a single customer.</a:t>
            </a:r>
          </a:p>
          <a:p>
            <a:endParaRPr lang="en-US" sz="2400" dirty="0"/>
          </a:p>
          <a:p>
            <a:r>
              <a:rPr lang="en-US" sz="2400" b="1" dirty="0"/>
              <a:t>Orders and Products Relationship:</a:t>
            </a:r>
            <a:endParaRPr lang="en-US" sz="2400" dirty="0"/>
          </a:p>
          <a:p>
            <a:r>
              <a:rPr lang="en-US" sz="2400" dirty="0"/>
              <a:t>	Many-to-Many Relationship: An order can include multiple products, and a product can appear in multiple orders.</a:t>
            </a:r>
          </a:p>
          <a:p>
            <a:endParaRPr lang="en-US" sz="2400" dirty="0"/>
          </a:p>
          <a:p>
            <a:r>
              <a:rPr lang="en-US" sz="2400" b="1" dirty="0"/>
              <a:t>Customers and Reviews Relationship:</a:t>
            </a:r>
            <a:endParaRPr lang="en-US" sz="2400" dirty="0"/>
          </a:p>
          <a:p>
            <a:r>
              <a:rPr lang="en-US" sz="2400" dirty="0"/>
              <a:t>	One-to-Many Relationship: A customer can leave multiple reviews, but each review is typically written by a single customer.</a:t>
            </a:r>
          </a:p>
        </p:txBody>
      </p:sp>
      <p:sp>
        <p:nvSpPr>
          <p:cNvPr id="5" name="Slide Number Placeholder 4">
            <a:extLst>
              <a:ext uri="{FF2B5EF4-FFF2-40B4-BE49-F238E27FC236}">
                <a16:creationId xmlns:a16="http://schemas.microsoft.com/office/drawing/2014/main" id="{763FC0DB-DAD1-BC70-3464-6DC4991EC3E2}"/>
              </a:ext>
            </a:extLst>
          </p:cNvPr>
          <p:cNvSpPr>
            <a:spLocks noGrp="1"/>
          </p:cNvSpPr>
          <p:nvPr>
            <p:ph type="sldNum" sz="quarter" idx="12"/>
          </p:nvPr>
        </p:nvSpPr>
        <p:spPr/>
        <p:txBody>
          <a:bodyPr/>
          <a:lstStyle/>
          <a:p>
            <a:fld id="{330EA680-D336-4FF7-8B7A-9848BB0A1C32}"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808E75-232E-EDEC-FC93-9CF870ADAC79}"/>
              </a:ext>
            </a:extLst>
          </p:cNvPr>
          <p:cNvSpPr txBox="1"/>
          <p:nvPr/>
        </p:nvSpPr>
        <p:spPr>
          <a:xfrm>
            <a:off x="191126" y="128747"/>
            <a:ext cx="6210001"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ER Diagram:</a:t>
            </a:r>
            <a:endParaRPr lang="en-US" sz="3000" b="1" dirty="0"/>
          </a:p>
        </p:txBody>
      </p:sp>
      <p:sp>
        <p:nvSpPr>
          <p:cNvPr id="6" name="Slide Number Placeholder 5">
            <a:extLst>
              <a:ext uri="{FF2B5EF4-FFF2-40B4-BE49-F238E27FC236}">
                <a16:creationId xmlns:a16="http://schemas.microsoft.com/office/drawing/2014/main" id="{D54D36C9-66CF-B3B0-EB37-818AB409A4ED}"/>
              </a:ext>
            </a:extLst>
          </p:cNvPr>
          <p:cNvSpPr>
            <a:spLocks noGrp="1"/>
          </p:cNvSpPr>
          <p:nvPr>
            <p:ph type="sldNum" sz="quarter" idx="12"/>
          </p:nvPr>
        </p:nvSpPr>
        <p:spPr/>
        <p:txBody>
          <a:bodyPr/>
          <a:lstStyle/>
          <a:p>
            <a:fld id="{330EA680-D336-4FF7-8B7A-9848BB0A1C32}" type="slidenum">
              <a:rPr lang="en-US" smtClean="0"/>
              <a:pPr/>
              <a:t>23</a:t>
            </a:fld>
            <a:endParaRPr lang="en-US"/>
          </a:p>
        </p:txBody>
      </p:sp>
      <p:pic>
        <p:nvPicPr>
          <p:cNvPr id="7" name="Picture 6" descr="WhatsApp Image 2024-10-04 at 15.26.40_e4562af0.jpg"/>
          <p:cNvPicPr>
            <a:picLocks noChangeAspect="1"/>
          </p:cNvPicPr>
          <p:nvPr/>
        </p:nvPicPr>
        <p:blipFill>
          <a:blip r:embed="rId2" cstate="print"/>
          <a:stretch>
            <a:fillRect/>
          </a:stretch>
        </p:blipFill>
        <p:spPr>
          <a:xfrm>
            <a:off x="0" y="822960"/>
            <a:ext cx="12192000" cy="6035040"/>
          </a:xfrm>
          <a:prstGeom prst="rect">
            <a:avLst/>
          </a:prstGeom>
        </p:spPr>
      </p:pic>
    </p:spTree>
    <p:extLst>
      <p:ext uri="{BB962C8B-B14F-4D97-AF65-F5344CB8AC3E}">
        <p14:creationId xmlns:p14="http://schemas.microsoft.com/office/powerpoint/2010/main" val="15878519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808E75-232E-EDEC-FC93-9CF870ADAC79}"/>
              </a:ext>
            </a:extLst>
          </p:cNvPr>
          <p:cNvSpPr txBox="1"/>
          <p:nvPr/>
        </p:nvSpPr>
        <p:spPr>
          <a:xfrm>
            <a:off x="191126" y="128747"/>
            <a:ext cx="6210001"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Data </a:t>
            </a:r>
            <a:r>
              <a:rPr lang="en-US" sz="3000" b="1" dirty="0" err="1">
                <a:latin typeface="Times New Roman"/>
                <a:cs typeface="Times New Roman"/>
              </a:rPr>
              <a:t>FlowDiagram</a:t>
            </a:r>
            <a:r>
              <a:rPr lang="en-US" sz="3000" b="1" dirty="0">
                <a:latin typeface="Times New Roman"/>
                <a:cs typeface="Times New Roman"/>
              </a:rPr>
              <a:t>:</a:t>
            </a:r>
            <a:endParaRPr lang="en-US" sz="3000" b="1" dirty="0"/>
          </a:p>
        </p:txBody>
      </p:sp>
      <p:sp>
        <p:nvSpPr>
          <p:cNvPr id="6" name="Slide Number Placeholder 5">
            <a:extLst>
              <a:ext uri="{FF2B5EF4-FFF2-40B4-BE49-F238E27FC236}">
                <a16:creationId xmlns:a16="http://schemas.microsoft.com/office/drawing/2014/main" id="{D54D36C9-66CF-B3B0-EB37-818AB409A4ED}"/>
              </a:ext>
            </a:extLst>
          </p:cNvPr>
          <p:cNvSpPr>
            <a:spLocks noGrp="1"/>
          </p:cNvSpPr>
          <p:nvPr>
            <p:ph type="sldNum" sz="quarter" idx="12"/>
          </p:nvPr>
        </p:nvSpPr>
        <p:spPr/>
        <p:txBody>
          <a:bodyPr/>
          <a:lstStyle/>
          <a:p>
            <a:fld id="{330EA680-D336-4FF7-8B7A-9848BB0A1C32}" type="slidenum">
              <a:rPr lang="en-US" smtClean="0"/>
              <a:pPr/>
              <a:t>24</a:t>
            </a:fld>
            <a:endParaRPr lang="en-US"/>
          </a:p>
        </p:txBody>
      </p:sp>
    </p:spTree>
    <p:extLst>
      <p:ext uri="{BB962C8B-B14F-4D97-AF65-F5344CB8AC3E}">
        <p14:creationId xmlns:p14="http://schemas.microsoft.com/office/powerpoint/2010/main" val="38371413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328933-0CE0-5EBA-6193-641D365400D0}"/>
              </a:ext>
            </a:extLst>
          </p:cNvPr>
          <p:cNvSpPr txBox="1"/>
          <p:nvPr/>
        </p:nvSpPr>
        <p:spPr>
          <a:xfrm>
            <a:off x="78399" y="95577"/>
            <a:ext cx="6320084"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Flow Chart:</a:t>
            </a:r>
            <a:endParaRPr lang="en-US" sz="3000" b="1" dirty="0"/>
          </a:p>
        </p:txBody>
      </p:sp>
      <p:sp>
        <p:nvSpPr>
          <p:cNvPr id="6" name="Slide Number Placeholder 5">
            <a:extLst>
              <a:ext uri="{FF2B5EF4-FFF2-40B4-BE49-F238E27FC236}">
                <a16:creationId xmlns:a16="http://schemas.microsoft.com/office/drawing/2014/main" id="{743DFF17-ACF2-EA24-00D2-AE8B4C550698}"/>
              </a:ext>
            </a:extLst>
          </p:cNvPr>
          <p:cNvSpPr>
            <a:spLocks noGrp="1"/>
          </p:cNvSpPr>
          <p:nvPr>
            <p:ph type="sldNum" sz="quarter" idx="12"/>
          </p:nvPr>
        </p:nvSpPr>
        <p:spPr/>
        <p:txBody>
          <a:bodyPr/>
          <a:lstStyle/>
          <a:p>
            <a:fld id="{330EA680-D336-4FF7-8B7A-9848BB0A1C32}" type="slidenum">
              <a:rPr lang="en-US" smtClean="0"/>
              <a:pPr/>
              <a:t>25</a:t>
            </a:fld>
            <a:endParaRPr lang="en-US"/>
          </a:p>
        </p:txBody>
      </p:sp>
      <p:pic>
        <p:nvPicPr>
          <p:cNvPr id="7" name="Picture 6" descr="WhatsApp Image 2024-10-04 at 15.24.52_acd3d52b.jpg"/>
          <p:cNvPicPr>
            <a:picLocks noChangeAspect="1"/>
          </p:cNvPicPr>
          <p:nvPr/>
        </p:nvPicPr>
        <p:blipFill>
          <a:blip r:embed="rId2" cstate="print"/>
          <a:stretch>
            <a:fillRect/>
          </a:stretch>
        </p:blipFill>
        <p:spPr>
          <a:xfrm>
            <a:off x="2560320" y="1"/>
            <a:ext cx="5225143" cy="6858000"/>
          </a:xfrm>
          <a:prstGeom prst="rect">
            <a:avLst/>
          </a:prstGeom>
        </p:spPr>
      </p:pic>
    </p:spTree>
    <p:extLst>
      <p:ext uri="{BB962C8B-B14F-4D97-AF65-F5344CB8AC3E}">
        <p14:creationId xmlns:p14="http://schemas.microsoft.com/office/powerpoint/2010/main" val="23045669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46B4B2-92FC-54F4-6897-B5E5672A1936}"/>
              </a:ext>
            </a:extLst>
          </p:cNvPr>
          <p:cNvSpPr txBox="1"/>
          <p:nvPr/>
        </p:nvSpPr>
        <p:spPr>
          <a:xfrm>
            <a:off x="190401" y="263631"/>
            <a:ext cx="9197832"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b="1" dirty="0">
                <a:latin typeface="Times New Roman"/>
                <a:cs typeface="Times New Roman"/>
              </a:rPr>
              <a:t>Implementation:</a:t>
            </a:r>
            <a:endParaRPr lang="en-US" b="1" dirty="0"/>
          </a:p>
        </p:txBody>
      </p:sp>
      <p:sp>
        <p:nvSpPr>
          <p:cNvPr id="3" name="TextBox 2">
            <a:extLst>
              <a:ext uri="{FF2B5EF4-FFF2-40B4-BE49-F238E27FC236}">
                <a16:creationId xmlns:a16="http://schemas.microsoft.com/office/drawing/2014/main" id="{0CD980BB-B414-E3CF-6332-429E79BFF3F4}"/>
              </a:ext>
            </a:extLst>
          </p:cNvPr>
          <p:cNvSpPr txBox="1"/>
          <p:nvPr/>
        </p:nvSpPr>
        <p:spPr>
          <a:xfrm>
            <a:off x="352697" y="1110344"/>
            <a:ext cx="11599818"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Single-user:</a:t>
            </a:r>
          </a:p>
          <a:p>
            <a:endParaRPr lang="en-US" sz="2400" dirty="0"/>
          </a:p>
          <a:p>
            <a:pPr lvl="1"/>
            <a:r>
              <a:rPr lang="en-US" sz="2400" dirty="0"/>
              <a:t>Designed for individual use</a:t>
            </a:r>
          </a:p>
          <a:p>
            <a:pPr lvl="1"/>
            <a:r>
              <a:rPr lang="en-US" sz="2400" dirty="0"/>
              <a:t>Focuses on personal shopping experiences</a:t>
            </a:r>
          </a:p>
          <a:p>
            <a:pPr lvl="1"/>
            <a:r>
              <a:rPr lang="en-US" sz="2400" dirty="0"/>
              <a:t>Minimal interaction with other users</a:t>
            </a:r>
          </a:p>
          <a:p>
            <a:pPr lvl="1"/>
            <a:endParaRPr lang="en-US" sz="2400" dirty="0"/>
          </a:p>
          <a:p>
            <a:r>
              <a:rPr lang="en-US" sz="2400" b="1" dirty="0"/>
              <a:t>Multi-user:</a:t>
            </a:r>
          </a:p>
          <a:p>
            <a:endParaRPr lang="en-US" sz="2400" dirty="0"/>
          </a:p>
          <a:p>
            <a:pPr lvl="1"/>
            <a:r>
              <a:rPr lang="en-US" sz="2400" dirty="0"/>
              <a:t>Supports interactions among customers</a:t>
            </a:r>
          </a:p>
          <a:p>
            <a:pPr lvl="1"/>
            <a:r>
              <a:rPr lang="en-US" sz="2400" dirty="0"/>
              <a:t>administrators, and support staff</a:t>
            </a:r>
          </a:p>
          <a:p>
            <a:pPr lvl="1"/>
            <a:r>
              <a:rPr lang="en-US" sz="2400" dirty="0"/>
              <a:t>Enables features like customer reviews, admin dashboards, and user support</a:t>
            </a:r>
          </a:p>
          <a:p>
            <a:endParaRPr lang="en-US" sz="2400" dirty="0"/>
          </a:p>
          <a:p>
            <a:endParaRPr lang="en-US" sz="2400" dirty="0"/>
          </a:p>
        </p:txBody>
      </p:sp>
      <p:sp>
        <p:nvSpPr>
          <p:cNvPr id="6" name="Slide Number Placeholder 5">
            <a:extLst>
              <a:ext uri="{FF2B5EF4-FFF2-40B4-BE49-F238E27FC236}">
                <a16:creationId xmlns:a16="http://schemas.microsoft.com/office/drawing/2014/main" id="{277B2B50-659E-FE28-119B-EBCB66AFFBEF}"/>
              </a:ext>
            </a:extLst>
          </p:cNvPr>
          <p:cNvSpPr>
            <a:spLocks noGrp="1"/>
          </p:cNvSpPr>
          <p:nvPr>
            <p:ph type="sldNum" sz="quarter" idx="12"/>
          </p:nvPr>
        </p:nvSpPr>
        <p:spPr/>
        <p:txBody>
          <a:bodyPr/>
          <a:lstStyle/>
          <a:p>
            <a:fld id="{330EA680-D336-4FF7-8B7A-9848BB0A1C32}" type="slidenum">
              <a:rPr lang="en-US" smtClean="0"/>
              <a:pPr/>
              <a:t>26</a:t>
            </a:fld>
            <a:endParaRPr lang="en-US"/>
          </a:p>
        </p:txBody>
      </p:sp>
    </p:spTree>
    <p:extLst>
      <p:ext uri="{BB962C8B-B14F-4D97-AF65-F5344CB8AC3E}">
        <p14:creationId xmlns:p14="http://schemas.microsoft.com/office/powerpoint/2010/main" val="3726579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22513" y="352696"/>
            <a:ext cx="11234057" cy="4154984"/>
          </a:xfrm>
          <a:prstGeom prst="rect">
            <a:avLst/>
          </a:prstGeom>
        </p:spPr>
        <p:txBody>
          <a:bodyPr wrap="square">
            <a:spAutoFit/>
          </a:bodyPr>
          <a:lstStyle/>
          <a:p>
            <a:r>
              <a:rPr lang="en-US" sz="2400" b="1" dirty="0"/>
              <a:t>GUI (Graphical User Interface):</a:t>
            </a:r>
          </a:p>
          <a:p>
            <a:endParaRPr lang="en-US" sz="2400" dirty="0"/>
          </a:p>
          <a:p>
            <a:pPr lvl="1"/>
            <a:r>
              <a:rPr lang="en-US" sz="2400" dirty="0"/>
              <a:t>Provides a visual and interactive interface</a:t>
            </a:r>
          </a:p>
          <a:p>
            <a:pPr lvl="1"/>
            <a:r>
              <a:rPr lang="en-US" sz="2400" dirty="0"/>
              <a:t>Enhances user experience with graphical elements</a:t>
            </a:r>
          </a:p>
          <a:p>
            <a:pPr lvl="1"/>
            <a:r>
              <a:rPr lang="en-US" sz="2400" dirty="0"/>
              <a:t>Makes navigation intuitive and engaging</a:t>
            </a:r>
          </a:p>
          <a:p>
            <a:pPr lvl="1"/>
            <a:endParaRPr lang="en-US" sz="2400" dirty="0"/>
          </a:p>
          <a:p>
            <a:r>
              <a:rPr lang="en-US" sz="2400" b="1" dirty="0"/>
              <a:t>Non-GUI:</a:t>
            </a:r>
          </a:p>
          <a:p>
            <a:endParaRPr lang="en-US" sz="2400" dirty="0"/>
          </a:p>
          <a:p>
            <a:pPr lvl="1"/>
            <a:r>
              <a:rPr lang="en-US" sz="2400" dirty="0"/>
              <a:t>Uses text-based interfaces for user interactions</a:t>
            </a:r>
          </a:p>
          <a:p>
            <a:pPr lvl="1"/>
            <a:r>
              <a:rPr lang="en-US" sz="2400" dirty="0"/>
              <a:t>Suitable for backend operations or specific environments</a:t>
            </a:r>
          </a:p>
          <a:p>
            <a:pPr lvl="1"/>
            <a:r>
              <a:rPr lang="en-US" sz="2400" dirty="0"/>
              <a:t>Less visually engaging but functional for certain use cases</a:t>
            </a:r>
          </a:p>
        </p:txBody>
      </p:sp>
      <p:sp>
        <p:nvSpPr>
          <p:cNvPr id="5" name="Slide Number Placeholder 4">
            <a:extLst>
              <a:ext uri="{FF2B5EF4-FFF2-40B4-BE49-F238E27FC236}">
                <a16:creationId xmlns:a16="http://schemas.microsoft.com/office/drawing/2014/main" id="{C0E9CAB8-4086-7D4D-473E-ADEF552C5124}"/>
              </a:ext>
            </a:extLst>
          </p:cNvPr>
          <p:cNvSpPr>
            <a:spLocks noGrp="1"/>
          </p:cNvSpPr>
          <p:nvPr>
            <p:ph type="sldNum" sz="quarter" idx="12"/>
          </p:nvPr>
        </p:nvSpPr>
        <p:spPr/>
        <p:txBody>
          <a:bodyPr/>
          <a:lstStyle/>
          <a:p>
            <a:fld id="{330EA680-D336-4FF7-8B7A-9848BB0A1C32}"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8216EC-75B5-AFEB-5370-411FE1D83198}"/>
              </a:ext>
            </a:extLst>
          </p:cNvPr>
          <p:cNvSpPr txBox="1"/>
          <p:nvPr/>
        </p:nvSpPr>
        <p:spPr>
          <a:xfrm>
            <a:off x="180435" y="147625"/>
            <a:ext cx="848298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Screenshots Of Forms, Reports and Interface:</a:t>
            </a:r>
            <a:endParaRPr lang="en-US" sz="3000" b="1" dirty="0"/>
          </a:p>
          <a:p>
            <a:pPr algn="l"/>
            <a:endParaRPr lang="en-US" dirty="0"/>
          </a:p>
        </p:txBody>
      </p:sp>
      <p:sp>
        <p:nvSpPr>
          <p:cNvPr id="9" name="Slide Number Placeholder 8">
            <a:extLst>
              <a:ext uri="{FF2B5EF4-FFF2-40B4-BE49-F238E27FC236}">
                <a16:creationId xmlns:a16="http://schemas.microsoft.com/office/drawing/2014/main" id="{CF52FB39-C7B9-461A-937E-CE82853EE0E5}"/>
              </a:ext>
            </a:extLst>
          </p:cNvPr>
          <p:cNvSpPr>
            <a:spLocks noGrp="1"/>
          </p:cNvSpPr>
          <p:nvPr>
            <p:ph type="sldNum" sz="quarter" idx="12"/>
          </p:nvPr>
        </p:nvSpPr>
        <p:spPr/>
        <p:txBody>
          <a:bodyPr/>
          <a:lstStyle/>
          <a:p>
            <a:fld id="{330EA680-D336-4FF7-8B7A-9848BB0A1C32}" type="slidenum">
              <a:rPr lang="en-US" smtClean="0"/>
              <a:pPr/>
              <a:t>28</a:t>
            </a:fld>
            <a:endParaRPr lang="en-US"/>
          </a:p>
        </p:txBody>
      </p:sp>
      <p:pic>
        <p:nvPicPr>
          <p:cNvPr id="17" name="Picture 16" descr="WhatsApp Image 2024-10-04 at 15.05.11_e071f8c3.jpg"/>
          <p:cNvPicPr>
            <a:picLocks noChangeAspect="1"/>
          </p:cNvPicPr>
          <p:nvPr/>
        </p:nvPicPr>
        <p:blipFill>
          <a:blip r:embed="rId2" cstate="print"/>
          <a:stretch>
            <a:fillRect/>
          </a:stretch>
        </p:blipFill>
        <p:spPr>
          <a:xfrm>
            <a:off x="357937" y="809897"/>
            <a:ext cx="3704612" cy="5891349"/>
          </a:xfrm>
          <a:prstGeom prst="rect">
            <a:avLst/>
          </a:prstGeom>
        </p:spPr>
      </p:pic>
      <p:pic>
        <p:nvPicPr>
          <p:cNvPr id="21" name="Picture 20" descr="WhatsApp Image 2024-10-04 at 15.05.11_ec5a4aa5.jpg"/>
          <p:cNvPicPr>
            <a:picLocks noChangeAspect="1"/>
          </p:cNvPicPr>
          <p:nvPr/>
        </p:nvPicPr>
        <p:blipFill>
          <a:blip r:embed="rId3" cstate="print"/>
          <a:stretch>
            <a:fillRect/>
          </a:stretch>
        </p:blipFill>
        <p:spPr>
          <a:xfrm>
            <a:off x="5134349" y="718458"/>
            <a:ext cx="6517720" cy="5878286"/>
          </a:xfrm>
          <a:prstGeom prst="rect">
            <a:avLst/>
          </a:prstGeom>
        </p:spPr>
      </p:pic>
    </p:spTree>
    <p:extLst>
      <p:ext uri="{BB962C8B-B14F-4D97-AF65-F5344CB8AC3E}">
        <p14:creationId xmlns:p14="http://schemas.microsoft.com/office/powerpoint/2010/main" val="14573020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30EA680-D336-4FF7-8B7A-9848BB0A1C32}" type="slidenum">
              <a:rPr lang="en-US" smtClean="0"/>
              <a:pPr/>
              <a:t>29</a:t>
            </a:fld>
            <a:endParaRPr lang="en-US"/>
          </a:p>
        </p:txBody>
      </p:sp>
      <p:pic>
        <p:nvPicPr>
          <p:cNvPr id="3" name="Picture 2" descr="WhatsApp Image 2024-10-04 at 15.05.12_05451ea5.jpg"/>
          <p:cNvPicPr>
            <a:picLocks noChangeAspect="1"/>
          </p:cNvPicPr>
          <p:nvPr/>
        </p:nvPicPr>
        <p:blipFill>
          <a:blip r:embed="rId2" cstate="print"/>
          <a:stretch>
            <a:fillRect/>
          </a:stretch>
        </p:blipFill>
        <p:spPr>
          <a:xfrm>
            <a:off x="521864" y="496388"/>
            <a:ext cx="3774841" cy="5943600"/>
          </a:xfrm>
          <a:prstGeom prst="rect">
            <a:avLst/>
          </a:prstGeom>
        </p:spPr>
      </p:pic>
      <p:pic>
        <p:nvPicPr>
          <p:cNvPr id="4" name="Picture 3" descr="WhatsApp Image 2024-10-04 at 15.05.12_f8e6d46e.jpg"/>
          <p:cNvPicPr>
            <a:picLocks noChangeAspect="1"/>
          </p:cNvPicPr>
          <p:nvPr/>
        </p:nvPicPr>
        <p:blipFill>
          <a:blip r:embed="rId3" cstate="print"/>
          <a:stretch>
            <a:fillRect/>
          </a:stretch>
        </p:blipFill>
        <p:spPr>
          <a:xfrm>
            <a:off x="6978483" y="548640"/>
            <a:ext cx="3581357" cy="589134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30EA680-D336-4FF7-8B7A-9848BB0A1C32}" type="slidenum">
              <a:rPr lang="en-US" smtClean="0"/>
              <a:pPr/>
              <a:t>30</a:t>
            </a:fld>
            <a:endParaRPr lang="en-US"/>
          </a:p>
        </p:txBody>
      </p:sp>
      <p:pic>
        <p:nvPicPr>
          <p:cNvPr id="3" name="Picture 2" descr="WhatsApp Image 2024-10-04 at 15.05.12_5cf7a9c2.jpg"/>
          <p:cNvPicPr>
            <a:picLocks noChangeAspect="1"/>
          </p:cNvPicPr>
          <p:nvPr/>
        </p:nvPicPr>
        <p:blipFill>
          <a:blip r:embed="rId2" cstate="print"/>
          <a:stretch>
            <a:fillRect/>
          </a:stretch>
        </p:blipFill>
        <p:spPr>
          <a:xfrm>
            <a:off x="284610" y="248194"/>
            <a:ext cx="4735415" cy="6361612"/>
          </a:xfrm>
          <a:prstGeom prst="rect">
            <a:avLst/>
          </a:prstGeom>
        </p:spPr>
      </p:pic>
      <p:pic>
        <p:nvPicPr>
          <p:cNvPr id="4" name="Picture 3" descr="WhatsApp Image 2024-10-04 at 15.05.13_52aa52ba.jpg"/>
          <p:cNvPicPr>
            <a:picLocks noChangeAspect="1"/>
          </p:cNvPicPr>
          <p:nvPr/>
        </p:nvPicPr>
        <p:blipFill>
          <a:blip r:embed="rId3" cstate="print"/>
          <a:stretch>
            <a:fillRect/>
          </a:stretch>
        </p:blipFill>
        <p:spPr>
          <a:xfrm>
            <a:off x="5954304" y="339634"/>
            <a:ext cx="6066973" cy="615260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8216EC-75B5-AFEB-5370-411FE1D83198}"/>
              </a:ext>
            </a:extLst>
          </p:cNvPr>
          <p:cNvSpPr txBox="1"/>
          <p:nvPr/>
        </p:nvSpPr>
        <p:spPr>
          <a:xfrm>
            <a:off x="180435" y="147625"/>
            <a:ext cx="848298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Sample Coding:</a:t>
            </a:r>
            <a:endParaRPr lang="en-US" sz="3000" b="1" dirty="0"/>
          </a:p>
          <a:p>
            <a:pPr algn="l"/>
            <a:endParaRPr lang="en-US" dirty="0"/>
          </a:p>
        </p:txBody>
      </p:sp>
      <p:sp>
        <p:nvSpPr>
          <p:cNvPr id="9" name="Slide Number Placeholder 8">
            <a:extLst>
              <a:ext uri="{FF2B5EF4-FFF2-40B4-BE49-F238E27FC236}">
                <a16:creationId xmlns:a16="http://schemas.microsoft.com/office/drawing/2014/main" id="{CF52FB39-C7B9-461A-937E-CE82853EE0E5}"/>
              </a:ext>
            </a:extLst>
          </p:cNvPr>
          <p:cNvSpPr>
            <a:spLocks noGrp="1"/>
          </p:cNvSpPr>
          <p:nvPr>
            <p:ph type="sldNum" sz="quarter" idx="12"/>
          </p:nvPr>
        </p:nvSpPr>
        <p:spPr/>
        <p:txBody>
          <a:bodyPr/>
          <a:lstStyle/>
          <a:p>
            <a:fld id="{330EA680-D336-4FF7-8B7A-9848BB0A1C32}" type="slidenum">
              <a:rPr lang="en-US" smtClean="0"/>
              <a:pPr/>
              <a:t>31</a:t>
            </a:fld>
            <a:endParaRPr lang="en-US"/>
          </a:p>
        </p:txBody>
      </p:sp>
      <p:pic>
        <p:nvPicPr>
          <p:cNvPr id="4" name="Picture 3" descr="Screenshot (951).png"/>
          <p:cNvPicPr>
            <a:picLocks noChangeAspect="1"/>
          </p:cNvPicPr>
          <p:nvPr/>
        </p:nvPicPr>
        <p:blipFill>
          <a:blip r:embed="rId2" cstate="print"/>
          <a:stretch>
            <a:fillRect/>
          </a:stretch>
        </p:blipFill>
        <p:spPr>
          <a:xfrm>
            <a:off x="875211" y="876886"/>
            <a:ext cx="10607039" cy="5963548"/>
          </a:xfrm>
          <a:prstGeom prst="rect">
            <a:avLst/>
          </a:prstGeom>
        </p:spPr>
      </p:pic>
    </p:spTree>
    <p:extLst>
      <p:ext uri="{BB962C8B-B14F-4D97-AF65-F5344CB8AC3E}">
        <p14:creationId xmlns:p14="http://schemas.microsoft.com/office/powerpoint/2010/main" val="14155143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D1136D-978A-C712-7FB3-3DD975F1714F}"/>
              </a:ext>
            </a:extLst>
          </p:cNvPr>
          <p:cNvSpPr txBox="1"/>
          <p:nvPr/>
        </p:nvSpPr>
        <p:spPr>
          <a:xfrm>
            <a:off x="234544" y="133102"/>
            <a:ext cx="8682284"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b="1" dirty="0">
                <a:latin typeface="Times New Roman"/>
                <a:cs typeface="Times New Roman"/>
              </a:rPr>
              <a:t>Testing:</a:t>
            </a:r>
            <a:endParaRPr lang="en-US" b="1" dirty="0"/>
          </a:p>
        </p:txBody>
      </p:sp>
      <p:sp>
        <p:nvSpPr>
          <p:cNvPr id="3" name="TextBox 2">
            <a:extLst>
              <a:ext uri="{FF2B5EF4-FFF2-40B4-BE49-F238E27FC236}">
                <a16:creationId xmlns:a16="http://schemas.microsoft.com/office/drawing/2014/main" id="{326D6AEA-E033-1116-804A-EECEA132A870}"/>
              </a:ext>
            </a:extLst>
          </p:cNvPr>
          <p:cNvSpPr txBox="1"/>
          <p:nvPr/>
        </p:nvSpPr>
        <p:spPr>
          <a:xfrm>
            <a:off x="577662" y="907406"/>
            <a:ext cx="799684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Testing Plan &amp; Strategy:</a:t>
            </a:r>
            <a:endParaRPr lang="en-US" sz="3000" b="1" dirty="0">
              <a:latin typeface="Aptos" panose="020B0004020202020204"/>
              <a:cs typeface="Times New Roman"/>
            </a:endParaRPr>
          </a:p>
          <a:p>
            <a:endParaRPr lang="en-US" sz="3000" b="1" dirty="0">
              <a:latin typeface="Times New Roman"/>
              <a:cs typeface="Times New Roman"/>
            </a:endParaRPr>
          </a:p>
        </p:txBody>
      </p:sp>
      <p:sp>
        <p:nvSpPr>
          <p:cNvPr id="5" name="TextBox 4">
            <a:extLst>
              <a:ext uri="{FF2B5EF4-FFF2-40B4-BE49-F238E27FC236}">
                <a16:creationId xmlns:a16="http://schemas.microsoft.com/office/drawing/2014/main" id="{A0BE72E6-A450-09BF-03F3-925D1C6A3CDD}"/>
              </a:ext>
            </a:extLst>
          </p:cNvPr>
          <p:cNvSpPr txBox="1"/>
          <p:nvPr/>
        </p:nvSpPr>
        <p:spPr>
          <a:xfrm>
            <a:off x="1180485" y="1732648"/>
            <a:ext cx="10053171"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Objectives:</a:t>
            </a:r>
            <a:r>
              <a:rPr lang="en-US" sz="2400" dirty="0"/>
              <a:t> Ensure Smooth Functionality, Usability, Security, Performance</a:t>
            </a:r>
          </a:p>
          <a:p>
            <a:endParaRPr lang="en-US" sz="2400" dirty="0"/>
          </a:p>
          <a:p>
            <a:r>
              <a:rPr lang="en-US" sz="2400" b="1" dirty="0"/>
              <a:t>Testing Types:</a:t>
            </a:r>
            <a:r>
              <a:rPr lang="en-US" sz="2400" dirty="0"/>
              <a:t> Functional, Usability, Performance, Security, Compatibility</a:t>
            </a:r>
          </a:p>
          <a:p>
            <a:endParaRPr lang="en-US" sz="2400" dirty="0"/>
          </a:p>
          <a:p>
            <a:r>
              <a:rPr lang="en-US" sz="2400" b="1" dirty="0"/>
              <a:t>Test Cases:</a:t>
            </a:r>
            <a:r>
              <a:rPr lang="en-US" sz="2400" dirty="0"/>
              <a:t> Product Search and Filtering, Adding Items to the Cart, Checkout Process, Order Confirmation and Tracking, User Account Management</a:t>
            </a:r>
          </a:p>
          <a:p>
            <a:endParaRPr lang="en-US" sz="2400" dirty="0"/>
          </a:p>
          <a:p>
            <a:r>
              <a:rPr lang="en-US" sz="2400" b="1" dirty="0"/>
              <a:t>Execution:</a:t>
            </a:r>
            <a:r>
              <a:rPr lang="en-US" sz="2400" dirty="0"/>
              <a:t> Test in Different Environments, Allocate Resources, Schedule Phases</a:t>
            </a:r>
          </a:p>
          <a:p>
            <a:endParaRPr lang="en-US" sz="2400" dirty="0"/>
          </a:p>
        </p:txBody>
      </p:sp>
      <p:sp>
        <p:nvSpPr>
          <p:cNvPr id="7" name="Slide Number Placeholder 6">
            <a:extLst>
              <a:ext uri="{FF2B5EF4-FFF2-40B4-BE49-F238E27FC236}">
                <a16:creationId xmlns:a16="http://schemas.microsoft.com/office/drawing/2014/main" id="{FEC70AB3-F66F-EB9B-6EF9-28E8ED3181A5}"/>
              </a:ext>
            </a:extLst>
          </p:cNvPr>
          <p:cNvSpPr>
            <a:spLocks noGrp="1"/>
          </p:cNvSpPr>
          <p:nvPr>
            <p:ph type="sldNum" sz="quarter" idx="12"/>
          </p:nvPr>
        </p:nvSpPr>
        <p:spPr/>
        <p:txBody>
          <a:bodyPr/>
          <a:lstStyle/>
          <a:p>
            <a:fld id="{330EA680-D336-4FF7-8B7A-9848BB0A1C32}" type="slidenum">
              <a:rPr lang="en-US" smtClean="0"/>
              <a:pPr/>
              <a:t>32</a:t>
            </a:fld>
            <a:endParaRPr lang="en-US"/>
          </a:p>
        </p:txBody>
      </p:sp>
    </p:spTree>
    <p:extLst>
      <p:ext uri="{BB962C8B-B14F-4D97-AF65-F5344CB8AC3E}">
        <p14:creationId xmlns:p14="http://schemas.microsoft.com/office/powerpoint/2010/main" val="3351716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9E240C-0889-5CBA-E204-BA41272B64E7}"/>
              </a:ext>
            </a:extLst>
          </p:cNvPr>
          <p:cNvSpPr txBox="1"/>
          <p:nvPr/>
        </p:nvSpPr>
        <p:spPr>
          <a:xfrm>
            <a:off x="411895" y="457199"/>
            <a:ext cx="10491093" cy="51706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400" b="1" dirty="0"/>
              <a:t>Process:</a:t>
            </a:r>
            <a:r>
              <a:rPr lang="en-US" sz="2400" dirty="0"/>
              <a:t> Functional, Usability, Performance, Security, Compatibility Testing</a:t>
            </a:r>
          </a:p>
          <a:p>
            <a:pPr>
              <a:lnSpc>
                <a:spcPct val="150000"/>
              </a:lnSpc>
            </a:pPr>
            <a:endParaRPr lang="en-US" sz="2400" dirty="0"/>
          </a:p>
          <a:p>
            <a:r>
              <a:rPr lang="en-US" sz="2400" b="1" dirty="0"/>
              <a:t>Iterative Testing:</a:t>
            </a:r>
            <a:r>
              <a:rPr lang="en-US" sz="2400" dirty="0"/>
              <a:t> Continuous testing after updates to refine and enhance the e-commerce website.</a:t>
            </a:r>
          </a:p>
          <a:p>
            <a:endParaRPr lang="en-US" sz="2400" dirty="0"/>
          </a:p>
          <a:p>
            <a:r>
              <a:rPr lang="en-US" sz="2400" b="1" dirty="0"/>
              <a:t>Automation:</a:t>
            </a:r>
            <a:r>
              <a:rPr lang="en-US" sz="2400" dirty="0"/>
              <a:t> Automate repetitive tests to improve efficiency and accuracy.</a:t>
            </a:r>
          </a:p>
          <a:p>
            <a:endParaRPr lang="en-US" sz="2400" dirty="0"/>
          </a:p>
          <a:p>
            <a:r>
              <a:rPr lang="en-US" sz="2400" b="1" dirty="0"/>
              <a:t>Conclusion:</a:t>
            </a:r>
            <a:r>
              <a:rPr lang="en-US" sz="2400" dirty="0"/>
              <a:t> Thorough testing guarantees a reliable, secure, and user-friendly e-commerce website.</a:t>
            </a:r>
          </a:p>
          <a:p>
            <a:pPr>
              <a:lnSpc>
                <a:spcPct val="150000"/>
              </a:lnSpc>
            </a:pPr>
            <a:endParaRPr lang="en-US" sz="2000" dirty="0"/>
          </a:p>
          <a:p>
            <a:pPr>
              <a:lnSpc>
                <a:spcPct val="150000"/>
              </a:lnSpc>
            </a:pPr>
            <a:endParaRPr lang="en-US" sz="2000" b="1" dirty="0">
              <a:solidFill>
                <a:srgbClr val="0D0D0D"/>
              </a:solidFill>
              <a:ea typeface="+mn-lt"/>
              <a:cs typeface="+mn-lt"/>
            </a:endParaRPr>
          </a:p>
          <a:p>
            <a:pPr algn="l">
              <a:lnSpc>
                <a:spcPct val="150000"/>
              </a:lnSpc>
            </a:pPr>
            <a:endParaRPr lang="en-US" sz="2000" dirty="0"/>
          </a:p>
        </p:txBody>
      </p:sp>
      <p:sp>
        <p:nvSpPr>
          <p:cNvPr id="5" name="Slide Number Placeholder 4">
            <a:extLst>
              <a:ext uri="{FF2B5EF4-FFF2-40B4-BE49-F238E27FC236}">
                <a16:creationId xmlns:a16="http://schemas.microsoft.com/office/drawing/2014/main" id="{68087426-B0C1-31C8-ED01-68540CB3DB8B}"/>
              </a:ext>
            </a:extLst>
          </p:cNvPr>
          <p:cNvSpPr>
            <a:spLocks noGrp="1"/>
          </p:cNvSpPr>
          <p:nvPr>
            <p:ph type="sldNum" sz="quarter" idx="12"/>
          </p:nvPr>
        </p:nvSpPr>
        <p:spPr/>
        <p:txBody>
          <a:bodyPr/>
          <a:lstStyle/>
          <a:p>
            <a:fld id="{330EA680-D336-4FF7-8B7A-9848BB0A1C32}" type="slidenum">
              <a:rPr lang="en-US" smtClean="0"/>
              <a:pPr/>
              <a:t>33</a:t>
            </a:fld>
            <a:endParaRPr lang="en-US"/>
          </a:p>
        </p:txBody>
      </p:sp>
    </p:spTree>
    <p:extLst>
      <p:ext uri="{BB962C8B-B14F-4D97-AF65-F5344CB8AC3E}">
        <p14:creationId xmlns:p14="http://schemas.microsoft.com/office/powerpoint/2010/main" val="37322647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80071B-2822-AF33-4606-A51659188A5A}"/>
              </a:ext>
            </a:extLst>
          </p:cNvPr>
          <p:cNvSpPr txBox="1"/>
          <p:nvPr/>
        </p:nvSpPr>
        <p:spPr>
          <a:xfrm>
            <a:off x="311040" y="105649"/>
            <a:ext cx="6987715"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Testing Methods:</a:t>
            </a:r>
            <a:endParaRPr lang="en-US" sz="3000" b="1" dirty="0"/>
          </a:p>
        </p:txBody>
      </p:sp>
      <p:sp>
        <p:nvSpPr>
          <p:cNvPr id="4" name="TextBox 3">
            <a:extLst>
              <a:ext uri="{FF2B5EF4-FFF2-40B4-BE49-F238E27FC236}">
                <a16:creationId xmlns:a16="http://schemas.microsoft.com/office/drawing/2014/main" id="{F62A5B42-7C67-B28B-A849-9F9336F91DC2}"/>
              </a:ext>
            </a:extLst>
          </p:cNvPr>
          <p:cNvSpPr txBox="1"/>
          <p:nvPr/>
        </p:nvSpPr>
        <p:spPr>
          <a:xfrm>
            <a:off x="304581" y="659647"/>
            <a:ext cx="11576379" cy="51706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p>
          <a:p>
            <a:r>
              <a:rPr lang="en-US" sz="2400" b="1" dirty="0"/>
              <a:t>Functional Testing:</a:t>
            </a:r>
            <a:r>
              <a:rPr lang="en-US" sz="2400" dirty="0"/>
              <a:t> Ensure all e-commerce features work as intended.</a:t>
            </a:r>
          </a:p>
          <a:p>
            <a:endParaRPr lang="en-US" sz="2400" dirty="0"/>
          </a:p>
          <a:p>
            <a:r>
              <a:rPr lang="en-US" sz="2400" b="1" dirty="0"/>
              <a:t>Usability Testing:</a:t>
            </a:r>
            <a:r>
              <a:rPr lang="en-US" sz="2400" dirty="0"/>
              <a:t> Evaluate user interface and shopping experience.</a:t>
            </a:r>
          </a:p>
          <a:p>
            <a:endParaRPr lang="en-US" sz="2400" dirty="0"/>
          </a:p>
          <a:p>
            <a:r>
              <a:rPr lang="en-US" sz="2400" b="1" dirty="0"/>
              <a:t>Performance Testing:</a:t>
            </a:r>
            <a:r>
              <a:rPr lang="en-US" sz="2400" dirty="0"/>
              <a:t> Assess system responsiveness and scalability.</a:t>
            </a:r>
          </a:p>
          <a:p>
            <a:endParaRPr lang="en-US" sz="2400" dirty="0"/>
          </a:p>
          <a:p>
            <a:r>
              <a:rPr lang="en-US" sz="2400" b="1" dirty="0"/>
              <a:t>Security Testing:</a:t>
            </a:r>
            <a:r>
              <a:rPr lang="en-US" sz="2400" dirty="0"/>
              <a:t> Identify and address vulnerabilities.</a:t>
            </a:r>
          </a:p>
          <a:p>
            <a:endParaRPr lang="en-US" sz="2400" dirty="0"/>
          </a:p>
          <a:p>
            <a:r>
              <a:rPr lang="en-US" sz="2400" b="1" dirty="0"/>
              <a:t>Compatibility Testing:</a:t>
            </a:r>
            <a:r>
              <a:rPr lang="en-US" sz="2400" dirty="0"/>
              <a:t> Verify across browsers and devices.</a:t>
            </a:r>
          </a:p>
          <a:p>
            <a:endParaRPr lang="en-US" sz="2400" dirty="0"/>
          </a:p>
          <a:p>
            <a:r>
              <a:rPr lang="en-US" sz="2400" b="1" dirty="0"/>
              <a:t>Accessibility Testing:</a:t>
            </a:r>
            <a:r>
              <a:rPr lang="en-US" sz="2400" dirty="0"/>
              <a:t> Ensure compliance with accessibility standards.</a:t>
            </a:r>
          </a:p>
          <a:p>
            <a:endParaRPr lang="en-US" sz="2400" dirty="0"/>
          </a:p>
          <a:p>
            <a:r>
              <a:rPr lang="en-US" sz="2400" b="1" dirty="0"/>
              <a:t>Load Testing:</a:t>
            </a:r>
            <a:r>
              <a:rPr lang="en-US" sz="2400" dirty="0"/>
              <a:t> Measure performance under heavy traffic.</a:t>
            </a:r>
          </a:p>
        </p:txBody>
      </p:sp>
      <p:sp>
        <p:nvSpPr>
          <p:cNvPr id="6" name="Slide Number Placeholder 5">
            <a:extLst>
              <a:ext uri="{FF2B5EF4-FFF2-40B4-BE49-F238E27FC236}">
                <a16:creationId xmlns:a16="http://schemas.microsoft.com/office/drawing/2014/main" id="{E255AC3F-5AE4-7D74-0573-C2163E316AFD}"/>
              </a:ext>
            </a:extLst>
          </p:cNvPr>
          <p:cNvSpPr>
            <a:spLocks noGrp="1"/>
          </p:cNvSpPr>
          <p:nvPr>
            <p:ph type="sldNum" sz="quarter" idx="12"/>
          </p:nvPr>
        </p:nvSpPr>
        <p:spPr/>
        <p:txBody>
          <a:bodyPr/>
          <a:lstStyle/>
          <a:p>
            <a:fld id="{330EA680-D336-4FF7-8B7A-9848BB0A1C32}" type="slidenum">
              <a:rPr lang="en-US" smtClean="0"/>
              <a:pPr/>
              <a:t>34</a:t>
            </a:fld>
            <a:endParaRPr lang="en-US"/>
          </a:p>
        </p:txBody>
      </p:sp>
    </p:spTree>
    <p:extLst>
      <p:ext uri="{BB962C8B-B14F-4D97-AF65-F5344CB8AC3E}">
        <p14:creationId xmlns:p14="http://schemas.microsoft.com/office/powerpoint/2010/main" val="31080050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9A4D2B-65CC-6E44-A271-A485E8BFCDAB}"/>
              </a:ext>
            </a:extLst>
          </p:cNvPr>
          <p:cNvSpPr txBox="1"/>
          <p:nvPr/>
        </p:nvSpPr>
        <p:spPr>
          <a:xfrm>
            <a:off x="234623" y="171182"/>
            <a:ext cx="11285863"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a:cs typeface="Times New Roman"/>
              </a:rPr>
              <a:t>Test Cases (Table with following columns)</a:t>
            </a:r>
          </a:p>
        </p:txBody>
      </p:sp>
      <p:graphicFrame>
        <p:nvGraphicFramePr>
          <p:cNvPr id="3" name="Table 2">
            <a:extLst>
              <a:ext uri="{FF2B5EF4-FFF2-40B4-BE49-F238E27FC236}">
                <a16:creationId xmlns:a16="http://schemas.microsoft.com/office/drawing/2014/main" id="{43A60425-3F0C-6293-69A6-4FA043FEB586}"/>
              </a:ext>
            </a:extLst>
          </p:cNvPr>
          <p:cNvGraphicFramePr>
            <a:graphicFrameLocks noGrp="1"/>
          </p:cNvGraphicFramePr>
          <p:nvPr>
            <p:extLst>
              <p:ext uri="{D42A27DB-BD31-4B8C-83A1-F6EECF244321}">
                <p14:modId xmlns:p14="http://schemas.microsoft.com/office/powerpoint/2010/main" val="399559478"/>
              </p:ext>
            </p:extLst>
          </p:nvPr>
        </p:nvGraphicFramePr>
        <p:xfrm>
          <a:off x="304800" y="1066800"/>
          <a:ext cx="10951470" cy="5110471"/>
        </p:xfrm>
        <a:graphic>
          <a:graphicData uri="http://schemas.openxmlformats.org/drawingml/2006/table">
            <a:tbl>
              <a:tblPr firstRow="1" bandRow="1">
                <a:tableStyleId>{5C22544A-7EE6-4342-B048-85BDC9FD1C3A}</a:tableStyleId>
              </a:tblPr>
              <a:tblGrid>
                <a:gridCol w="3650490">
                  <a:extLst>
                    <a:ext uri="{9D8B030D-6E8A-4147-A177-3AD203B41FA5}">
                      <a16:colId xmlns:a16="http://schemas.microsoft.com/office/drawing/2014/main" val="3312124177"/>
                    </a:ext>
                  </a:extLst>
                </a:gridCol>
                <a:gridCol w="3650490">
                  <a:extLst>
                    <a:ext uri="{9D8B030D-6E8A-4147-A177-3AD203B41FA5}">
                      <a16:colId xmlns:a16="http://schemas.microsoft.com/office/drawing/2014/main" val="3717956139"/>
                    </a:ext>
                  </a:extLst>
                </a:gridCol>
                <a:gridCol w="3650490">
                  <a:extLst>
                    <a:ext uri="{9D8B030D-6E8A-4147-A177-3AD203B41FA5}">
                      <a16:colId xmlns:a16="http://schemas.microsoft.com/office/drawing/2014/main" val="1768437551"/>
                    </a:ext>
                  </a:extLst>
                </a:gridCol>
              </a:tblGrid>
              <a:tr h="1227406">
                <a:tc>
                  <a:txBody>
                    <a:bodyPr/>
                    <a:lstStyle/>
                    <a:p>
                      <a:pPr lvl="0">
                        <a:buNone/>
                      </a:pPr>
                      <a:r>
                        <a:rPr lang="en-US" sz="2800" b="1" i="0" u="none" strike="noStrike" noProof="0" dirty="0">
                          <a:solidFill>
                            <a:srgbClr val="0D0D0D"/>
                          </a:solidFill>
                          <a:latin typeface="Times New Roman"/>
                        </a:rPr>
                        <a:t>Purpose</a:t>
                      </a:r>
                      <a:endParaRPr lang="en-US" sz="2800" b="1" dirty="0">
                        <a:latin typeface="Times New Roman"/>
                      </a:endParaRPr>
                    </a:p>
                  </a:txBody>
                  <a:tcPr/>
                </a:tc>
                <a:tc>
                  <a:txBody>
                    <a:bodyPr/>
                    <a:lstStyle/>
                    <a:p>
                      <a:pPr lvl="0">
                        <a:buNone/>
                      </a:pPr>
                      <a:r>
                        <a:rPr lang="en-US" sz="2800" b="1" i="0" u="none" strike="noStrike" noProof="0" dirty="0">
                          <a:solidFill>
                            <a:srgbClr val="0D0D0D"/>
                          </a:solidFill>
                          <a:latin typeface="Times New Roman"/>
                        </a:rPr>
                        <a:t>Required Input</a:t>
                      </a:r>
                      <a:endParaRPr lang="en-US" sz="2800">
                        <a:latin typeface="Times New Roman"/>
                      </a:endParaRPr>
                    </a:p>
                  </a:txBody>
                  <a:tcPr/>
                </a:tc>
                <a:tc>
                  <a:txBody>
                    <a:bodyPr/>
                    <a:lstStyle/>
                    <a:p>
                      <a:pPr lvl="0">
                        <a:buNone/>
                      </a:pPr>
                      <a:r>
                        <a:rPr lang="en-US" sz="2800" b="1" i="0" u="none" strike="noStrike" noProof="0" dirty="0">
                          <a:solidFill>
                            <a:srgbClr val="0D0D0D"/>
                          </a:solidFill>
                          <a:latin typeface="Times New Roman"/>
                        </a:rPr>
                        <a:t>Expected Result</a:t>
                      </a:r>
                      <a:endParaRPr lang="en-US" sz="2800">
                        <a:latin typeface="Times New Roman"/>
                      </a:endParaRPr>
                    </a:p>
                  </a:txBody>
                  <a:tcPr/>
                </a:tc>
                <a:extLst>
                  <a:ext uri="{0D108BD9-81ED-4DB2-BD59-A6C34878D82A}">
                    <a16:rowId xmlns:a16="http://schemas.microsoft.com/office/drawing/2014/main" val="1227012873"/>
                  </a:ext>
                </a:extLst>
              </a:tr>
              <a:tr h="914975">
                <a:tc>
                  <a:txBody>
                    <a:bodyPr/>
                    <a:lstStyle/>
                    <a:p>
                      <a:pPr lvl="0">
                        <a:buNone/>
                      </a:pPr>
                      <a:r>
                        <a:rPr lang="en-US" sz="1900" b="1" i="0" u="none" strike="noStrike" noProof="0" dirty="0">
                          <a:solidFill>
                            <a:srgbClr val="0D0D0D"/>
                          </a:solidFill>
                          <a:latin typeface="Aptos"/>
                        </a:rPr>
                        <a:t>User Login</a:t>
                      </a:r>
                      <a:endParaRPr lang="en-US" sz="1900" b="1" dirty="0"/>
                    </a:p>
                  </a:txBody>
                  <a:tcPr/>
                </a:tc>
                <a:tc>
                  <a:txBody>
                    <a:bodyPr/>
                    <a:lstStyle/>
                    <a:p>
                      <a:pPr lvl="0">
                        <a:buNone/>
                      </a:pPr>
                      <a:r>
                        <a:rPr lang="en-US" sz="1900" b="0" i="0" u="none" strike="noStrike" noProof="0" dirty="0">
                          <a:solidFill>
                            <a:srgbClr val="0D0D0D"/>
                          </a:solidFill>
                          <a:latin typeface="Aptos"/>
                        </a:rPr>
                        <a:t>Username, Password</a:t>
                      </a:r>
                      <a:endParaRPr lang="en-US" sz="1900" dirty="0"/>
                    </a:p>
                  </a:txBody>
                  <a:tcPr/>
                </a:tc>
                <a:tc>
                  <a:txBody>
                    <a:bodyPr/>
                    <a:lstStyle/>
                    <a:p>
                      <a:pPr lvl="0">
                        <a:buNone/>
                      </a:pPr>
                      <a:r>
                        <a:rPr lang="en-US" sz="1900" b="0" i="0" u="none" strike="noStrike" noProof="0" dirty="0">
                          <a:solidFill>
                            <a:srgbClr val="0D0D0D"/>
                          </a:solidFill>
                          <a:latin typeface="Aptos"/>
                        </a:rPr>
                        <a:t>Successful login</a:t>
                      </a:r>
                      <a:endParaRPr lang="en-US" sz="1900" dirty="0"/>
                    </a:p>
                  </a:txBody>
                  <a:tcPr/>
                </a:tc>
                <a:extLst>
                  <a:ext uri="{0D108BD9-81ED-4DB2-BD59-A6C34878D82A}">
                    <a16:rowId xmlns:a16="http://schemas.microsoft.com/office/drawing/2014/main" val="2264232239"/>
                  </a:ext>
                </a:extLst>
              </a:tr>
              <a:tr h="1138140">
                <a:tc>
                  <a:txBody>
                    <a:bodyPr/>
                    <a:lstStyle/>
                    <a:p>
                      <a:pPr lvl="0">
                        <a:buNone/>
                      </a:pPr>
                      <a:endParaRPr lang="en-US" sz="1900" dirty="0"/>
                    </a:p>
                  </a:txBody>
                  <a:tcPr/>
                </a:tc>
                <a:tc>
                  <a:txBody>
                    <a:bodyPr/>
                    <a:lstStyle/>
                    <a:p>
                      <a:pPr lvl="0">
                        <a:buNone/>
                      </a:pPr>
                      <a:r>
                        <a:rPr lang="en-US" sz="1900" b="0" i="0" u="none" strike="noStrike" noProof="0" dirty="0">
                          <a:solidFill>
                            <a:srgbClr val="0D0D0D"/>
                          </a:solidFill>
                          <a:latin typeface="Aptos"/>
                        </a:rPr>
                        <a:t>Incorrect Username/Password</a:t>
                      </a:r>
                      <a:endParaRPr lang="en-US" sz="1900" dirty="0"/>
                    </a:p>
                  </a:txBody>
                  <a:tcPr/>
                </a:tc>
                <a:tc>
                  <a:txBody>
                    <a:bodyPr/>
                    <a:lstStyle/>
                    <a:p>
                      <a:pPr lvl="0">
                        <a:buNone/>
                      </a:pPr>
                      <a:r>
                        <a:rPr lang="en-US" sz="1900" b="0" i="0" u="none" strike="noStrike" noProof="0" dirty="0">
                          <a:solidFill>
                            <a:srgbClr val="0D0D0D"/>
                          </a:solidFill>
                          <a:latin typeface="Aptos"/>
                        </a:rPr>
                        <a:t>Error message displayed</a:t>
                      </a:r>
                      <a:endParaRPr lang="en-US" sz="1900" dirty="0"/>
                    </a:p>
                  </a:txBody>
                  <a:tcPr/>
                </a:tc>
                <a:extLst>
                  <a:ext uri="{0D108BD9-81ED-4DB2-BD59-A6C34878D82A}">
                    <a16:rowId xmlns:a16="http://schemas.microsoft.com/office/drawing/2014/main" val="668431036"/>
                  </a:ext>
                </a:extLst>
              </a:tr>
              <a:tr h="914975">
                <a:tc>
                  <a:txBody>
                    <a:bodyPr/>
                    <a:lstStyle/>
                    <a:p>
                      <a:pPr lvl="0">
                        <a:buNone/>
                      </a:pPr>
                      <a:r>
                        <a:rPr lang="en-US" sz="1900" b="1" i="0" u="none" strike="noStrike" noProof="0" dirty="0">
                          <a:solidFill>
                            <a:srgbClr val="0D0D0D"/>
                          </a:solidFill>
                          <a:latin typeface="Aptos"/>
                        </a:rPr>
                        <a:t>Course Enrollment</a:t>
                      </a:r>
                      <a:endParaRPr lang="en-US" sz="1900" b="1" dirty="0"/>
                    </a:p>
                  </a:txBody>
                  <a:tcPr/>
                </a:tc>
                <a:tc>
                  <a:txBody>
                    <a:bodyPr/>
                    <a:lstStyle/>
                    <a:p>
                      <a:pPr lvl="0">
                        <a:buNone/>
                      </a:pPr>
                      <a:r>
                        <a:rPr lang="en-US" sz="1900" b="0" i="0" u="none" strike="noStrike" noProof="0" dirty="0">
                          <a:solidFill>
                            <a:srgbClr val="0D0D0D"/>
                          </a:solidFill>
                          <a:latin typeface="Aptos"/>
                        </a:rPr>
                        <a:t>Course selection</a:t>
                      </a:r>
                      <a:endParaRPr lang="en-US" sz="1900" dirty="0"/>
                    </a:p>
                  </a:txBody>
                  <a:tcPr/>
                </a:tc>
                <a:tc>
                  <a:txBody>
                    <a:bodyPr/>
                    <a:lstStyle/>
                    <a:p>
                      <a:pPr lvl="0">
                        <a:buNone/>
                      </a:pPr>
                      <a:r>
                        <a:rPr lang="en-US" sz="1900" b="0" i="0" u="none" strike="noStrike" noProof="0" dirty="0">
                          <a:solidFill>
                            <a:srgbClr val="0D0D0D"/>
                          </a:solidFill>
                          <a:latin typeface="Aptos"/>
                        </a:rPr>
                        <a:t>Enrollment confirmation</a:t>
                      </a:r>
                      <a:endParaRPr lang="en-US" sz="1900" dirty="0"/>
                    </a:p>
                  </a:txBody>
                  <a:tcPr/>
                </a:tc>
                <a:extLst>
                  <a:ext uri="{0D108BD9-81ED-4DB2-BD59-A6C34878D82A}">
                    <a16:rowId xmlns:a16="http://schemas.microsoft.com/office/drawing/2014/main" val="3305798370"/>
                  </a:ext>
                </a:extLst>
              </a:tr>
              <a:tr h="914975">
                <a:tc>
                  <a:txBody>
                    <a:bodyPr/>
                    <a:lstStyle/>
                    <a:p>
                      <a:pPr lvl="0">
                        <a:buNone/>
                      </a:pPr>
                      <a:endParaRPr lang="en-US" sz="1900" dirty="0"/>
                    </a:p>
                  </a:txBody>
                  <a:tcPr/>
                </a:tc>
                <a:tc>
                  <a:txBody>
                    <a:bodyPr/>
                    <a:lstStyle/>
                    <a:p>
                      <a:pPr lvl="0">
                        <a:buNone/>
                      </a:pPr>
                      <a:r>
                        <a:rPr lang="en-US" sz="1900" b="0" i="0" u="none" strike="noStrike" noProof="0" dirty="0">
                          <a:solidFill>
                            <a:srgbClr val="0D0D0D"/>
                          </a:solidFill>
                          <a:latin typeface="Aptos"/>
                        </a:rPr>
                        <a:t>Already enrolled in course</a:t>
                      </a:r>
                      <a:endParaRPr lang="en-US" sz="1900" dirty="0"/>
                    </a:p>
                  </a:txBody>
                  <a:tcPr/>
                </a:tc>
                <a:tc>
                  <a:txBody>
                    <a:bodyPr/>
                    <a:lstStyle/>
                    <a:p>
                      <a:pPr lvl="0">
                        <a:buNone/>
                      </a:pPr>
                      <a:r>
                        <a:rPr lang="en-US" sz="1900" b="0" i="0" u="none" strike="noStrike" noProof="0" dirty="0">
                          <a:solidFill>
                            <a:srgbClr val="0D0D0D"/>
                          </a:solidFill>
                          <a:latin typeface="Aptos"/>
                        </a:rPr>
                        <a:t>Error message displayed</a:t>
                      </a:r>
                      <a:endParaRPr lang="en-US" sz="1900" dirty="0"/>
                    </a:p>
                  </a:txBody>
                  <a:tcPr/>
                </a:tc>
                <a:extLst>
                  <a:ext uri="{0D108BD9-81ED-4DB2-BD59-A6C34878D82A}">
                    <a16:rowId xmlns:a16="http://schemas.microsoft.com/office/drawing/2014/main" val="456425775"/>
                  </a:ext>
                </a:extLst>
              </a:tr>
            </a:tbl>
          </a:graphicData>
        </a:graphic>
      </p:graphicFrame>
      <p:sp>
        <p:nvSpPr>
          <p:cNvPr id="8" name="Slide Number Placeholder 7">
            <a:extLst>
              <a:ext uri="{FF2B5EF4-FFF2-40B4-BE49-F238E27FC236}">
                <a16:creationId xmlns:a16="http://schemas.microsoft.com/office/drawing/2014/main" id="{6102A792-1D69-3079-85A9-57F4834BA29A}"/>
              </a:ext>
            </a:extLst>
          </p:cNvPr>
          <p:cNvSpPr>
            <a:spLocks noGrp="1"/>
          </p:cNvSpPr>
          <p:nvPr>
            <p:ph type="sldNum" sz="quarter" idx="12"/>
          </p:nvPr>
        </p:nvSpPr>
        <p:spPr/>
        <p:txBody>
          <a:bodyPr/>
          <a:lstStyle/>
          <a:p>
            <a:fld id="{330EA680-D336-4FF7-8B7A-9848BB0A1C32}" type="slidenum">
              <a:rPr lang="en-US" smtClean="0"/>
              <a:pPr/>
              <a:t>35</a:t>
            </a:fld>
            <a:endParaRPr lang="en-US"/>
          </a:p>
        </p:txBody>
      </p:sp>
    </p:spTree>
    <p:extLst>
      <p:ext uri="{BB962C8B-B14F-4D97-AF65-F5344CB8AC3E}">
        <p14:creationId xmlns:p14="http://schemas.microsoft.com/office/powerpoint/2010/main" val="12949611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B16501-4C23-00BF-B0A9-93500FD6D0AE}"/>
              </a:ext>
            </a:extLst>
          </p:cNvPr>
          <p:cNvSpPr txBox="1"/>
          <p:nvPr/>
        </p:nvSpPr>
        <p:spPr>
          <a:xfrm>
            <a:off x="414067" y="94890"/>
            <a:ext cx="2943434"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Times New Roman"/>
                <a:ea typeface="+mn-ea"/>
                <a:cs typeface="Times New Roman"/>
              </a:rPr>
              <a:t>Limitation:</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TextBox 4">
            <a:extLst>
              <a:ext uri="{FF2B5EF4-FFF2-40B4-BE49-F238E27FC236}">
                <a16:creationId xmlns:a16="http://schemas.microsoft.com/office/drawing/2014/main" id="{7C8F93FD-E1A0-739C-CBD9-B5804059B176}"/>
              </a:ext>
            </a:extLst>
          </p:cNvPr>
          <p:cNvSpPr txBox="1"/>
          <p:nvPr/>
        </p:nvSpPr>
        <p:spPr>
          <a:xfrm>
            <a:off x="310721" y="864328"/>
            <a:ext cx="10839632" cy="5016758"/>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lang="en-US" sz="2000" b="1" dirty="0"/>
              <a:t>Lack of </a:t>
            </a:r>
            <a:r>
              <a:rPr lang="en-US" sz="2000" b="1" dirty="0" err="1"/>
              <a:t>Customization</a:t>
            </a:r>
            <a:r>
              <a:rPr lang="en-US" sz="2000" dirty="0" err="1"/>
              <a:t>:While</a:t>
            </a:r>
            <a:r>
              <a:rPr lang="en-US" sz="2000" dirty="0"/>
              <a:t> users can location and examine furniture fashions of their real surroundings, there seems to be no point out of customization alternatives (like shade, size, and so on.) restricting the personalization of the purchasing experience. </a:t>
            </a: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lang="en-US" sz="2000" b="1" dirty="0"/>
              <a:t>Increased Costs and Channel Conflict: </a:t>
            </a:r>
            <a:r>
              <a:rPr lang="en-US" sz="2000" dirty="0"/>
              <a:t>Implementing eCommerce through VR can be costly. Retailers will have to struggle with this because of the conflict between online sales and brick-and-mortar operations, especially in dealing with shipping and delivery costs.</a:t>
            </a: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lang="en-US" sz="2000" b="1" dirty="0" err="1"/>
              <a:t>imited</a:t>
            </a:r>
            <a:r>
              <a:rPr lang="en-US" sz="2000" b="1" dirty="0"/>
              <a:t> Online Sales: </a:t>
            </a:r>
            <a:r>
              <a:rPr lang="en-US" sz="2000" dirty="0"/>
              <a:t>While VR can simulate a realistic shopping experience, it hasn't significantly boosted online furniture sales. Consumers are hesitant to buy furniture online due to delivery inconveniences and a lack of confidence in purchasing large, costly items without physical interaction.</a:t>
            </a: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lang="en-US" sz="2000" b="1" dirty="0"/>
              <a:t>Limited User Interaction: </a:t>
            </a:r>
            <a:r>
              <a:rPr lang="en-US" sz="2000" dirty="0"/>
              <a:t>Customers might  not get direct control over the virtual environment; they relied on the sales assistant for adjustments. This limited their engagement and interaction with the VR.</a:t>
            </a:r>
          </a:p>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lang="en-US" sz="2000" b="1" dirty="0"/>
              <a:t>Data </a:t>
            </a:r>
            <a:r>
              <a:rPr lang="en-US" sz="2000" b="1" dirty="0" err="1"/>
              <a:t>Storage:</a:t>
            </a:r>
            <a:r>
              <a:rPr lang="en-US" sz="2000" dirty="0" err="1"/>
              <a:t>The</a:t>
            </a:r>
            <a:r>
              <a:rPr lang="en-US" sz="2000" dirty="0"/>
              <a:t> application relies on  for storing user and product data. 3D models and VR requires more robust backend solutions for scalability. It requires a large amount of storage to be loaded</a:t>
            </a:r>
            <a:endParaRPr lang="en-IN" sz="2000" dirty="0"/>
          </a:p>
        </p:txBody>
      </p:sp>
      <p:sp>
        <p:nvSpPr>
          <p:cNvPr id="7" name="Slide Number Placeholder 6">
            <a:extLst>
              <a:ext uri="{FF2B5EF4-FFF2-40B4-BE49-F238E27FC236}">
                <a16:creationId xmlns:a16="http://schemas.microsoft.com/office/drawing/2014/main" id="{5F3301F6-CD83-7F89-EE12-96D537A87524}"/>
              </a:ext>
            </a:extLst>
          </p:cNvPr>
          <p:cNvSpPr>
            <a:spLocks noGrp="1"/>
          </p:cNvSpPr>
          <p:nvPr>
            <p:ph type="sldNum" sz="quarter" idx="12"/>
          </p:nvPr>
        </p:nvSpPr>
        <p:spPr/>
        <p:txBody>
          <a:bodyPr/>
          <a:lstStyle/>
          <a:p>
            <a:fld id="{330EA680-D336-4FF7-8B7A-9848BB0A1C32}" type="slidenum">
              <a:rPr lang="en-US" smtClean="0"/>
              <a:pPr/>
              <a:t>36</a:t>
            </a:fld>
            <a:endParaRPr lang="en-US"/>
          </a:p>
        </p:txBody>
      </p:sp>
    </p:spTree>
    <p:extLst>
      <p:ext uri="{BB962C8B-B14F-4D97-AF65-F5344CB8AC3E}">
        <p14:creationId xmlns:p14="http://schemas.microsoft.com/office/powerpoint/2010/main" val="27940810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B16501-4C23-00BF-B0A9-93500FD6D0AE}"/>
              </a:ext>
            </a:extLst>
          </p:cNvPr>
          <p:cNvSpPr txBox="1"/>
          <p:nvPr/>
        </p:nvSpPr>
        <p:spPr>
          <a:xfrm>
            <a:off x="414067" y="94890"/>
            <a:ext cx="5486823"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Times New Roman"/>
                <a:ea typeface="+mn-ea"/>
                <a:cs typeface="Times New Roman"/>
              </a:rPr>
              <a:t>Future Enhancement:</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Box 3">
            <a:extLst>
              <a:ext uri="{FF2B5EF4-FFF2-40B4-BE49-F238E27FC236}">
                <a16:creationId xmlns:a16="http://schemas.microsoft.com/office/drawing/2014/main" id="{478F2548-2FF7-90E5-E810-3655F5333612}"/>
              </a:ext>
            </a:extLst>
          </p:cNvPr>
          <p:cNvSpPr txBox="1"/>
          <p:nvPr/>
        </p:nvSpPr>
        <p:spPr>
          <a:xfrm>
            <a:off x="414067" y="1061049"/>
            <a:ext cx="11050439" cy="4093428"/>
          </a:xfrm>
          <a:prstGeom prst="rect">
            <a:avLst/>
          </a:prstGeom>
          <a:noFill/>
        </p:spPr>
        <p:txBody>
          <a:bodyPr wrap="square" rtlCol="0">
            <a:spAutoFit/>
          </a:bodyPr>
          <a:lstStyle/>
          <a:p>
            <a:pPr marL="342900" indent="-342900">
              <a:buAutoNum type="arabicPeriod"/>
            </a:pPr>
            <a:r>
              <a:rPr lang="en-US" sz="2000" b="1" dirty="0"/>
              <a:t>Improving Customer Comfort: </a:t>
            </a:r>
            <a:r>
              <a:rPr lang="en-US" sz="2000" dirty="0"/>
              <a:t>Adjustments could be made to increase customer comfort during the VR session, such as offering shorter immersive experiences or ensuring a more private and safe environment.</a:t>
            </a:r>
          </a:p>
          <a:p>
            <a:pPr marL="342900" indent="-342900">
              <a:buAutoNum type="arabicPeriod"/>
            </a:pPr>
            <a:r>
              <a:rPr lang="en-US" sz="2000" b="1" dirty="0"/>
              <a:t>Incorporating More Sensory Feedback: </a:t>
            </a:r>
            <a:r>
              <a:rPr lang="en-US" sz="2000" dirty="0"/>
              <a:t>Expanding the multisensory feedback system (e.g., adding more tactile elements or scents) could make the experience even more immersive.</a:t>
            </a:r>
          </a:p>
          <a:p>
            <a:pPr marL="342900" indent="-342900">
              <a:buAutoNum type="arabicPeriod"/>
            </a:pPr>
            <a:r>
              <a:rPr lang="en-US" sz="2000" b="1" dirty="0"/>
              <a:t>Expanding Product Offerings: </a:t>
            </a:r>
            <a:r>
              <a:rPr lang="en-US" sz="2000" dirty="0"/>
              <a:t>The VR journey could be expanded to include more diverse product ranges, allowing users to configure a broader selection of items that may not be available in-</a:t>
            </a:r>
            <a:r>
              <a:rPr lang="en-US" sz="2000" dirty="0" err="1"/>
              <a:t>store.Enhanced</a:t>
            </a:r>
            <a:r>
              <a:rPr lang="en-US" sz="2000" dirty="0"/>
              <a:t> Model.</a:t>
            </a:r>
          </a:p>
          <a:p>
            <a:pPr marL="342900" indent="-342900">
              <a:buAutoNum type="arabicPeriod"/>
            </a:pPr>
            <a:r>
              <a:rPr lang="en-US" sz="2000" b="1" dirty="0"/>
              <a:t>Quality and Realism: </a:t>
            </a:r>
            <a:r>
              <a:rPr lang="en-US" sz="2000" dirty="0"/>
              <a:t>Support for more complex, higher-resolution models can be introduced to improve realism, especially with better reflection, texture, and lighting control. This would require enhanced hardware support for real-time rendering of detailed 3D models.</a:t>
            </a:r>
          </a:p>
          <a:p>
            <a:pPr marL="342900" indent="-342900">
              <a:buAutoNum type="arabicPeriod"/>
            </a:pPr>
            <a:r>
              <a:rPr lang="en-US" sz="2000" b="1" dirty="0"/>
              <a:t>Offline Functionality: </a:t>
            </a:r>
            <a:r>
              <a:rPr lang="en-US" sz="2000" dirty="0"/>
              <a:t>Allowing some offline functionality or downloading selected 3D models for offline use could improve usability in areas with limited connectivity</a:t>
            </a:r>
            <a:endParaRPr lang="en-IN" sz="2000" dirty="0"/>
          </a:p>
        </p:txBody>
      </p:sp>
      <p:sp>
        <p:nvSpPr>
          <p:cNvPr id="6" name="Slide Number Placeholder 5">
            <a:extLst>
              <a:ext uri="{FF2B5EF4-FFF2-40B4-BE49-F238E27FC236}">
                <a16:creationId xmlns:a16="http://schemas.microsoft.com/office/drawing/2014/main" id="{CF0AF8BA-0268-532C-29F0-67E628D7ECC2}"/>
              </a:ext>
            </a:extLst>
          </p:cNvPr>
          <p:cNvSpPr>
            <a:spLocks noGrp="1"/>
          </p:cNvSpPr>
          <p:nvPr>
            <p:ph type="sldNum" sz="quarter" idx="12"/>
          </p:nvPr>
        </p:nvSpPr>
        <p:spPr/>
        <p:txBody>
          <a:bodyPr/>
          <a:lstStyle/>
          <a:p>
            <a:fld id="{330EA680-D336-4FF7-8B7A-9848BB0A1C32}" type="slidenum">
              <a:rPr lang="en-US" smtClean="0"/>
              <a:pPr/>
              <a:t>37</a:t>
            </a:fld>
            <a:endParaRPr lang="en-US"/>
          </a:p>
        </p:txBody>
      </p:sp>
    </p:spTree>
    <p:extLst>
      <p:ext uri="{BB962C8B-B14F-4D97-AF65-F5344CB8AC3E}">
        <p14:creationId xmlns:p14="http://schemas.microsoft.com/office/powerpoint/2010/main" val="250707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B16501-4C23-00BF-B0A9-93500FD6D0AE}"/>
              </a:ext>
            </a:extLst>
          </p:cNvPr>
          <p:cNvSpPr txBox="1"/>
          <p:nvPr/>
        </p:nvSpPr>
        <p:spPr>
          <a:xfrm>
            <a:off x="414067" y="94890"/>
            <a:ext cx="3070071"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Times New Roman"/>
                <a:ea typeface="+mn-ea"/>
                <a:cs typeface="Times New Roman"/>
              </a:rPr>
              <a:t>Conclusion:</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Box 3">
            <a:extLst>
              <a:ext uri="{FF2B5EF4-FFF2-40B4-BE49-F238E27FC236}">
                <a16:creationId xmlns:a16="http://schemas.microsoft.com/office/drawing/2014/main" id="{26ECFF5E-3A81-F336-9CFF-E6BF87AAF03B}"/>
              </a:ext>
            </a:extLst>
          </p:cNvPr>
          <p:cNvSpPr txBox="1"/>
          <p:nvPr/>
        </p:nvSpPr>
        <p:spPr>
          <a:xfrm>
            <a:off x="414067" y="864332"/>
            <a:ext cx="10939733" cy="5909310"/>
          </a:xfrm>
          <a:prstGeom prst="rect">
            <a:avLst/>
          </a:prstGeom>
          <a:noFill/>
        </p:spPr>
        <p:txBody>
          <a:bodyPr wrap="square" rtlCol="0">
            <a:spAutoFit/>
          </a:bodyPr>
          <a:lstStyle/>
          <a:p>
            <a:pPr marL="285750" indent="-285750">
              <a:buFont typeface="Arial" panose="020B0604020202020204" pitchFamily="34" charset="0"/>
              <a:buChar char="•"/>
            </a:pPr>
            <a:r>
              <a:rPr lang="en-US" b="1" dirty="0"/>
              <a:t>Enhanced Visualization: </a:t>
            </a:r>
            <a:r>
              <a:rPr lang="en-US" dirty="0"/>
              <a:t>VR offers valuable tools for visualizing furniture in realistic settings, allowing customers to explore designs, colors, and room layouts virtually.</a:t>
            </a:r>
          </a:p>
          <a:p>
            <a:pPr marL="285750" indent="-285750">
              <a:buFont typeface="Arial" panose="020B0604020202020204" pitchFamily="34" charset="0"/>
              <a:buChar char="•"/>
            </a:pPr>
            <a:r>
              <a:rPr lang="en-US" b="1" dirty="0"/>
              <a:t>Lack of Tactile Feedback: </a:t>
            </a:r>
            <a:r>
              <a:rPr lang="en-US" dirty="0"/>
              <a:t>One of the major limitations of VR is the inability to provide physical sensations like comfort or material texture, essential for furniture buying.</a:t>
            </a:r>
          </a:p>
          <a:p>
            <a:pPr marL="285750" indent="-285750">
              <a:buFont typeface="Arial" panose="020B0604020202020204" pitchFamily="34" charset="0"/>
              <a:buChar char="•"/>
            </a:pPr>
            <a:r>
              <a:rPr lang="en-US" b="1" dirty="0"/>
              <a:t>High Implementation Costs: </a:t>
            </a:r>
            <a:r>
              <a:rPr lang="en-US" dirty="0"/>
              <a:t>The setup and maintenance of VR systems in the furniture industry are costly, posing challenges, especially for smaller retailers.</a:t>
            </a:r>
          </a:p>
          <a:p>
            <a:pPr marL="285750" indent="-285750">
              <a:buFont typeface="Arial" panose="020B0604020202020204" pitchFamily="34" charset="0"/>
              <a:buChar char="•"/>
            </a:pPr>
            <a:r>
              <a:rPr lang="en-US" b="1" dirty="0"/>
              <a:t>Potential for Future Growth:</a:t>
            </a:r>
            <a:r>
              <a:rPr lang="en-US" dirty="0"/>
              <a:t> With advancements in technology and better integration with physical retail, VR could eventually become a more effective tool for improving customer experience and operational efficiency.</a:t>
            </a:r>
          </a:p>
          <a:p>
            <a:pPr marL="285750" indent="-285750">
              <a:buFont typeface="Arial" panose="020B0604020202020204" pitchFamily="34" charset="0"/>
              <a:buChar char="•"/>
            </a:pPr>
            <a:r>
              <a:rPr lang="en-US" b="1" dirty="0"/>
              <a:t>Entrepreneurial Benefits: </a:t>
            </a:r>
            <a:r>
              <a:rPr lang="en-US" dirty="0"/>
              <a:t>The system reduces the need for large inventories and store space, making it cost-effective for retailers without compromising the sensory in-store experience.</a:t>
            </a:r>
          </a:p>
          <a:p>
            <a:pPr marL="285750" indent="-285750">
              <a:buFont typeface="Arial" panose="020B0604020202020204" pitchFamily="34" charset="0"/>
              <a:buChar char="•"/>
            </a:pPr>
            <a:r>
              <a:rPr lang="en-US" b="1" dirty="0"/>
              <a:t>Enhanced Decision-Making:</a:t>
            </a:r>
            <a:r>
              <a:rPr lang="en-US" dirty="0"/>
              <a:t> VR will allow customers to experience products that  not physically available in the store, improving their confidence in purchase decisions through better visualization of spatial configurations and material combinations.</a:t>
            </a:r>
          </a:p>
          <a:p>
            <a:endParaRPr lang="en-US" dirty="0"/>
          </a:p>
          <a:p>
            <a:r>
              <a:rPr lang="en-US" dirty="0"/>
              <a:t>In conclusion, while virtual reality (VR) offers significant potential for enhancing the furniture shopping experience through visual simulations and customization, its current limitations—such as the lack of tactile interaction, high implementation costs, and slow adoption in the home furniture sector—restrict its full effectiveness. Future developments in VR, like better integration with physical experiences and streamlined e-commerce solutions, could help overcome these barriers, offering a more immersive and efficient furniture buying process</a:t>
            </a:r>
            <a:endParaRPr lang="en-IN" dirty="0"/>
          </a:p>
        </p:txBody>
      </p:sp>
      <p:sp>
        <p:nvSpPr>
          <p:cNvPr id="6" name="Slide Number Placeholder 5">
            <a:extLst>
              <a:ext uri="{FF2B5EF4-FFF2-40B4-BE49-F238E27FC236}">
                <a16:creationId xmlns:a16="http://schemas.microsoft.com/office/drawing/2014/main" id="{1065275C-FEF9-2C9A-05D0-1E21189364AD}"/>
              </a:ext>
            </a:extLst>
          </p:cNvPr>
          <p:cNvSpPr>
            <a:spLocks noGrp="1"/>
          </p:cNvSpPr>
          <p:nvPr>
            <p:ph type="sldNum" sz="quarter" idx="12"/>
          </p:nvPr>
        </p:nvSpPr>
        <p:spPr/>
        <p:txBody>
          <a:bodyPr/>
          <a:lstStyle/>
          <a:p>
            <a:fld id="{330EA680-D336-4FF7-8B7A-9848BB0A1C32}" type="slidenum">
              <a:rPr lang="en-US" smtClean="0"/>
              <a:pPr/>
              <a:t>38</a:t>
            </a:fld>
            <a:endParaRPr lang="en-US"/>
          </a:p>
        </p:txBody>
      </p:sp>
    </p:spTree>
    <p:extLst>
      <p:ext uri="{BB962C8B-B14F-4D97-AF65-F5344CB8AC3E}">
        <p14:creationId xmlns:p14="http://schemas.microsoft.com/office/powerpoint/2010/main" val="18025400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B16501-4C23-00BF-B0A9-93500FD6D0AE}"/>
              </a:ext>
            </a:extLst>
          </p:cNvPr>
          <p:cNvSpPr txBox="1"/>
          <p:nvPr/>
        </p:nvSpPr>
        <p:spPr>
          <a:xfrm>
            <a:off x="414067" y="94890"/>
            <a:ext cx="2990947"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Times New Roman"/>
                <a:ea typeface="+mn-ea"/>
                <a:cs typeface="Times New Roman"/>
              </a:rPr>
              <a:t>References:</a:t>
            </a: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Box 3">
            <a:extLst>
              <a:ext uri="{FF2B5EF4-FFF2-40B4-BE49-F238E27FC236}">
                <a16:creationId xmlns:a16="http://schemas.microsoft.com/office/drawing/2014/main" id="{17356D1B-8D2F-8080-0A1D-BBA64B592E3B}"/>
              </a:ext>
            </a:extLst>
          </p:cNvPr>
          <p:cNvSpPr txBox="1"/>
          <p:nvPr/>
        </p:nvSpPr>
        <p:spPr>
          <a:xfrm>
            <a:off x="414067" y="864330"/>
            <a:ext cx="11490386" cy="3917034"/>
          </a:xfrm>
          <a:prstGeom prst="rect">
            <a:avLst/>
          </a:prstGeom>
          <a:noFill/>
        </p:spPr>
        <p:txBody>
          <a:bodyPr wrap="square" numCol="1" rtlCol="0">
            <a:spAutoFit/>
          </a:bodyPr>
          <a:lstStyle/>
          <a:p>
            <a:pPr marL="285750" indent="-285750">
              <a:lnSpc>
                <a:spcPct val="150000"/>
              </a:lnSpc>
              <a:buFont typeface="Arial" panose="020B0604020202020204" pitchFamily="34" charset="0"/>
              <a:buChar char="•"/>
            </a:pPr>
            <a:r>
              <a:rPr lang="en-US" sz="2400" b="1" dirty="0"/>
              <a:t>Reference 1: </a:t>
            </a:r>
            <a:r>
              <a:rPr lang="en-IN" sz="2400" dirty="0">
                <a:hlinkClick r:id="rId2"/>
              </a:rPr>
              <a:t>Yoon_VR_furniture-libre.pdf (d1wqtxts1xzle7.cloudfront.net)</a:t>
            </a:r>
            <a:endParaRPr lang="en-IN" sz="2400" dirty="0"/>
          </a:p>
          <a:p>
            <a:pPr marL="285750" indent="-285750">
              <a:lnSpc>
                <a:spcPct val="150000"/>
              </a:lnSpc>
              <a:buFont typeface="Arial" panose="020B0604020202020204" pitchFamily="34" charset="0"/>
              <a:buChar char="•"/>
            </a:pPr>
            <a:r>
              <a:rPr lang="en-IN" sz="2400" b="1" dirty="0"/>
              <a:t>Reference 2: </a:t>
            </a:r>
            <a:r>
              <a:rPr lang="en-US" sz="2400" dirty="0">
                <a:hlinkClick r:id="rId3"/>
              </a:rPr>
              <a:t>furnished_an_augmented_reality_based_approach_IJERTV10IS050253-libre.pdf (d1wqtxts1xzle7.cloudfront.net)</a:t>
            </a:r>
            <a:endParaRPr lang="en-US" sz="2400" dirty="0"/>
          </a:p>
          <a:p>
            <a:pPr marL="285750" indent="-285750">
              <a:lnSpc>
                <a:spcPct val="150000"/>
              </a:lnSpc>
              <a:buFont typeface="Arial" panose="020B0604020202020204" pitchFamily="34" charset="0"/>
              <a:buChar char="•"/>
            </a:pPr>
            <a:r>
              <a:rPr lang="en-US" sz="2400" b="1" dirty="0"/>
              <a:t>Reference 3: </a:t>
            </a:r>
            <a:r>
              <a:rPr lang="en-US" sz="2400" dirty="0">
                <a:hlinkClick r:id="rId4"/>
              </a:rPr>
              <a:t>Future Internet | Free Full-Text | A Multi-Sensory In-Store Virtual Reality Customer Journey for Retailing: A Field Study in a Furniture Flagship Store (mdpi.com)</a:t>
            </a:r>
            <a:endParaRPr lang="en-IN" sz="2400" b="1" dirty="0"/>
          </a:p>
        </p:txBody>
      </p:sp>
      <p:sp>
        <p:nvSpPr>
          <p:cNvPr id="6" name="Slide Number Placeholder 5">
            <a:extLst>
              <a:ext uri="{FF2B5EF4-FFF2-40B4-BE49-F238E27FC236}">
                <a16:creationId xmlns:a16="http://schemas.microsoft.com/office/drawing/2014/main" id="{490E2F2D-69BE-FFF5-7BC2-FE771218FAA6}"/>
              </a:ext>
            </a:extLst>
          </p:cNvPr>
          <p:cNvSpPr>
            <a:spLocks noGrp="1"/>
          </p:cNvSpPr>
          <p:nvPr>
            <p:ph type="sldNum" sz="quarter" idx="12"/>
          </p:nvPr>
        </p:nvSpPr>
        <p:spPr/>
        <p:txBody>
          <a:bodyPr/>
          <a:lstStyle/>
          <a:p>
            <a:fld id="{330EA680-D336-4FF7-8B7A-9848BB0A1C32}" type="slidenum">
              <a:rPr lang="en-US" smtClean="0"/>
              <a:pPr/>
              <a:t>39</a:t>
            </a:fld>
            <a:endParaRPr lang="en-US"/>
          </a:p>
        </p:txBody>
      </p:sp>
    </p:spTree>
    <p:extLst>
      <p:ext uri="{BB962C8B-B14F-4D97-AF65-F5344CB8AC3E}">
        <p14:creationId xmlns:p14="http://schemas.microsoft.com/office/powerpoint/2010/main" val="39924979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270</TotalTime>
  <Words>2393</Words>
  <Application>Microsoft Office PowerPoint</Application>
  <PresentationFormat>Widescreen</PresentationFormat>
  <Paragraphs>322</Paragraphs>
  <Slides>39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Aptos</vt:lpstr>
      <vt:lpstr>Aptos Display</vt:lpstr>
      <vt:lpstr>Arial</vt:lpstr>
      <vt:lpstr>Arial,Sans-Serif</vt:lpstr>
      <vt:lpstr>Calibri</vt:lpstr>
      <vt:lpstr>Segoe UI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Assumptions</vt:lpstr>
      <vt:lpstr>Dependencies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krunal shah</dc:creator>
  <cp:lastModifiedBy>Het patel</cp:lastModifiedBy>
  <cp:revision>19</cp:revision>
  <dcterms:created xsi:type="dcterms:W3CDTF">2024-09-12T08:32:15Z</dcterms:created>
  <dcterms:modified xsi:type="dcterms:W3CDTF">2024-10-04T12:23:37Z</dcterms:modified>
</cp:coreProperties>
</file>