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5"/>
  </p:notesMasterIdLst>
  <p:sldIdLst>
    <p:sldId id="256" r:id="rId2"/>
    <p:sldId id="257" r:id="rId3"/>
    <p:sldId id="258" r:id="rId4"/>
    <p:sldId id="264" r:id="rId5"/>
    <p:sldId id="259" r:id="rId6"/>
    <p:sldId id="260" r:id="rId7"/>
    <p:sldId id="261" r:id="rId8"/>
    <p:sldId id="262" r:id="rId9"/>
    <p:sldId id="263" r:id="rId10"/>
    <p:sldId id="265" r:id="rId11"/>
    <p:sldId id="266" r:id="rId12"/>
    <p:sldId id="287" r:id="rId13"/>
    <p:sldId id="288" r:id="rId14"/>
    <p:sldId id="268" r:id="rId15"/>
    <p:sldId id="295" r:id="rId16"/>
    <p:sldId id="272" r:id="rId17"/>
    <p:sldId id="271" r:id="rId18"/>
    <p:sldId id="269" r:id="rId19"/>
    <p:sldId id="270" r:id="rId20"/>
    <p:sldId id="296" r:id="rId21"/>
    <p:sldId id="274" r:id="rId22"/>
    <p:sldId id="286" r:id="rId23"/>
    <p:sldId id="275" r:id="rId24"/>
    <p:sldId id="297" r:id="rId25"/>
    <p:sldId id="278" r:id="rId26"/>
    <p:sldId id="276" r:id="rId27"/>
    <p:sldId id="285" r:id="rId28"/>
    <p:sldId id="298" r:id="rId29"/>
    <p:sldId id="302" r:id="rId30"/>
    <p:sldId id="303" r:id="rId31"/>
    <p:sldId id="304" r:id="rId32"/>
    <p:sldId id="305" r:id="rId33"/>
    <p:sldId id="306" r:id="rId34"/>
    <p:sldId id="307" r:id="rId35"/>
    <p:sldId id="314" r:id="rId36"/>
    <p:sldId id="279" r:id="rId37"/>
    <p:sldId id="280" r:id="rId38"/>
    <p:sldId id="281" r:id="rId39"/>
    <p:sldId id="284" r:id="rId40"/>
    <p:sldId id="289" r:id="rId41"/>
    <p:sldId id="290" r:id="rId42"/>
    <p:sldId id="291" r:id="rId43"/>
    <p:sldId id="29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370FAB-6B14-445A-ADF5-640F8E1B201E}">
          <p14:sldIdLst>
            <p14:sldId id="256"/>
          </p14:sldIdLst>
        </p14:section>
        <p14:section name="Untitled Section" id="{6F002C25-F9E9-41FF-AAD4-33BB0C55364C}">
          <p14:sldIdLst>
            <p14:sldId id="257"/>
            <p14:sldId id="258"/>
            <p14:sldId id="264"/>
            <p14:sldId id="259"/>
            <p14:sldId id="260"/>
            <p14:sldId id="261"/>
            <p14:sldId id="262"/>
            <p14:sldId id="263"/>
            <p14:sldId id="265"/>
            <p14:sldId id="266"/>
            <p14:sldId id="287"/>
            <p14:sldId id="288"/>
            <p14:sldId id="268"/>
            <p14:sldId id="295"/>
            <p14:sldId id="272"/>
            <p14:sldId id="271"/>
            <p14:sldId id="269"/>
            <p14:sldId id="270"/>
            <p14:sldId id="296"/>
            <p14:sldId id="274"/>
            <p14:sldId id="286"/>
            <p14:sldId id="275"/>
            <p14:sldId id="297"/>
            <p14:sldId id="278"/>
            <p14:sldId id="276"/>
            <p14:sldId id="285"/>
            <p14:sldId id="298"/>
            <p14:sldId id="302"/>
            <p14:sldId id="303"/>
            <p14:sldId id="304"/>
            <p14:sldId id="305"/>
            <p14:sldId id="306"/>
            <p14:sldId id="307"/>
            <p14:sldId id="314"/>
            <p14:sldId id="279"/>
            <p14:sldId id="280"/>
            <p14:sldId id="281"/>
            <p14:sldId id="284"/>
          </p14:sldIdLst>
        </p14:section>
        <p14:section name="Untitled Section" id="{2622E203-3958-4114-8DC7-BACCB008B186}">
          <p14:sldIdLst>
            <p14:sldId id="289"/>
            <p14:sldId id="290"/>
            <p14:sldId id="291"/>
            <p14:sldId id="29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6" d="100"/>
          <a:sy n="86" d="100"/>
        </p:scale>
        <p:origin x="331"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E61F8B-C0DE-4382-A31D-E5B74A40E51A}" type="datetimeFigureOut">
              <a:rPr lang="en-IN" smtClean="0"/>
              <a:pPr/>
              <a:t>30/10/2024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027E7C-0007-4D3B-89B9-89C361503B6C}" type="slidenum">
              <a:rPr lang="en-IN" smtClean="0"/>
              <a:pPr/>
              <a:t>‹#›</a:t>
            </a:fld>
            <a:endParaRPr lang="en-IN"/>
          </a:p>
        </p:txBody>
      </p:sp>
    </p:spTree>
    <p:extLst>
      <p:ext uri="{BB962C8B-B14F-4D97-AF65-F5344CB8AC3E}">
        <p14:creationId xmlns:p14="http://schemas.microsoft.com/office/powerpoint/2010/main" val="2199364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AE4D93-0E2F-40E6-B0D1-AE04789DB27B}" type="datetime1">
              <a:rPr lang="en-US" smtClean="0"/>
              <a:pPr/>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DF0105-F7BB-4557-857E-671300F2B486}" type="datetime1">
              <a:rPr lang="en-US" smtClean="0"/>
              <a:pPr/>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DAB649-B823-4D2A-A25E-F03FC7586A6D}" type="datetime1">
              <a:rPr lang="en-US" smtClean="0"/>
              <a:pPr/>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6F693F-7E91-4272-B105-55076AD81529}" type="datetime1">
              <a:rPr lang="en-US" smtClean="0"/>
              <a:pPr/>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2E967D-6B4C-4E27-B7AE-78061516A6F0}" type="datetime1">
              <a:rPr lang="en-US" smtClean="0"/>
              <a:pPr/>
              <a:t>10/30/2024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DCA578-D37D-4B8B-99BC-536187B60284}" type="datetime1">
              <a:rPr lang="en-US" smtClean="0"/>
              <a:pPr/>
              <a:t>10/30/2024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14B53D-C7DF-4957-8191-16060EA46E7B}" type="datetime1">
              <a:rPr lang="en-US" smtClean="0"/>
              <a:pPr/>
              <a:t>10/30/2024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6E79D8-6600-41D9-85C2-595C77159EB1}" type="datetime1">
              <a:rPr lang="en-US" smtClean="0"/>
              <a:pPr/>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1671B0-D638-4D1C-A9A3-318E37E12B1A}" type="datetime1">
              <a:rPr lang="en-US" smtClean="0"/>
              <a:pPr/>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D6DC3A-84E6-4C76-9E74-A1236E69F342}" type="datetime1">
              <a:rPr lang="en-US" smtClean="0"/>
              <a:pPr/>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228470-F9AD-407D-A482-5989A97C4820}" type="datetime1">
              <a:rPr lang="en-US" smtClean="0"/>
              <a:pPr/>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293F59-503E-4BBF-AC52-C13CC6324893}" type="datetime1">
              <a:rPr lang="en-US" smtClean="0"/>
              <a:pPr/>
              <a:t>10/30/2024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www.researchgate.net/profile/Noha-Nagaiti/publication/376472315_Applying_Modern_Interactive_Techniques_to_Interior_Designing_of_Home_Furniture_Stores/links/65bbef831bed776ae31ccccd/Applying-Modern-Interactive-Techniques-to-Interior-Designing-of-Home-Furniture-Stores.pdf" TargetMode="External"/><Relationship Id="rId2" Type="http://schemas.openxmlformats.org/officeDocument/2006/relationships/hyperlink" Target="https://journal.ugm.ac.id/ijccs/article/view/69570"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ogo of a university&#10;&#10;Description automatically generated">
            <a:extLst>
              <a:ext uri="{FF2B5EF4-FFF2-40B4-BE49-F238E27FC236}">
                <a16:creationId xmlns:a16="http://schemas.microsoft.com/office/drawing/2014/main" id="{DEABC28D-8C05-FDE0-EDA1-67D236EBB543}"/>
              </a:ext>
            </a:extLst>
          </p:cNvPr>
          <p:cNvPicPr>
            <a:picLocks noChangeAspect="1"/>
          </p:cNvPicPr>
          <p:nvPr/>
        </p:nvPicPr>
        <p:blipFill>
          <a:blip r:embed="rId2" cstate="print"/>
          <a:stretch>
            <a:fillRect/>
          </a:stretch>
        </p:blipFill>
        <p:spPr>
          <a:xfrm>
            <a:off x="428624" y="145011"/>
            <a:ext cx="1687064" cy="1788401"/>
          </a:xfrm>
          <a:prstGeom prst="rect">
            <a:avLst/>
          </a:prstGeom>
        </p:spPr>
      </p:pic>
      <p:pic>
        <p:nvPicPr>
          <p:cNvPr id="8" name="Picture 7" descr="A logo with different types of objects&#10;&#10;Description automatically generated">
            <a:extLst>
              <a:ext uri="{FF2B5EF4-FFF2-40B4-BE49-F238E27FC236}">
                <a16:creationId xmlns:a16="http://schemas.microsoft.com/office/drawing/2014/main" id="{EB2A400E-ABDC-41FD-E033-07A421615E3E}"/>
              </a:ext>
            </a:extLst>
          </p:cNvPr>
          <p:cNvPicPr>
            <a:picLocks noChangeAspect="1"/>
          </p:cNvPicPr>
          <p:nvPr/>
        </p:nvPicPr>
        <p:blipFill>
          <a:blip r:embed="rId3" cstate="print"/>
          <a:stretch>
            <a:fillRect/>
          </a:stretch>
        </p:blipFill>
        <p:spPr>
          <a:xfrm>
            <a:off x="9662846" y="149772"/>
            <a:ext cx="2116623" cy="1778876"/>
          </a:xfrm>
          <a:prstGeom prst="rect">
            <a:avLst/>
          </a:prstGeom>
        </p:spPr>
      </p:pic>
      <p:sp>
        <p:nvSpPr>
          <p:cNvPr id="9" name="TextBox 8">
            <a:extLst>
              <a:ext uri="{FF2B5EF4-FFF2-40B4-BE49-F238E27FC236}">
                <a16:creationId xmlns:a16="http://schemas.microsoft.com/office/drawing/2014/main" id="{408FB983-62BA-4A74-1936-C79D498E4793}"/>
              </a:ext>
            </a:extLst>
          </p:cNvPr>
          <p:cNvSpPr txBox="1"/>
          <p:nvPr/>
        </p:nvSpPr>
        <p:spPr>
          <a:xfrm>
            <a:off x="1788559" y="2419653"/>
            <a:ext cx="863174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t>NextGen Furnishings &amp; Digital Store</a:t>
            </a:r>
          </a:p>
        </p:txBody>
      </p:sp>
      <p:sp>
        <p:nvSpPr>
          <p:cNvPr id="10" name="TextBox 9">
            <a:extLst>
              <a:ext uri="{FF2B5EF4-FFF2-40B4-BE49-F238E27FC236}">
                <a16:creationId xmlns:a16="http://schemas.microsoft.com/office/drawing/2014/main" id="{7ADEA465-7A0E-3C7D-6D4B-524B21061D17}"/>
              </a:ext>
            </a:extLst>
          </p:cNvPr>
          <p:cNvSpPr txBox="1"/>
          <p:nvPr/>
        </p:nvSpPr>
        <p:spPr>
          <a:xfrm>
            <a:off x="6104433" y="3563190"/>
            <a:ext cx="6473237"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Arial" pitchFamily="34" charset="0"/>
                <a:cs typeface="Arial" pitchFamily="34" charset="0"/>
              </a:rPr>
              <a:t>Internal Guide:</a:t>
            </a:r>
          </a:p>
          <a:p>
            <a:r>
              <a:rPr lang="en-US" dirty="0" err="1">
                <a:latin typeface="Arial" pitchFamily="34" charset="0"/>
                <a:cs typeface="Arial" pitchFamily="34" charset="0"/>
              </a:rPr>
              <a:t>Prof.</a:t>
            </a:r>
            <a:r>
              <a:rPr lang="en-US" dirty="0" err="1">
                <a:solidFill>
                  <a:srgbClr val="2F2F2F"/>
                </a:solidFill>
                <a:latin typeface="Arial" pitchFamily="34" charset="0"/>
                <a:cs typeface="Arial" pitchFamily="34" charset="0"/>
              </a:rPr>
              <a:t>Asiya</a:t>
            </a:r>
            <a:r>
              <a:rPr lang="en-US" dirty="0">
                <a:solidFill>
                  <a:srgbClr val="2F2F2F"/>
                </a:solidFill>
                <a:latin typeface="Arial" pitchFamily="34" charset="0"/>
                <a:cs typeface="Arial" pitchFamily="34" charset="0"/>
              </a:rPr>
              <a:t> </a:t>
            </a:r>
            <a:r>
              <a:rPr lang="en-US" dirty="0" err="1">
                <a:solidFill>
                  <a:srgbClr val="2F2F2F"/>
                </a:solidFill>
                <a:latin typeface="Arial" pitchFamily="34" charset="0"/>
                <a:cs typeface="Arial" pitchFamily="34" charset="0"/>
              </a:rPr>
              <a:t>Durani</a:t>
            </a:r>
            <a:endParaRPr lang="en-US" dirty="0">
              <a:latin typeface="Arial" pitchFamily="34" charset="0"/>
              <a:cs typeface="Arial" pitchFamily="34" charset="0"/>
            </a:endParaRPr>
          </a:p>
          <a:p>
            <a:r>
              <a:rPr lang="en-US" dirty="0">
                <a:latin typeface="Arial" pitchFamily="34" charset="0"/>
                <a:cs typeface="Arial" pitchFamily="34" charset="0"/>
              </a:rPr>
              <a:t>Assistant Professor (CSE Department)</a:t>
            </a:r>
          </a:p>
          <a:p>
            <a:r>
              <a:rPr lang="en-US" dirty="0">
                <a:latin typeface="Arial" pitchFamily="34" charset="0"/>
                <a:cs typeface="Arial" pitchFamily="34" charset="0"/>
              </a:rPr>
              <a:t>New L J Institute of Engineering &amp; Technology, Ahmedabad</a:t>
            </a:r>
          </a:p>
          <a:p>
            <a:br>
              <a:rPr lang="en-US" dirty="0">
                <a:latin typeface="Arial" pitchFamily="34" charset="0"/>
                <a:cs typeface="Arial" pitchFamily="34" charset="0"/>
              </a:rPr>
            </a:br>
            <a:endParaRPr lang="en-US" dirty="0">
              <a:latin typeface="Arial" pitchFamily="34" charset="0"/>
              <a:cs typeface="Arial" pitchFamily="34" charset="0"/>
            </a:endParaRPr>
          </a:p>
        </p:txBody>
      </p:sp>
      <p:sp>
        <p:nvSpPr>
          <p:cNvPr id="11" name="TextBox 10">
            <a:extLst>
              <a:ext uri="{FF2B5EF4-FFF2-40B4-BE49-F238E27FC236}">
                <a16:creationId xmlns:a16="http://schemas.microsoft.com/office/drawing/2014/main" id="{D0EFAD3C-4CB5-CA54-0E5E-DDE89291B1D3}"/>
              </a:ext>
            </a:extLst>
          </p:cNvPr>
          <p:cNvSpPr txBox="1"/>
          <p:nvPr/>
        </p:nvSpPr>
        <p:spPr>
          <a:xfrm>
            <a:off x="0" y="3567954"/>
            <a:ext cx="6104433" cy="3200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Arial" pitchFamily="34" charset="0"/>
                <a:cs typeface="Arial" pitchFamily="34" charset="0"/>
              </a:rPr>
              <a:t>Submitted By:</a:t>
            </a:r>
          </a:p>
          <a:p>
            <a:r>
              <a:rPr lang="en-IN" dirty="0">
                <a:latin typeface="Arial" pitchFamily="34" charset="0"/>
                <a:cs typeface="Arial" pitchFamily="34" charset="0"/>
              </a:rPr>
              <a:t>Patel Het </a:t>
            </a:r>
            <a:r>
              <a:rPr lang="en-IN" dirty="0" err="1">
                <a:latin typeface="Arial" pitchFamily="34" charset="0"/>
                <a:cs typeface="Arial" pitchFamily="34" charset="0"/>
              </a:rPr>
              <a:t>Ashokkumar</a:t>
            </a:r>
            <a:r>
              <a:rPr lang="en-IN" dirty="0">
                <a:latin typeface="Arial" pitchFamily="34" charset="0"/>
                <a:cs typeface="Arial" pitchFamily="34" charset="0"/>
              </a:rPr>
              <a:t> </a:t>
            </a:r>
            <a:r>
              <a:rPr lang="en-US" dirty="0">
                <a:latin typeface="Arial" pitchFamily="34" charset="0"/>
                <a:ea typeface="+mn-lt"/>
                <a:cs typeface="Arial" pitchFamily="34" charset="0"/>
              </a:rPr>
              <a:t>(</a:t>
            </a:r>
            <a:r>
              <a:rPr lang="en-IN" dirty="0">
                <a:latin typeface="Arial" pitchFamily="34" charset="0"/>
                <a:cs typeface="Arial" pitchFamily="34" charset="0"/>
              </a:rPr>
              <a:t>221430131075</a:t>
            </a:r>
            <a:r>
              <a:rPr lang="en-US" dirty="0">
                <a:latin typeface="Arial" pitchFamily="34" charset="0"/>
                <a:ea typeface="+mn-lt"/>
                <a:cs typeface="Arial" pitchFamily="34" charset="0"/>
              </a:rPr>
              <a:t>) </a:t>
            </a:r>
            <a:endParaRPr lang="en-US" dirty="0">
              <a:latin typeface="Arial" pitchFamily="34" charset="0"/>
              <a:cs typeface="Arial" pitchFamily="34" charset="0"/>
            </a:endParaRPr>
          </a:p>
          <a:p>
            <a:r>
              <a:rPr lang="en-IN" dirty="0">
                <a:latin typeface="Arial" pitchFamily="34" charset="0"/>
                <a:cs typeface="Arial" pitchFamily="34" charset="0"/>
              </a:rPr>
              <a:t>Patel Bhagya </a:t>
            </a:r>
            <a:r>
              <a:rPr lang="en-IN" dirty="0" err="1">
                <a:latin typeface="Arial" pitchFamily="34" charset="0"/>
                <a:cs typeface="Arial" pitchFamily="34" charset="0"/>
              </a:rPr>
              <a:t>Nitinkumar</a:t>
            </a:r>
            <a:r>
              <a:rPr lang="en-US" dirty="0">
                <a:latin typeface="Arial" pitchFamily="34" charset="0"/>
                <a:ea typeface="+mn-lt"/>
                <a:cs typeface="Arial" pitchFamily="34" charset="0"/>
              </a:rPr>
              <a:t>(</a:t>
            </a:r>
            <a:r>
              <a:rPr lang="en-IN" dirty="0">
                <a:latin typeface="Arial" pitchFamily="34" charset="0"/>
                <a:cs typeface="Arial" pitchFamily="34" charset="0"/>
              </a:rPr>
              <a:t>221430131073</a:t>
            </a:r>
            <a:r>
              <a:rPr lang="en-US" dirty="0">
                <a:latin typeface="Arial" pitchFamily="34" charset="0"/>
                <a:ea typeface="+mn-lt"/>
                <a:cs typeface="Arial" pitchFamily="34" charset="0"/>
              </a:rPr>
              <a:t>)</a:t>
            </a:r>
            <a:endParaRPr lang="en-US" dirty="0">
              <a:latin typeface="Arial" pitchFamily="34" charset="0"/>
              <a:cs typeface="Arial" pitchFamily="34" charset="0"/>
            </a:endParaRPr>
          </a:p>
          <a:p>
            <a:r>
              <a:rPr lang="en-IN" dirty="0">
                <a:latin typeface="Arial" pitchFamily="34" charset="0"/>
                <a:cs typeface="Arial" pitchFamily="34" charset="0"/>
              </a:rPr>
              <a:t>Patel Neel </a:t>
            </a:r>
            <a:r>
              <a:rPr lang="en-IN" dirty="0" err="1">
                <a:latin typeface="Arial" pitchFamily="34" charset="0"/>
                <a:cs typeface="Arial" pitchFamily="34" charset="0"/>
              </a:rPr>
              <a:t>Mukundlal</a:t>
            </a:r>
            <a:r>
              <a:rPr lang="en-US" dirty="0">
                <a:latin typeface="Arial" pitchFamily="34" charset="0"/>
                <a:ea typeface="+mn-lt"/>
                <a:cs typeface="Arial" pitchFamily="34" charset="0"/>
              </a:rPr>
              <a:t>(</a:t>
            </a:r>
            <a:r>
              <a:rPr lang="en-IN" dirty="0">
                <a:latin typeface="Arial" pitchFamily="34" charset="0"/>
                <a:cs typeface="Arial" pitchFamily="34" charset="0"/>
              </a:rPr>
              <a:t>221430131081</a:t>
            </a:r>
            <a:r>
              <a:rPr lang="en-US" dirty="0">
                <a:latin typeface="Arial" pitchFamily="34" charset="0"/>
                <a:ea typeface="+mn-lt"/>
                <a:cs typeface="Arial" pitchFamily="34" charset="0"/>
              </a:rPr>
              <a:t>) </a:t>
            </a:r>
            <a:endParaRPr lang="en-US" dirty="0">
              <a:latin typeface="Arial" pitchFamily="34" charset="0"/>
              <a:cs typeface="Arial" pitchFamily="34" charset="0"/>
            </a:endParaRPr>
          </a:p>
          <a:p>
            <a:r>
              <a:rPr lang="en-IN" dirty="0">
                <a:latin typeface="Arial" pitchFamily="34" charset="0"/>
                <a:cs typeface="Arial" pitchFamily="34" charset="0"/>
              </a:rPr>
              <a:t>Sheth Anand </a:t>
            </a:r>
            <a:r>
              <a:rPr lang="en-IN" dirty="0" err="1">
                <a:latin typeface="Arial" pitchFamily="34" charset="0"/>
                <a:cs typeface="Arial" pitchFamily="34" charset="0"/>
              </a:rPr>
              <a:t>Ajaykumar</a:t>
            </a:r>
            <a:r>
              <a:rPr lang="en-IN" dirty="0">
                <a:latin typeface="Arial" pitchFamily="34" charset="0"/>
                <a:cs typeface="Arial" pitchFamily="34" charset="0"/>
              </a:rPr>
              <a:t> </a:t>
            </a:r>
            <a:r>
              <a:rPr lang="en-US" dirty="0">
                <a:latin typeface="Arial" pitchFamily="34" charset="0"/>
                <a:ea typeface="+mn-lt"/>
                <a:cs typeface="Arial" pitchFamily="34" charset="0"/>
              </a:rPr>
              <a:t>(</a:t>
            </a:r>
            <a:r>
              <a:rPr lang="en-IN" dirty="0">
                <a:latin typeface="Arial" pitchFamily="34" charset="0"/>
                <a:cs typeface="Arial" pitchFamily="34" charset="0"/>
              </a:rPr>
              <a:t>221430131111</a:t>
            </a:r>
            <a:r>
              <a:rPr lang="en-US" dirty="0">
                <a:latin typeface="Arial" pitchFamily="34" charset="0"/>
                <a:ea typeface="+mn-lt"/>
                <a:cs typeface="Arial" pitchFamily="34" charset="0"/>
              </a:rPr>
              <a:t>)</a:t>
            </a:r>
          </a:p>
          <a:p>
            <a:r>
              <a:rPr lang="en-US" dirty="0">
                <a:latin typeface="Arial" pitchFamily="34" charset="0"/>
                <a:ea typeface="+mn-lt"/>
                <a:cs typeface="Arial" pitchFamily="34" charset="0"/>
              </a:rPr>
              <a:t>Vedant </a:t>
            </a:r>
            <a:r>
              <a:rPr lang="en-US" dirty="0" err="1">
                <a:latin typeface="Arial" pitchFamily="34" charset="0"/>
                <a:ea typeface="+mn-lt"/>
                <a:cs typeface="Arial" pitchFamily="34" charset="0"/>
              </a:rPr>
              <a:t>Mukeshkumar</a:t>
            </a:r>
            <a:r>
              <a:rPr lang="en-US" dirty="0">
                <a:latin typeface="Arial" pitchFamily="34" charset="0"/>
                <a:ea typeface="+mn-lt"/>
                <a:cs typeface="Arial" pitchFamily="34" charset="0"/>
              </a:rPr>
              <a:t> Shah(</a:t>
            </a:r>
            <a:r>
              <a:rPr lang="en-IN" dirty="0">
                <a:latin typeface="Arial" pitchFamily="34" charset="0"/>
                <a:cs typeface="Arial" pitchFamily="34" charset="0"/>
              </a:rPr>
              <a:t>221430131133</a:t>
            </a:r>
            <a:r>
              <a:rPr lang="en-US" dirty="0">
                <a:latin typeface="Arial" pitchFamily="34" charset="0"/>
                <a:ea typeface="+mn-lt"/>
                <a:cs typeface="Arial" pitchFamily="34" charset="0"/>
              </a:rPr>
              <a:t>)</a:t>
            </a:r>
          </a:p>
          <a:p>
            <a:endParaRPr lang="en-US" dirty="0">
              <a:latin typeface="Arial" pitchFamily="34" charset="0"/>
              <a:cs typeface="Arial" pitchFamily="34" charset="0"/>
            </a:endParaRPr>
          </a:p>
          <a:p>
            <a:endParaRPr lang="en-US" dirty="0">
              <a:latin typeface="Arial" pitchFamily="34" charset="0"/>
              <a:ea typeface="+mn-lt"/>
              <a:cs typeface="Arial" pitchFamily="34" charset="0"/>
            </a:endParaRPr>
          </a:p>
          <a:p>
            <a:r>
              <a:rPr lang="en-US" sz="2000" dirty="0">
                <a:latin typeface="Arial" pitchFamily="34" charset="0"/>
                <a:ea typeface="+mn-lt"/>
                <a:cs typeface="Arial" pitchFamily="34" charset="0"/>
              </a:rPr>
              <a:t>Computer Science and Engineering</a:t>
            </a:r>
            <a:r>
              <a:rPr lang="en-US" dirty="0">
                <a:latin typeface="Arial" pitchFamily="34" charset="0"/>
                <a:ea typeface="+mn-lt"/>
                <a:cs typeface="Arial" pitchFamily="34" charset="0"/>
              </a:rPr>
              <a:t>(CSE) 5th Sem</a:t>
            </a:r>
            <a:endParaRPr lang="en-US" dirty="0">
              <a:latin typeface="Arial" pitchFamily="34" charset="0"/>
              <a:cs typeface="Arial" pitchFamily="34" charset="0"/>
            </a:endParaRPr>
          </a:p>
          <a:p>
            <a:r>
              <a:rPr lang="en-US" dirty="0">
                <a:latin typeface="Arial" pitchFamily="34" charset="0"/>
                <a:cs typeface="Arial" pitchFamily="34" charset="0"/>
              </a:rPr>
              <a:t>New L J Institute of Engineering &amp; Technology, Ahmedabad</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4394D6-7EA5-CB99-39E3-A4B806009EED}"/>
              </a:ext>
            </a:extLst>
          </p:cNvPr>
          <p:cNvSpPr txBox="1"/>
          <p:nvPr/>
        </p:nvSpPr>
        <p:spPr>
          <a:xfrm>
            <a:off x="422233" y="475012"/>
            <a:ext cx="1143548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dirty="0">
                <a:latin typeface="Times New Roman"/>
                <a:cs typeface="Times New Roman"/>
              </a:rPr>
              <a:t>Outline</a:t>
            </a:r>
            <a:endParaRPr lang="en-US" dirty="0"/>
          </a:p>
        </p:txBody>
      </p:sp>
      <p:sp>
        <p:nvSpPr>
          <p:cNvPr id="3" name="TextBox 2">
            <a:extLst>
              <a:ext uri="{FF2B5EF4-FFF2-40B4-BE49-F238E27FC236}">
                <a16:creationId xmlns:a16="http://schemas.microsoft.com/office/drawing/2014/main" id="{80E10371-8D8F-7E60-CE32-EC9FFF41FAFC}"/>
              </a:ext>
            </a:extLst>
          </p:cNvPr>
          <p:cNvSpPr txBox="1"/>
          <p:nvPr/>
        </p:nvSpPr>
        <p:spPr>
          <a:xfrm>
            <a:off x="791637" y="1432390"/>
            <a:ext cx="6245043" cy="465050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342900" indent="-342900">
              <a:lnSpc>
                <a:spcPct val="150000"/>
              </a:lnSpc>
              <a:buFont typeface="Arial"/>
              <a:buChar char="•"/>
            </a:pPr>
            <a:r>
              <a:rPr lang="en-US" sz="2500" dirty="0">
                <a:latin typeface="Times New Roman"/>
                <a:cs typeface="Times New Roman"/>
              </a:rPr>
              <a:t>Introduction</a:t>
            </a:r>
            <a:endParaRPr lang="en-US" sz="2500" dirty="0"/>
          </a:p>
          <a:p>
            <a:pPr marL="342900" indent="-342900">
              <a:lnSpc>
                <a:spcPct val="150000"/>
              </a:lnSpc>
              <a:buFont typeface="Arial"/>
              <a:buChar char="•"/>
            </a:pPr>
            <a:r>
              <a:rPr lang="en-US" sz="2500" dirty="0">
                <a:latin typeface="Times New Roman"/>
                <a:cs typeface="Times New Roman"/>
              </a:rPr>
              <a:t>Project Management</a:t>
            </a:r>
            <a:endParaRPr lang="en-US" sz="2500" dirty="0"/>
          </a:p>
          <a:p>
            <a:pPr marL="342900" indent="-342900">
              <a:lnSpc>
                <a:spcPct val="150000"/>
              </a:lnSpc>
              <a:buFont typeface="Arial"/>
              <a:buChar char="•"/>
            </a:pPr>
            <a:r>
              <a:rPr lang="en-US" sz="2500" dirty="0">
                <a:latin typeface="Times New Roman"/>
                <a:cs typeface="Times New Roman"/>
              </a:rPr>
              <a:t>Prior Art Search (PAS)</a:t>
            </a:r>
            <a:endParaRPr lang="en-US" sz="2500" dirty="0">
              <a:latin typeface="Aptos" panose="020B0004020202020204"/>
              <a:cs typeface="Times New Roman"/>
            </a:endParaRPr>
          </a:p>
          <a:p>
            <a:pPr marL="342900" indent="-342900">
              <a:lnSpc>
                <a:spcPct val="150000"/>
              </a:lnSpc>
              <a:buFont typeface="Arial"/>
              <a:buChar char="•"/>
            </a:pPr>
            <a:r>
              <a:rPr lang="en-US" sz="2500" dirty="0">
                <a:latin typeface="Times New Roman"/>
                <a:cs typeface="Times New Roman"/>
              </a:rPr>
              <a:t>System Requirements Study </a:t>
            </a:r>
            <a:r>
              <a:rPr lang="en-US" sz="2500" dirty="0">
                <a:solidFill>
                  <a:srgbClr val="FF0000"/>
                </a:solidFill>
                <a:latin typeface="Times New Roman"/>
                <a:cs typeface="Times New Roman"/>
              </a:rPr>
              <a:t>(Assessment-I)</a:t>
            </a:r>
            <a:endParaRPr lang="en-US" sz="2500" dirty="0"/>
          </a:p>
          <a:p>
            <a:pPr marL="342900" indent="-342900">
              <a:lnSpc>
                <a:spcPct val="150000"/>
              </a:lnSpc>
              <a:buFont typeface="Arial"/>
              <a:buChar char="•"/>
            </a:pPr>
            <a:r>
              <a:rPr lang="en-US" sz="2500" dirty="0">
                <a:latin typeface="Times New Roman"/>
                <a:cs typeface="Times New Roman"/>
              </a:rPr>
              <a:t>System Analysis</a:t>
            </a:r>
            <a:endParaRPr lang="en-US" sz="2500" dirty="0"/>
          </a:p>
          <a:p>
            <a:pPr marL="342900" indent="-342900">
              <a:lnSpc>
                <a:spcPct val="150000"/>
              </a:lnSpc>
              <a:buFont typeface="Arial"/>
              <a:buChar char="•"/>
            </a:pPr>
            <a:r>
              <a:rPr lang="en-US" sz="2500" dirty="0">
                <a:latin typeface="Times New Roman"/>
                <a:cs typeface="Times New Roman"/>
              </a:rPr>
              <a:t>System Design</a:t>
            </a:r>
            <a:endParaRPr lang="en-US" sz="2500" dirty="0"/>
          </a:p>
          <a:p>
            <a:pPr marL="342900" indent="-342900">
              <a:lnSpc>
                <a:spcPct val="150000"/>
              </a:lnSpc>
              <a:buFont typeface="Arial"/>
              <a:buChar char="•"/>
            </a:pPr>
            <a:r>
              <a:rPr lang="en-US" sz="2500" dirty="0">
                <a:latin typeface="Times New Roman"/>
                <a:cs typeface="Times New Roman"/>
              </a:rPr>
              <a:t>Implementation</a:t>
            </a:r>
            <a:endParaRPr lang="en-US" sz="2500" dirty="0"/>
          </a:p>
          <a:p>
            <a:pPr marL="342900" indent="-342900">
              <a:lnSpc>
                <a:spcPct val="150000"/>
              </a:lnSpc>
              <a:buFont typeface="Arial"/>
              <a:buChar char="•"/>
            </a:pPr>
            <a:r>
              <a:rPr lang="en-US" sz="2500" dirty="0">
                <a:latin typeface="Times New Roman"/>
                <a:cs typeface="Times New Roman"/>
              </a:rPr>
              <a:t>Testing </a:t>
            </a:r>
            <a:r>
              <a:rPr lang="en-US" sz="2500" dirty="0">
                <a:solidFill>
                  <a:srgbClr val="FF0000"/>
                </a:solidFill>
                <a:latin typeface="Times New Roman"/>
                <a:cs typeface="Times New Roman"/>
              </a:rPr>
              <a:t>(Assessment-II)</a:t>
            </a:r>
            <a:endParaRPr lang="en-US" sz="2500" dirty="0"/>
          </a:p>
        </p:txBody>
      </p:sp>
      <p:sp>
        <p:nvSpPr>
          <p:cNvPr id="4" name="TextBox 3">
            <a:extLst>
              <a:ext uri="{FF2B5EF4-FFF2-40B4-BE49-F238E27FC236}">
                <a16:creationId xmlns:a16="http://schemas.microsoft.com/office/drawing/2014/main" id="{DCCF8FB2-417A-0DF8-743B-A6464D103128}"/>
              </a:ext>
            </a:extLst>
          </p:cNvPr>
          <p:cNvSpPr txBox="1"/>
          <p:nvPr/>
        </p:nvSpPr>
        <p:spPr>
          <a:xfrm>
            <a:off x="7201243" y="1436592"/>
            <a:ext cx="4292704" cy="23421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a:buChar char="•"/>
            </a:pPr>
            <a:r>
              <a:rPr lang="en-US" sz="2500" dirty="0">
                <a:latin typeface="Times New Roman"/>
                <a:cs typeface="Times New Roman"/>
              </a:rPr>
              <a:t>Limitation</a:t>
            </a:r>
            <a:endParaRPr lang="en-US" sz="2500" dirty="0"/>
          </a:p>
          <a:p>
            <a:pPr marL="342900" indent="-342900">
              <a:lnSpc>
                <a:spcPct val="150000"/>
              </a:lnSpc>
              <a:buFont typeface="Arial"/>
              <a:buChar char="•"/>
            </a:pPr>
            <a:r>
              <a:rPr lang="en-US" sz="2500" dirty="0">
                <a:latin typeface="Times New Roman"/>
                <a:cs typeface="Times New Roman"/>
              </a:rPr>
              <a:t>Future Enhancement</a:t>
            </a:r>
            <a:endParaRPr lang="en-US" sz="2500" dirty="0"/>
          </a:p>
          <a:p>
            <a:pPr marL="342900" indent="-342900">
              <a:lnSpc>
                <a:spcPct val="150000"/>
              </a:lnSpc>
              <a:buFont typeface="Arial"/>
              <a:buChar char="•"/>
            </a:pPr>
            <a:r>
              <a:rPr lang="en-US" sz="2500" dirty="0">
                <a:latin typeface="Times New Roman"/>
                <a:cs typeface="Times New Roman"/>
              </a:rPr>
              <a:t>Conclusion</a:t>
            </a:r>
            <a:endParaRPr lang="en-US" sz="2500" dirty="0">
              <a:latin typeface="Aptos" panose="020B0004020202020204"/>
              <a:cs typeface="Times New Roman"/>
            </a:endParaRPr>
          </a:p>
          <a:p>
            <a:pPr marL="342900" indent="-342900">
              <a:lnSpc>
                <a:spcPct val="150000"/>
              </a:lnSpc>
              <a:buFont typeface="Arial"/>
              <a:buChar char="•"/>
            </a:pPr>
            <a:r>
              <a:rPr lang="en-US" sz="2500" dirty="0">
                <a:latin typeface="Times New Roman"/>
                <a:cs typeface="Times New Roman"/>
              </a:rPr>
              <a:t>References </a:t>
            </a:r>
            <a:r>
              <a:rPr lang="en-US" sz="2500" dirty="0">
                <a:solidFill>
                  <a:srgbClr val="FF0000"/>
                </a:solidFill>
                <a:latin typeface="Times New Roman"/>
                <a:cs typeface="Times New Roman"/>
              </a:rPr>
              <a:t>(Assessment-III)</a:t>
            </a:r>
            <a:endParaRPr lang="en-US" sz="2500" dirty="0"/>
          </a:p>
        </p:txBody>
      </p:sp>
      <p:sp>
        <p:nvSpPr>
          <p:cNvPr id="5" name="Slide Number Placeholder 4">
            <a:extLst>
              <a:ext uri="{FF2B5EF4-FFF2-40B4-BE49-F238E27FC236}">
                <a16:creationId xmlns:a16="http://schemas.microsoft.com/office/drawing/2014/main" id="{750E5F60-5C4C-F907-F407-98E1C49A900C}"/>
              </a:ext>
            </a:extLst>
          </p:cNvPr>
          <p:cNvSpPr>
            <a:spLocks noGrp="1"/>
          </p:cNvSpPr>
          <p:nvPr>
            <p:ph type="sldNum" sz="quarter" idx="12"/>
          </p:nvPr>
        </p:nvSpPr>
        <p:spPr/>
        <p:txBody>
          <a:bodyPr/>
          <a:lstStyle/>
          <a:p>
            <a:fld id="{330EA680-D336-4FF7-8B7A-9848BB0A1C32}" type="slidenum">
              <a:rPr lang="en-US" smtClean="0"/>
              <a:pPr/>
              <a:t>2</a:t>
            </a:fld>
            <a:endParaRPr lang="en-US"/>
          </a:p>
        </p:txBody>
      </p:sp>
    </p:spTree>
    <p:extLst>
      <p:ext uri="{BB962C8B-B14F-4D97-AF65-F5344CB8AC3E}">
        <p14:creationId xmlns:p14="http://schemas.microsoft.com/office/powerpoint/2010/main" val="170006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4C63AE-E147-FE22-7B9B-D425F3517AAE}"/>
              </a:ext>
            </a:extLst>
          </p:cNvPr>
          <p:cNvSpPr txBox="1"/>
          <p:nvPr/>
        </p:nvSpPr>
        <p:spPr>
          <a:xfrm>
            <a:off x="199478" y="181968"/>
            <a:ext cx="1099565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latin typeface="Times New Roman"/>
                <a:cs typeface="Times New Roman"/>
              </a:rPr>
              <a:t>Introduction</a:t>
            </a:r>
            <a:endParaRPr lang="en-US" sz="4400" b="1" dirty="0"/>
          </a:p>
        </p:txBody>
      </p:sp>
      <p:sp>
        <p:nvSpPr>
          <p:cNvPr id="4" name="TextBox 3">
            <a:extLst>
              <a:ext uri="{FF2B5EF4-FFF2-40B4-BE49-F238E27FC236}">
                <a16:creationId xmlns:a16="http://schemas.microsoft.com/office/drawing/2014/main" id="{25A603FB-ABD8-C178-3F9A-06FA066B9208}"/>
              </a:ext>
            </a:extLst>
          </p:cNvPr>
          <p:cNvSpPr txBox="1"/>
          <p:nvPr/>
        </p:nvSpPr>
        <p:spPr>
          <a:xfrm>
            <a:off x="381311" y="1504776"/>
            <a:ext cx="10960471" cy="2396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rial" pitchFamily="34" charset="0"/>
                <a:cs typeface="Arial" pitchFamily="34" charset="0"/>
              </a:rPr>
              <a:t>Project Summary &amp; Profile:</a:t>
            </a:r>
          </a:p>
          <a:p>
            <a:pPr marL="342900" indent="-342900">
              <a:lnSpc>
                <a:spcPct val="150000"/>
              </a:lnSpc>
              <a:buFont typeface="Arial"/>
              <a:buChar char="•"/>
            </a:pPr>
            <a:r>
              <a:rPr lang="en-US" dirty="0">
                <a:latin typeface="Arial" pitchFamily="34" charset="0"/>
                <a:cs typeface="Arial" pitchFamily="34" charset="0"/>
              </a:rPr>
              <a:t>The Furniture Innovation &amp; Digital Store explores trends in furniture design and digital retail, using AR, VR, and AI for better customer experiences</a:t>
            </a:r>
            <a:r>
              <a:rPr lang="en-US" dirty="0">
                <a:solidFill>
                  <a:srgbClr val="0D0D0D"/>
                </a:solidFill>
                <a:latin typeface="Arial" pitchFamily="34" charset="0"/>
                <a:ea typeface="+mn-lt"/>
                <a:cs typeface="Arial" pitchFamily="34" charset="0"/>
              </a:rPr>
              <a:t>.</a:t>
            </a:r>
            <a:endParaRPr lang="en-US" dirty="0">
              <a:latin typeface="Arial" pitchFamily="34" charset="0"/>
              <a:cs typeface="Arial" pitchFamily="34" charset="0"/>
            </a:endParaRPr>
          </a:p>
          <a:p>
            <a:pPr marL="342900" indent="-342900">
              <a:lnSpc>
                <a:spcPct val="150000"/>
              </a:lnSpc>
              <a:buFont typeface="Arial"/>
              <a:buChar char="•"/>
            </a:pPr>
            <a:r>
              <a:rPr lang="en-US" dirty="0">
                <a:latin typeface="Arial" pitchFamily="34" charset="0"/>
                <a:cs typeface="Arial" pitchFamily="34" charset="0"/>
              </a:rPr>
              <a:t>Case studies highlight successful digital strategies, while interactive features like price calculators and virtual showrooms enhance user engagement.</a:t>
            </a:r>
          </a:p>
          <a:p>
            <a:pPr marL="342900" indent="-342900">
              <a:lnSpc>
                <a:spcPct val="150000"/>
              </a:lnSpc>
              <a:buFont typeface="Arial"/>
              <a:buChar char="•"/>
            </a:pPr>
            <a:r>
              <a:rPr lang="en-US" dirty="0">
                <a:latin typeface="Arial" pitchFamily="34" charset="0"/>
                <a:cs typeface="Arial" pitchFamily="34" charset="0"/>
              </a:rPr>
              <a:t>The project equips retailers with tools and insights to thrive in the digital marketplace.</a:t>
            </a:r>
          </a:p>
        </p:txBody>
      </p:sp>
      <p:sp>
        <p:nvSpPr>
          <p:cNvPr id="7" name="Slide Number Placeholder 6">
            <a:extLst>
              <a:ext uri="{FF2B5EF4-FFF2-40B4-BE49-F238E27FC236}">
                <a16:creationId xmlns:a16="http://schemas.microsoft.com/office/drawing/2014/main" id="{84FD7576-6D9C-1652-1761-D70903C4D60D}"/>
              </a:ext>
            </a:extLst>
          </p:cNvPr>
          <p:cNvSpPr>
            <a:spLocks noGrp="1"/>
          </p:cNvSpPr>
          <p:nvPr>
            <p:ph type="sldNum" sz="quarter" idx="12"/>
          </p:nvPr>
        </p:nvSpPr>
        <p:spPr/>
        <p:txBody>
          <a:bodyPr/>
          <a:lstStyle/>
          <a:p>
            <a:fld id="{330EA680-D336-4FF7-8B7A-9848BB0A1C32}" type="slidenum">
              <a:rPr lang="en-US" smtClean="0"/>
              <a:pPr/>
              <a:t>3</a:t>
            </a:fld>
            <a:endParaRPr lang="en-US"/>
          </a:p>
        </p:txBody>
      </p:sp>
    </p:spTree>
    <p:extLst>
      <p:ext uri="{BB962C8B-B14F-4D97-AF65-F5344CB8AC3E}">
        <p14:creationId xmlns:p14="http://schemas.microsoft.com/office/powerpoint/2010/main" val="1920780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14528A-D246-0A4B-9A33-948349C6AF33}"/>
              </a:ext>
            </a:extLst>
          </p:cNvPr>
          <p:cNvSpPr txBox="1"/>
          <p:nvPr/>
        </p:nvSpPr>
        <p:spPr>
          <a:xfrm>
            <a:off x="545880" y="366581"/>
            <a:ext cx="10949434"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ct val="150000"/>
              </a:lnSpc>
            </a:pPr>
            <a:r>
              <a:rPr lang="en-US" sz="2600" b="1" baseline="0" dirty="0">
                <a:latin typeface="Times New Roman"/>
                <a:ea typeface="Segoe UI"/>
                <a:cs typeface="Segoe UI"/>
              </a:rPr>
              <a:t>Purpose:</a:t>
            </a:r>
            <a:r>
              <a:rPr lang="en-US" sz="2600" dirty="0">
                <a:solidFill>
                  <a:srgbClr val="808080"/>
                </a:solidFill>
                <a:latin typeface="Times New Roman"/>
                <a:ea typeface="Segoe UI"/>
                <a:cs typeface="Segoe UI"/>
              </a:rPr>
              <a:t>​</a:t>
            </a:r>
            <a:endParaRPr lang="en-US" dirty="0"/>
          </a:p>
          <a:p>
            <a:pPr marL="285750" lvl="0" indent="-285750" rtl="0">
              <a:lnSpc>
                <a:spcPct val="150000"/>
              </a:lnSpc>
              <a:buFont typeface="Arial,Sans-Serif"/>
              <a:buChar char="•"/>
            </a:pPr>
            <a:r>
              <a:rPr lang="en-US" dirty="0">
                <a:latin typeface="Arial" pitchFamily="34" charset="0"/>
                <a:cs typeface="Arial" pitchFamily="34" charset="0"/>
              </a:rPr>
              <a:t>Revolutionize the furniture retail industry by integrating advanced digital technologies.</a:t>
            </a:r>
          </a:p>
          <a:p>
            <a:pPr marL="285750" lvl="0" indent="-285750" rtl="0">
              <a:lnSpc>
                <a:spcPct val="150000"/>
              </a:lnSpc>
              <a:buFont typeface="Arial,Sans-Serif"/>
              <a:buChar char="•"/>
            </a:pPr>
            <a:r>
              <a:rPr lang="en-US" dirty="0">
                <a:latin typeface="Arial" pitchFamily="34" charset="0"/>
                <a:cs typeface="Arial" pitchFamily="34" charset="0"/>
              </a:rPr>
              <a:t>Enhance customer experience through personalized designs and innovative solutions.</a:t>
            </a:r>
          </a:p>
          <a:p>
            <a:pPr marL="285750" lvl="0" indent="-285750" rtl="0">
              <a:lnSpc>
                <a:spcPct val="150000"/>
              </a:lnSpc>
              <a:buFont typeface="Arial,Sans-Serif"/>
              <a:buChar char="•"/>
            </a:pPr>
            <a:r>
              <a:rPr lang="en-US" dirty="0">
                <a:latin typeface="Arial" pitchFamily="34" charset="0"/>
                <a:cs typeface="Arial" pitchFamily="34" charset="0"/>
              </a:rPr>
              <a:t>Promote sustainability in material sourcing and manufacturing processes.</a:t>
            </a:r>
          </a:p>
          <a:p>
            <a:pPr marL="285750" lvl="0" indent="-285750" rtl="0">
              <a:lnSpc>
                <a:spcPct val="150000"/>
              </a:lnSpc>
              <a:buFont typeface="Arial,Sans-Serif"/>
              <a:buChar char="•"/>
            </a:pPr>
            <a:r>
              <a:rPr lang="en-US" dirty="0">
                <a:latin typeface="Arial" pitchFamily="34" charset="0"/>
                <a:cs typeface="Arial" pitchFamily="34" charset="0"/>
              </a:rPr>
              <a:t>Expand market reach and improve efficiency through data-driven insights and digital marketing</a:t>
            </a:r>
            <a:r>
              <a:rPr lang="en-US" sz="2400" dirty="0"/>
              <a:t>.</a:t>
            </a:r>
          </a:p>
        </p:txBody>
      </p:sp>
      <p:sp>
        <p:nvSpPr>
          <p:cNvPr id="3" name="Rectangle 1">
            <a:extLst>
              <a:ext uri="{FF2B5EF4-FFF2-40B4-BE49-F238E27FC236}">
                <a16:creationId xmlns:a16="http://schemas.microsoft.com/office/drawing/2014/main" id="{D8AE155F-56D6-F718-5824-EAC6324A6812}"/>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Slide Number Placeholder 6">
            <a:extLst>
              <a:ext uri="{FF2B5EF4-FFF2-40B4-BE49-F238E27FC236}">
                <a16:creationId xmlns:a16="http://schemas.microsoft.com/office/drawing/2014/main" id="{642BD293-178E-61B9-DC10-D1048547A3FE}"/>
              </a:ext>
            </a:extLst>
          </p:cNvPr>
          <p:cNvSpPr>
            <a:spLocks noGrp="1"/>
          </p:cNvSpPr>
          <p:nvPr>
            <p:ph type="sldNum" sz="quarter" idx="12"/>
          </p:nvPr>
        </p:nvSpPr>
        <p:spPr/>
        <p:txBody>
          <a:bodyPr/>
          <a:lstStyle/>
          <a:p>
            <a:fld id="{330EA680-D336-4FF7-8B7A-9848BB0A1C32}" type="slidenum">
              <a:rPr lang="en-US" smtClean="0"/>
              <a:pPr/>
              <a:t>4</a:t>
            </a:fld>
            <a:endParaRPr lang="en-US"/>
          </a:p>
        </p:txBody>
      </p:sp>
    </p:spTree>
    <p:extLst>
      <p:ext uri="{BB962C8B-B14F-4D97-AF65-F5344CB8AC3E}">
        <p14:creationId xmlns:p14="http://schemas.microsoft.com/office/powerpoint/2010/main" val="1750767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D1BD9F-55DC-8F76-01FF-B89F7FB0E0D3}"/>
              </a:ext>
            </a:extLst>
          </p:cNvPr>
          <p:cNvSpPr txBox="1"/>
          <p:nvPr/>
        </p:nvSpPr>
        <p:spPr>
          <a:xfrm>
            <a:off x="577271" y="317774"/>
            <a:ext cx="11048437" cy="46320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solidFill>
                  <a:srgbClr val="000000"/>
                </a:solidFill>
                <a:latin typeface="Times New Roman"/>
                <a:ea typeface="+mn-lt"/>
                <a:cs typeface="Times New Roman"/>
              </a:rPr>
              <a:t>Scope &amp; Objectives:</a:t>
            </a:r>
            <a:endParaRPr lang="en-US" dirty="0"/>
          </a:p>
          <a:p>
            <a:pPr>
              <a:lnSpc>
                <a:spcPct val="150000"/>
              </a:lnSpc>
            </a:pPr>
            <a:r>
              <a:rPr lang="en-US" b="1" dirty="0">
                <a:solidFill>
                  <a:srgbClr val="0D0D0D"/>
                </a:solidFill>
                <a:latin typeface="Arial" pitchFamily="34" charset="0"/>
                <a:ea typeface="+mn-lt"/>
                <a:cs typeface="Arial" pitchFamily="34" charset="0"/>
              </a:rPr>
              <a:t>Scope:</a:t>
            </a:r>
            <a:endParaRPr lang="en-US" b="1" dirty="0">
              <a:latin typeface="Arial" pitchFamily="34" charset="0"/>
              <a:cs typeface="Arial" pitchFamily="34" charset="0"/>
            </a:endParaRPr>
          </a:p>
          <a:p>
            <a:pPr marL="285750" indent="-285750">
              <a:lnSpc>
                <a:spcPct val="150000"/>
              </a:lnSpc>
              <a:buFont typeface="Arial"/>
              <a:buChar char="•"/>
            </a:pPr>
            <a:r>
              <a:rPr lang="en-US" dirty="0">
                <a:latin typeface="Arial" pitchFamily="34" charset="0"/>
                <a:cs typeface="Arial" pitchFamily="34" charset="0"/>
              </a:rPr>
              <a:t>Develop a user-friendly digital platform with a virtual showroom and customization tools.</a:t>
            </a:r>
          </a:p>
          <a:p>
            <a:pPr marL="285750" indent="-285750">
              <a:lnSpc>
                <a:spcPct val="150000"/>
              </a:lnSpc>
              <a:buFont typeface="Arial"/>
              <a:buChar char="•"/>
            </a:pPr>
            <a:r>
              <a:rPr lang="en-US" dirty="0">
                <a:latin typeface="Arial" pitchFamily="34" charset="0"/>
                <a:cs typeface="Arial" pitchFamily="34" charset="0"/>
              </a:rPr>
              <a:t>Collaborate with designers and integrate IoT for innovative designs and supply chain optimization.</a:t>
            </a:r>
            <a:r>
              <a:rPr lang="en-US" dirty="0">
                <a:solidFill>
                  <a:srgbClr val="0D0D0D"/>
                </a:solidFill>
                <a:latin typeface="Arial" pitchFamily="34" charset="0"/>
                <a:ea typeface="+mn-lt"/>
                <a:cs typeface="Arial" pitchFamily="34" charset="0"/>
              </a:rPr>
              <a:t> </a:t>
            </a:r>
          </a:p>
          <a:p>
            <a:pPr marL="285750" indent="-285750">
              <a:lnSpc>
                <a:spcPct val="150000"/>
              </a:lnSpc>
              <a:buFont typeface="Arial"/>
              <a:buChar char="•"/>
            </a:pPr>
            <a:r>
              <a:rPr lang="en-US" dirty="0">
                <a:latin typeface="Arial" pitchFamily="34" charset="0"/>
                <a:cs typeface="Arial" pitchFamily="34" charset="0"/>
              </a:rPr>
              <a:t>Focus on sustainability in material sourcing and manufacturing, while enabling customer co-creation.</a:t>
            </a:r>
          </a:p>
          <a:p>
            <a:pPr>
              <a:lnSpc>
                <a:spcPct val="150000"/>
              </a:lnSpc>
            </a:pPr>
            <a:r>
              <a:rPr lang="en-US" b="1" dirty="0">
                <a:solidFill>
                  <a:srgbClr val="0D0D0D"/>
                </a:solidFill>
                <a:latin typeface="Arial" pitchFamily="34" charset="0"/>
                <a:ea typeface="+mn-lt"/>
                <a:cs typeface="Arial" pitchFamily="34" charset="0"/>
              </a:rPr>
              <a:t> Objectives:</a:t>
            </a:r>
            <a:endParaRPr lang="en-US" b="1" dirty="0">
              <a:latin typeface="Arial" pitchFamily="34" charset="0"/>
              <a:cs typeface="Arial" pitchFamily="34" charset="0"/>
            </a:endParaRPr>
          </a:p>
          <a:p>
            <a:pPr marL="285750" indent="-285750">
              <a:lnSpc>
                <a:spcPct val="150000"/>
              </a:lnSpc>
              <a:buFont typeface="Arial,Sans-Serif"/>
              <a:buChar char="•"/>
            </a:pPr>
            <a:r>
              <a:rPr kumimoji="0" lang="en-US" altLang="en-US" b="0" i="0" u="none" strike="noStrike" cap="none" normalizeH="0" baseline="0" dirty="0">
                <a:ln>
                  <a:noFill/>
                </a:ln>
                <a:solidFill>
                  <a:schemeClr val="tx1"/>
                </a:solidFill>
                <a:effectLst/>
                <a:latin typeface="Arial" pitchFamily="34" charset="0"/>
                <a:cs typeface="Arial" pitchFamily="34" charset="0"/>
              </a:rPr>
              <a:t>The project enhances furniture retail by focusing on customer experience, innovation, and sustainability.</a:t>
            </a:r>
            <a:endParaRPr lang="en-US" dirty="0">
              <a:latin typeface="Arial" pitchFamily="34" charset="0"/>
              <a:cs typeface="Arial" pitchFamily="34" charset="0"/>
            </a:endParaRPr>
          </a:p>
          <a:p>
            <a:pPr marL="285750" lvl="0" indent="-285750" rtl="0">
              <a:lnSpc>
                <a:spcPct val="150000"/>
              </a:lnSpc>
              <a:buFont typeface="Arial,Sans-Serif"/>
              <a:buChar char="•"/>
            </a:pPr>
            <a:r>
              <a:rPr lang="en-US" dirty="0">
                <a:latin typeface="Arial" pitchFamily="34" charset="0"/>
                <a:cs typeface="Arial" pitchFamily="34" charset="0"/>
              </a:rPr>
              <a:t>Data analytics guide product development and marketing strategies.</a:t>
            </a:r>
          </a:p>
          <a:p>
            <a:pPr marL="285750" lvl="0" indent="-285750" rtl="0">
              <a:lnSpc>
                <a:spcPct val="150000"/>
              </a:lnSpc>
              <a:buFont typeface="Arial,Sans-Serif"/>
              <a:buChar char="•"/>
            </a:pPr>
            <a:r>
              <a:rPr lang="en-US" dirty="0">
                <a:latin typeface="Arial" pitchFamily="34" charset="0"/>
                <a:cs typeface="Arial" pitchFamily="34" charset="0"/>
              </a:rPr>
              <a:t>Digital marketing expands market reach and boosts brand visibility.</a:t>
            </a:r>
          </a:p>
          <a:p>
            <a:pPr marL="285750" lvl="0" indent="-285750" rtl="0">
              <a:lnSpc>
                <a:spcPct val="150000"/>
              </a:lnSpc>
              <a:buFont typeface="Arial,Sans-Serif"/>
              <a:buChar char="•"/>
            </a:pPr>
            <a:r>
              <a:rPr lang="en-US" dirty="0">
                <a:latin typeface="Arial" pitchFamily="34" charset="0"/>
                <a:cs typeface="Arial" pitchFamily="34" charset="0"/>
              </a:rPr>
              <a:t>Continuous improvements ensure adaptation to evolving trends and technology.</a:t>
            </a:r>
          </a:p>
          <a:p>
            <a:endParaRPr lang="en-US" sz="2600" b="1" dirty="0">
              <a:solidFill>
                <a:srgbClr val="000000"/>
              </a:solidFill>
              <a:latin typeface="Times New Roman"/>
              <a:cs typeface="Times New Roman"/>
            </a:endParaRPr>
          </a:p>
        </p:txBody>
      </p:sp>
      <p:sp>
        <p:nvSpPr>
          <p:cNvPr id="5" name="Slide Number Placeholder 4">
            <a:extLst>
              <a:ext uri="{FF2B5EF4-FFF2-40B4-BE49-F238E27FC236}">
                <a16:creationId xmlns:a16="http://schemas.microsoft.com/office/drawing/2014/main" id="{8974840A-7F10-2804-689D-753919C04786}"/>
              </a:ext>
            </a:extLst>
          </p:cNvPr>
          <p:cNvSpPr>
            <a:spLocks noGrp="1"/>
          </p:cNvSpPr>
          <p:nvPr>
            <p:ph type="sldNum" sz="quarter" idx="12"/>
          </p:nvPr>
        </p:nvSpPr>
        <p:spPr/>
        <p:txBody>
          <a:bodyPr/>
          <a:lstStyle/>
          <a:p>
            <a:fld id="{330EA680-D336-4FF7-8B7A-9848BB0A1C32}" type="slidenum">
              <a:rPr lang="en-US" smtClean="0"/>
              <a:pPr/>
              <a:t>5</a:t>
            </a:fld>
            <a:endParaRPr lang="en-US"/>
          </a:p>
        </p:txBody>
      </p:sp>
    </p:spTree>
    <p:extLst>
      <p:ext uri="{BB962C8B-B14F-4D97-AF65-F5344CB8AC3E}">
        <p14:creationId xmlns:p14="http://schemas.microsoft.com/office/powerpoint/2010/main" val="1885819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73BB99-7E1D-24A1-C64E-EF5156AA281C}"/>
              </a:ext>
            </a:extLst>
          </p:cNvPr>
          <p:cNvSpPr txBox="1"/>
          <p:nvPr/>
        </p:nvSpPr>
        <p:spPr>
          <a:xfrm>
            <a:off x="721315" y="475012"/>
            <a:ext cx="10467866"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rial" pitchFamily="34" charset="0"/>
                <a:cs typeface="Arial" pitchFamily="34" charset="0"/>
              </a:rPr>
              <a:t>Technologies:</a:t>
            </a:r>
          </a:p>
          <a:p>
            <a:pPr marL="285750" indent="-285750">
              <a:lnSpc>
                <a:spcPct val="150000"/>
              </a:lnSpc>
              <a:buFont typeface="Arial"/>
              <a:buChar char="•"/>
            </a:pPr>
            <a:r>
              <a:rPr lang="en-US" dirty="0">
                <a:solidFill>
                  <a:srgbClr val="0D0D0D"/>
                </a:solidFill>
                <a:latin typeface="Arial" pitchFamily="34" charset="0"/>
                <a:ea typeface="+mn-lt"/>
                <a:cs typeface="Arial" pitchFamily="34" charset="0"/>
              </a:rPr>
              <a:t>Frontend: HTML, CSS, JavaScript, React.js</a:t>
            </a:r>
            <a:endParaRPr lang="en-US" dirty="0">
              <a:latin typeface="Arial" pitchFamily="34" charset="0"/>
              <a:cs typeface="Arial" pitchFamily="34" charset="0"/>
            </a:endParaRPr>
          </a:p>
          <a:p>
            <a:pPr marL="285750" indent="-285750">
              <a:lnSpc>
                <a:spcPct val="150000"/>
              </a:lnSpc>
              <a:buFont typeface="Arial"/>
              <a:buChar char="•"/>
            </a:pPr>
            <a:r>
              <a:rPr lang="en-US" dirty="0">
                <a:solidFill>
                  <a:srgbClr val="0D0D0D"/>
                </a:solidFill>
                <a:latin typeface="Arial" pitchFamily="34" charset="0"/>
                <a:ea typeface="+mn-lt"/>
                <a:cs typeface="Arial" pitchFamily="34" charset="0"/>
              </a:rPr>
              <a:t>Backend: Node.js</a:t>
            </a:r>
            <a:endParaRPr lang="en-US" dirty="0">
              <a:solidFill>
                <a:srgbClr val="000000"/>
              </a:solidFill>
              <a:latin typeface="Arial" pitchFamily="34" charset="0"/>
              <a:ea typeface="+mn-lt"/>
              <a:cs typeface="Arial" pitchFamily="34" charset="0"/>
            </a:endParaRPr>
          </a:p>
          <a:p>
            <a:pPr marL="285750" indent="-285750">
              <a:lnSpc>
                <a:spcPct val="150000"/>
              </a:lnSpc>
              <a:buFont typeface="Arial"/>
              <a:buChar char="•"/>
            </a:pPr>
            <a:r>
              <a:rPr lang="en-US" dirty="0">
                <a:solidFill>
                  <a:srgbClr val="0D0D0D"/>
                </a:solidFill>
                <a:latin typeface="Arial" pitchFamily="34" charset="0"/>
                <a:ea typeface="+mn-lt"/>
                <a:cs typeface="Arial" pitchFamily="34" charset="0"/>
              </a:rPr>
              <a:t>Database:  MongoDB</a:t>
            </a:r>
            <a:endParaRPr lang="en-US" dirty="0">
              <a:latin typeface="Arial" pitchFamily="34" charset="0"/>
              <a:cs typeface="Arial" pitchFamily="34" charset="0"/>
            </a:endParaRPr>
          </a:p>
          <a:p>
            <a:br>
              <a:rPr lang="en-US" dirty="0"/>
            </a:br>
            <a:endParaRPr lang="en-US" dirty="0"/>
          </a:p>
        </p:txBody>
      </p:sp>
      <p:sp>
        <p:nvSpPr>
          <p:cNvPr id="5" name="Slide Number Placeholder 4">
            <a:extLst>
              <a:ext uri="{FF2B5EF4-FFF2-40B4-BE49-F238E27FC236}">
                <a16:creationId xmlns:a16="http://schemas.microsoft.com/office/drawing/2014/main" id="{C5EC6457-61F4-ACEB-A755-1A5F3E4075EA}"/>
              </a:ext>
            </a:extLst>
          </p:cNvPr>
          <p:cNvSpPr>
            <a:spLocks noGrp="1"/>
          </p:cNvSpPr>
          <p:nvPr>
            <p:ph type="sldNum" sz="quarter" idx="12"/>
          </p:nvPr>
        </p:nvSpPr>
        <p:spPr/>
        <p:txBody>
          <a:bodyPr/>
          <a:lstStyle/>
          <a:p>
            <a:fld id="{330EA680-D336-4FF7-8B7A-9848BB0A1C32}" type="slidenum">
              <a:rPr lang="en-US" smtClean="0"/>
              <a:pPr/>
              <a:t>6</a:t>
            </a:fld>
            <a:endParaRPr lang="en-US"/>
          </a:p>
        </p:txBody>
      </p:sp>
    </p:spTree>
    <p:extLst>
      <p:ext uri="{BB962C8B-B14F-4D97-AF65-F5344CB8AC3E}">
        <p14:creationId xmlns:p14="http://schemas.microsoft.com/office/powerpoint/2010/main" val="225177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B1CEB1-8BBA-2C25-0CF9-A5EE2B95D4E0}"/>
              </a:ext>
            </a:extLst>
          </p:cNvPr>
          <p:cNvSpPr txBox="1"/>
          <p:nvPr/>
        </p:nvSpPr>
        <p:spPr>
          <a:xfrm>
            <a:off x="404640" y="475012"/>
            <a:ext cx="1143548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Project Management:</a:t>
            </a:r>
            <a:endParaRPr lang="en-US" b="1" dirty="0"/>
          </a:p>
        </p:txBody>
      </p:sp>
      <p:sp>
        <p:nvSpPr>
          <p:cNvPr id="3" name="TextBox 2">
            <a:extLst>
              <a:ext uri="{FF2B5EF4-FFF2-40B4-BE49-F238E27FC236}">
                <a16:creationId xmlns:a16="http://schemas.microsoft.com/office/drawing/2014/main" id="{277610D7-844B-4E1E-D2B4-F3374DC134DC}"/>
              </a:ext>
            </a:extLst>
          </p:cNvPr>
          <p:cNvSpPr txBox="1"/>
          <p:nvPr/>
        </p:nvSpPr>
        <p:spPr>
          <a:xfrm>
            <a:off x="404741" y="1413365"/>
            <a:ext cx="1015119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rial" pitchFamily="34" charset="0"/>
                <a:cs typeface="Arial" pitchFamily="34" charset="0"/>
              </a:rPr>
              <a:t>Project Planning:</a:t>
            </a:r>
          </a:p>
          <a:p>
            <a:pPr marL="285750" indent="-285750">
              <a:lnSpc>
                <a:spcPct val="150000"/>
              </a:lnSpc>
              <a:buFont typeface="Arial"/>
              <a:buChar char="•"/>
            </a:pPr>
            <a:r>
              <a:rPr lang="en-US" dirty="0">
                <a:solidFill>
                  <a:srgbClr val="0D0D0D"/>
                </a:solidFill>
                <a:latin typeface="Arial" pitchFamily="34" charset="0"/>
                <a:ea typeface="+mn-lt"/>
                <a:cs typeface="Arial" pitchFamily="34" charset="0"/>
              </a:rPr>
              <a:t>Agile development model for iterative improvements.</a:t>
            </a:r>
            <a:endParaRPr lang="en-US" dirty="0">
              <a:latin typeface="Arial" pitchFamily="34" charset="0"/>
              <a:cs typeface="Arial" pitchFamily="34" charset="0"/>
            </a:endParaRPr>
          </a:p>
          <a:p>
            <a:pPr marL="285750" indent="-285750">
              <a:lnSpc>
                <a:spcPct val="150000"/>
              </a:lnSpc>
              <a:buFont typeface="Arial"/>
              <a:buChar char="•"/>
            </a:pPr>
            <a:r>
              <a:rPr lang="en-US" dirty="0">
                <a:solidFill>
                  <a:srgbClr val="0D0D0D"/>
                </a:solidFill>
                <a:latin typeface="Arial" pitchFamily="34" charset="0"/>
                <a:ea typeface="+mn-lt"/>
                <a:cs typeface="Arial" pitchFamily="34" charset="0"/>
              </a:rPr>
              <a:t>Phased approach: requirements, design, development, testing, deployment.</a:t>
            </a:r>
            <a:endParaRPr lang="en-US" dirty="0">
              <a:latin typeface="Arial" pitchFamily="34" charset="0"/>
              <a:cs typeface="Arial" pitchFamily="34" charset="0"/>
            </a:endParaRPr>
          </a:p>
          <a:p>
            <a:endParaRPr lang="en-US" b="1" dirty="0">
              <a:latin typeface="Arial" pitchFamily="34" charset="0"/>
              <a:cs typeface="Arial" pitchFamily="34" charset="0"/>
            </a:endParaRPr>
          </a:p>
        </p:txBody>
      </p:sp>
      <p:sp>
        <p:nvSpPr>
          <p:cNvPr id="4" name="TextBox 3">
            <a:extLst>
              <a:ext uri="{FF2B5EF4-FFF2-40B4-BE49-F238E27FC236}">
                <a16:creationId xmlns:a16="http://schemas.microsoft.com/office/drawing/2014/main" id="{0FEB2296-79AB-085E-C8A5-E8940A1E607C}"/>
              </a:ext>
            </a:extLst>
          </p:cNvPr>
          <p:cNvSpPr txBox="1"/>
          <p:nvPr/>
        </p:nvSpPr>
        <p:spPr>
          <a:xfrm>
            <a:off x="527791" y="3377865"/>
            <a:ext cx="1039749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rial" pitchFamily="34" charset="0"/>
                <a:cs typeface="Arial" pitchFamily="34" charset="0"/>
              </a:rPr>
              <a:t>Roles and Responsibilities :</a:t>
            </a:r>
          </a:p>
          <a:p>
            <a:pPr marL="285750" indent="-285750">
              <a:lnSpc>
                <a:spcPct val="150000"/>
              </a:lnSpc>
              <a:buFont typeface="Arial"/>
              <a:buChar char="•"/>
            </a:pPr>
            <a:r>
              <a:rPr lang="en-US" dirty="0">
                <a:solidFill>
                  <a:srgbClr val="0D0D0D"/>
                </a:solidFill>
                <a:latin typeface="Arial" pitchFamily="34" charset="0"/>
                <a:ea typeface="+mn-lt"/>
                <a:cs typeface="Arial" pitchFamily="34" charset="0"/>
              </a:rPr>
              <a:t>Project Manager: Oversee project progress and coordinate team activities.</a:t>
            </a:r>
            <a:endParaRPr lang="en-US" dirty="0">
              <a:latin typeface="Arial" pitchFamily="34" charset="0"/>
              <a:cs typeface="Arial" pitchFamily="34" charset="0"/>
            </a:endParaRPr>
          </a:p>
          <a:p>
            <a:pPr marL="285750" indent="-285750">
              <a:lnSpc>
                <a:spcPct val="150000"/>
              </a:lnSpc>
              <a:buFont typeface="Arial"/>
              <a:buChar char="•"/>
            </a:pPr>
            <a:r>
              <a:rPr lang="en-US" dirty="0">
                <a:solidFill>
                  <a:srgbClr val="0D0D0D"/>
                </a:solidFill>
                <a:latin typeface="Arial" pitchFamily="34" charset="0"/>
                <a:ea typeface="+mn-lt"/>
                <a:cs typeface="Arial" pitchFamily="34" charset="0"/>
              </a:rPr>
              <a:t>Software Engineers: Develop frontend and backend components.</a:t>
            </a:r>
            <a:endParaRPr lang="en-US" dirty="0">
              <a:latin typeface="Arial" pitchFamily="34" charset="0"/>
              <a:cs typeface="Arial" pitchFamily="34" charset="0"/>
            </a:endParaRPr>
          </a:p>
          <a:p>
            <a:endParaRPr lang="en-US" b="1" dirty="0">
              <a:latin typeface="Arial" pitchFamily="34" charset="0"/>
              <a:cs typeface="Arial" pitchFamily="34" charset="0"/>
            </a:endParaRPr>
          </a:p>
        </p:txBody>
      </p:sp>
      <p:sp>
        <p:nvSpPr>
          <p:cNvPr id="7" name="Slide Number Placeholder 6">
            <a:extLst>
              <a:ext uri="{FF2B5EF4-FFF2-40B4-BE49-F238E27FC236}">
                <a16:creationId xmlns:a16="http://schemas.microsoft.com/office/drawing/2014/main" id="{59424FA7-C60B-1BD7-C8FB-5AFFEE34F30C}"/>
              </a:ext>
            </a:extLst>
          </p:cNvPr>
          <p:cNvSpPr>
            <a:spLocks noGrp="1"/>
          </p:cNvSpPr>
          <p:nvPr>
            <p:ph type="sldNum" sz="quarter" idx="12"/>
          </p:nvPr>
        </p:nvSpPr>
        <p:spPr/>
        <p:txBody>
          <a:bodyPr/>
          <a:lstStyle/>
          <a:p>
            <a:fld id="{330EA680-D336-4FF7-8B7A-9848BB0A1C32}" type="slidenum">
              <a:rPr lang="en-US" smtClean="0"/>
              <a:pPr/>
              <a:t>7</a:t>
            </a:fld>
            <a:endParaRPr lang="en-US"/>
          </a:p>
        </p:txBody>
      </p:sp>
    </p:spTree>
    <p:extLst>
      <p:ext uri="{BB962C8B-B14F-4D97-AF65-F5344CB8AC3E}">
        <p14:creationId xmlns:p14="http://schemas.microsoft.com/office/powerpoint/2010/main" val="4201714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339239-A606-268F-A609-253C1EBCCEDC}"/>
              </a:ext>
            </a:extLst>
          </p:cNvPr>
          <p:cNvSpPr txBox="1"/>
          <p:nvPr/>
        </p:nvSpPr>
        <p:spPr>
          <a:xfrm>
            <a:off x="389246" y="228708"/>
            <a:ext cx="10503052"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Project Scheduling -Gantt Chart</a:t>
            </a:r>
            <a:endParaRPr lang="en-US" sz="2600" b="1" dirty="0"/>
          </a:p>
        </p:txBody>
      </p:sp>
      <p:pic>
        <p:nvPicPr>
          <p:cNvPr id="4" name="Picture 3">
            <a:extLst>
              <a:ext uri="{FF2B5EF4-FFF2-40B4-BE49-F238E27FC236}">
                <a16:creationId xmlns:a16="http://schemas.microsoft.com/office/drawing/2014/main" id="{20DF767E-4633-4CCE-6B08-3938B0439E2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89246" y="720215"/>
            <a:ext cx="10964554" cy="5715091"/>
          </a:xfrm>
          <a:prstGeom prst="rect">
            <a:avLst/>
          </a:prstGeom>
        </p:spPr>
      </p:pic>
      <p:sp>
        <p:nvSpPr>
          <p:cNvPr id="6" name="Slide Number Placeholder 5">
            <a:extLst>
              <a:ext uri="{FF2B5EF4-FFF2-40B4-BE49-F238E27FC236}">
                <a16:creationId xmlns:a16="http://schemas.microsoft.com/office/drawing/2014/main" id="{3DFD0AA0-8EB5-701E-E83B-37D874F2230C}"/>
              </a:ext>
            </a:extLst>
          </p:cNvPr>
          <p:cNvSpPr>
            <a:spLocks noGrp="1"/>
          </p:cNvSpPr>
          <p:nvPr>
            <p:ph type="sldNum" sz="quarter" idx="12"/>
          </p:nvPr>
        </p:nvSpPr>
        <p:spPr/>
        <p:txBody>
          <a:bodyPr/>
          <a:lstStyle/>
          <a:p>
            <a:fld id="{330EA680-D336-4FF7-8B7A-9848BB0A1C32}" type="slidenum">
              <a:rPr lang="en-US" smtClean="0"/>
              <a:pPr/>
              <a:t>8</a:t>
            </a:fld>
            <a:endParaRPr lang="en-US"/>
          </a:p>
        </p:txBody>
      </p:sp>
    </p:spTree>
    <p:extLst>
      <p:ext uri="{BB962C8B-B14F-4D97-AF65-F5344CB8AC3E}">
        <p14:creationId xmlns:p14="http://schemas.microsoft.com/office/powerpoint/2010/main" val="261148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B7B4A3-020E-6509-9A25-078C26B65673}"/>
              </a:ext>
            </a:extLst>
          </p:cNvPr>
          <p:cNvSpPr txBox="1"/>
          <p:nvPr/>
        </p:nvSpPr>
        <p:spPr>
          <a:xfrm>
            <a:off x="228709" y="263895"/>
            <a:ext cx="1108362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Risk Management:</a:t>
            </a:r>
          </a:p>
          <a:p>
            <a:endParaRPr lang="en-US" sz="2200" b="1" dirty="0">
              <a:latin typeface="Times New Roman"/>
              <a:cs typeface="Times New Roman"/>
            </a:endParaRPr>
          </a:p>
        </p:txBody>
      </p:sp>
      <p:sp>
        <p:nvSpPr>
          <p:cNvPr id="4" name="TextBox 3">
            <a:extLst>
              <a:ext uri="{FF2B5EF4-FFF2-40B4-BE49-F238E27FC236}">
                <a16:creationId xmlns:a16="http://schemas.microsoft.com/office/drawing/2014/main" id="{A8504B6A-B262-ED86-4419-DD2CA56BAB4E}"/>
              </a:ext>
            </a:extLst>
          </p:cNvPr>
          <p:cNvSpPr txBox="1"/>
          <p:nvPr/>
        </p:nvSpPr>
        <p:spPr>
          <a:xfrm>
            <a:off x="422233" y="967618"/>
            <a:ext cx="11030844" cy="1149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solidFill>
                  <a:srgbClr val="0D0D0D"/>
                </a:solidFill>
                <a:latin typeface="Arial" pitchFamily="34" charset="0"/>
                <a:ea typeface="+mn-lt"/>
                <a:cs typeface="Arial" pitchFamily="34" charset="0"/>
              </a:rPr>
              <a:t>Identification:</a:t>
            </a:r>
          </a:p>
          <a:p>
            <a:pPr marL="171450" indent="-171450">
              <a:lnSpc>
                <a:spcPct val="150000"/>
              </a:lnSpc>
              <a:buFont typeface="Arial"/>
              <a:buChar char="•"/>
            </a:pPr>
            <a:r>
              <a:rPr lang="en-US" dirty="0">
                <a:solidFill>
                  <a:srgbClr val="0D0D0D"/>
                </a:solidFill>
                <a:latin typeface="Arial" pitchFamily="34" charset="0"/>
                <a:ea typeface="+mn-lt"/>
                <a:cs typeface="Arial" pitchFamily="34" charset="0"/>
              </a:rPr>
              <a:t>Inadequate infrastructure for handling high user traffic.</a:t>
            </a:r>
          </a:p>
          <a:p>
            <a:pPr marL="171450" indent="-171450">
              <a:lnSpc>
                <a:spcPct val="150000"/>
              </a:lnSpc>
              <a:buFont typeface="Arial"/>
              <a:buChar char="•"/>
            </a:pPr>
            <a:r>
              <a:rPr lang="en-US" dirty="0">
                <a:solidFill>
                  <a:srgbClr val="0D0D0D"/>
                </a:solidFill>
                <a:latin typeface="Arial" pitchFamily="34" charset="0"/>
                <a:ea typeface="+mn-lt"/>
                <a:cs typeface="Arial" pitchFamily="34" charset="0"/>
              </a:rPr>
              <a:t>Technical challenges in integrating various technologies.</a:t>
            </a:r>
            <a:endParaRPr lang="en-US" dirty="0">
              <a:latin typeface="Arial" pitchFamily="34" charset="0"/>
              <a:cs typeface="Arial" pitchFamily="34" charset="0"/>
            </a:endParaRPr>
          </a:p>
        </p:txBody>
      </p:sp>
      <p:sp>
        <p:nvSpPr>
          <p:cNvPr id="5" name="TextBox 4">
            <a:extLst>
              <a:ext uri="{FF2B5EF4-FFF2-40B4-BE49-F238E27FC236}">
                <a16:creationId xmlns:a16="http://schemas.microsoft.com/office/drawing/2014/main" id="{E62D5991-0355-0AD6-9A32-F3AF4F765D20}"/>
              </a:ext>
            </a:extLst>
          </p:cNvPr>
          <p:cNvSpPr txBox="1"/>
          <p:nvPr/>
        </p:nvSpPr>
        <p:spPr>
          <a:xfrm>
            <a:off x="425532" y="2636758"/>
            <a:ext cx="8233548" cy="7340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solidFill>
                  <a:srgbClr val="0D0D0D"/>
                </a:solidFill>
                <a:latin typeface="Arial" pitchFamily="34" charset="0"/>
                <a:ea typeface="+mn-lt"/>
                <a:cs typeface="Arial" pitchFamily="34" charset="0"/>
              </a:rPr>
              <a:t>Analysis:</a:t>
            </a:r>
          </a:p>
          <a:p>
            <a:pPr marL="171450" indent="-171450">
              <a:lnSpc>
                <a:spcPct val="150000"/>
              </a:lnSpc>
              <a:buFont typeface="Arial"/>
              <a:buChar char="•"/>
            </a:pPr>
            <a:r>
              <a:rPr lang="en-IN" dirty="0">
                <a:latin typeface="Arial" pitchFamily="34" charset="0"/>
                <a:cs typeface="Arial" pitchFamily="34" charset="0"/>
              </a:rPr>
              <a:t>Disruption in Data Security</a:t>
            </a:r>
            <a:r>
              <a:rPr lang="en-US" dirty="0">
                <a:solidFill>
                  <a:srgbClr val="0D0D0D"/>
                </a:solidFill>
                <a:latin typeface="Arial" pitchFamily="34" charset="0"/>
                <a:ea typeface="+mn-lt"/>
                <a:cs typeface="Arial" pitchFamily="34" charset="0"/>
              </a:rPr>
              <a:t>, loss of data, reputational damage.</a:t>
            </a:r>
            <a:endParaRPr lang="en-US" dirty="0">
              <a:latin typeface="Arial" pitchFamily="34" charset="0"/>
              <a:cs typeface="Arial" pitchFamily="34" charset="0"/>
            </a:endParaRPr>
          </a:p>
        </p:txBody>
      </p:sp>
      <p:sp>
        <p:nvSpPr>
          <p:cNvPr id="7" name="Slide Number Placeholder 6">
            <a:extLst>
              <a:ext uri="{FF2B5EF4-FFF2-40B4-BE49-F238E27FC236}">
                <a16:creationId xmlns:a16="http://schemas.microsoft.com/office/drawing/2014/main" id="{BA1865A8-A643-FED7-9215-3C73B1B6E745}"/>
              </a:ext>
            </a:extLst>
          </p:cNvPr>
          <p:cNvSpPr>
            <a:spLocks noGrp="1"/>
          </p:cNvSpPr>
          <p:nvPr>
            <p:ph type="sldNum" sz="quarter" idx="12"/>
          </p:nvPr>
        </p:nvSpPr>
        <p:spPr/>
        <p:txBody>
          <a:bodyPr/>
          <a:lstStyle/>
          <a:p>
            <a:fld id="{330EA680-D336-4FF7-8B7A-9848BB0A1C32}" type="slidenum">
              <a:rPr lang="en-US" smtClean="0"/>
              <a:pPr/>
              <a:t>9</a:t>
            </a:fld>
            <a:endParaRPr lang="en-US"/>
          </a:p>
        </p:txBody>
      </p:sp>
    </p:spTree>
    <p:extLst>
      <p:ext uri="{BB962C8B-B14F-4D97-AF65-F5344CB8AC3E}">
        <p14:creationId xmlns:p14="http://schemas.microsoft.com/office/powerpoint/2010/main" val="1511208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0EAB2D-D221-7047-DF70-0E87DEAA188D}"/>
              </a:ext>
            </a:extLst>
          </p:cNvPr>
          <p:cNvSpPr txBox="1"/>
          <p:nvPr/>
        </p:nvSpPr>
        <p:spPr>
          <a:xfrm>
            <a:off x="0" y="0"/>
            <a:ext cx="108900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latin typeface="Times New Roman"/>
                <a:cs typeface="Times New Roman"/>
              </a:rPr>
              <a:t>Prior Art Search (PAS):</a:t>
            </a:r>
            <a:endParaRPr lang="en-US" sz="4000"/>
          </a:p>
        </p:txBody>
      </p:sp>
      <p:graphicFrame>
        <p:nvGraphicFramePr>
          <p:cNvPr id="17" name="Table 16">
            <a:extLst>
              <a:ext uri="{FF2B5EF4-FFF2-40B4-BE49-F238E27FC236}">
                <a16:creationId xmlns:a16="http://schemas.microsoft.com/office/drawing/2014/main" id="{B421AB37-0236-9959-419D-AB29A1BF2264}"/>
              </a:ext>
            </a:extLst>
          </p:cNvPr>
          <p:cNvGraphicFramePr>
            <a:graphicFrameLocks noGrp="1"/>
          </p:cNvGraphicFramePr>
          <p:nvPr>
            <p:extLst>
              <p:ext uri="{D42A27DB-BD31-4B8C-83A1-F6EECF244321}">
                <p14:modId xmlns:p14="http://schemas.microsoft.com/office/powerpoint/2010/main" val="2688990530"/>
              </p:ext>
            </p:extLst>
          </p:nvPr>
        </p:nvGraphicFramePr>
        <p:xfrm>
          <a:off x="101600" y="707885"/>
          <a:ext cx="11984886" cy="6141150"/>
        </p:xfrm>
        <a:graphic>
          <a:graphicData uri="http://schemas.openxmlformats.org/drawingml/2006/table">
            <a:tbl>
              <a:tblPr firstRow="1" bandRow="1">
                <a:tableStyleId>{5940675A-B579-460E-94D1-54222C63F5DA}</a:tableStyleId>
              </a:tblPr>
              <a:tblGrid>
                <a:gridCol w="1908906">
                  <a:extLst>
                    <a:ext uri="{9D8B030D-6E8A-4147-A177-3AD203B41FA5}">
                      <a16:colId xmlns:a16="http://schemas.microsoft.com/office/drawing/2014/main" val="3109151351"/>
                    </a:ext>
                  </a:extLst>
                </a:gridCol>
                <a:gridCol w="1846384">
                  <a:extLst>
                    <a:ext uri="{9D8B030D-6E8A-4147-A177-3AD203B41FA5}">
                      <a16:colId xmlns:a16="http://schemas.microsoft.com/office/drawing/2014/main" val="1990444093"/>
                    </a:ext>
                  </a:extLst>
                </a:gridCol>
                <a:gridCol w="1494691">
                  <a:extLst>
                    <a:ext uri="{9D8B030D-6E8A-4147-A177-3AD203B41FA5}">
                      <a16:colId xmlns:a16="http://schemas.microsoft.com/office/drawing/2014/main" val="2528479741"/>
                    </a:ext>
                  </a:extLst>
                </a:gridCol>
                <a:gridCol w="6734905">
                  <a:extLst>
                    <a:ext uri="{9D8B030D-6E8A-4147-A177-3AD203B41FA5}">
                      <a16:colId xmlns:a16="http://schemas.microsoft.com/office/drawing/2014/main" val="1287130365"/>
                    </a:ext>
                  </a:extLst>
                </a:gridCol>
              </a:tblGrid>
              <a:tr h="646112">
                <a:tc>
                  <a:txBody>
                    <a:bodyPr/>
                    <a:lstStyle/>
                    <a:p>
                      <a:pPr lvl="0">
                        <a:lnSpc>
                          <a:spcPct val="150000"/>
                        </a:lnSpc>
                        <a:buNone/>
                      </a:pPr>
                      <a:r>
                        <a:rPr lang="en-US" sz="2200" b="1" i="0" u="none" strike="noStrike" noProof="0" dirty="0">
                          <a:latin typeface="Aptos"/>
                        </a:rPr>
                        <a:t>Paper Title </a:t>
                      </a:r>
                      <a:endParaRPr lang="en-US" sz="2200" b="1" dirty="0"/>
                    </a:p>
                  </a:txBody>
                  <a:tcPr/>
                </a:tc>
                <a:tc>
                  <a:txBody>
                    <a:bodyPr/>
                    <a:lstStyle/>
                    <a:p>
                      <a:pPr lvl="0">
                        <a:lnSpc>
                          <a:spcPct val="100000"/>
                        </a:lnSpc>
                        <a:buNone/>
                      </a:pPr>
                      <a:r>
                        <a:rPr lang="en-US" sz="2200" b="1" i="0" u="none" strike="noStrike" noProof="0" dirty="0">
                          <a:latin typeface="Aptos"/>
                        </a:rPr>
                        <a:t>Paper Author</a:t>
                      </a:r>
                      <a:r>
                        <a:rPr lang="en-US" sz="1800" b="0" i="0" u="none" strike="noStrike" noProof="0" dirty="0">
                          <a:latin typeface="Aptos"/>
                        </a:rPr>
                        <a:t> </a:t>
                      </a:r>
                      <a:endParaRPr lang="en-US" dirty="0"/>
                    </a:p>
                  </a:txBody>
                  <a:tcPr/>
                </a:tc>
                <a:tc>
                  <a:txBody>
                    <a:bodyPr/>
                    <a:lstStyle/>
                    <a:p>
                      <a:pPr lvl="0">
                        <a:lnSpc>
                          <a:spcPct val="100000"/>
                        </a:lnSpc>
                        <a:buNone/>
                      </a:pPr>
                      <a:r>
                        <a:rPr lang="en-US" sz="2200" b="1" i="0" u="none" strike="noStrike" noProof="0" dirty="0">
                          <a:latin typeface="Aptos"/>
                        </a:rPr>
                        <a:t>Published year </a:t>
                      </a:r>
                      <a:endParaRPr lang="en-US" sz="2200" b="1"/>
                    </a:p>
                  </a:txBody>
                  <a:tcPr/>
                </a:tc>
                <a:tc>
                  <a:txBody>
                    <a:bodyPr/>
                    <a:lstStyle/>
                    <a:p>
                      <a:pPr lvl="0">
                        <a:lnSpc>
                          <a:spcPct val="150000"/>
                        </a:lnSpc>
                        <a:buNone/>
                      </a:pPr>
                      <a:r>
                        <a:rPr lang="en-US" sz="2200" b="1" i="0" u="none" strike="noStrike" noProof="0" dirty="0">
                          <a:latin typeface="Aptos"/>
                        </a:rPr>
                        <a:t>Summary</a:t>
                      </a:r>
                      <a:endParaRPr lang="en-US" sz="2200" b="1" dirty="0"/>
                    </a:p>
                  </a:txBody>
                  <a:tcPr/>
                </a:tc>
                <a:extLst>
                  <a:ext uri="{0D108BD9-81ED-4DB2-BD59-A6C34878D82A}">
                    <a16:rowId xmlns:a16="http://schemas.microsoft.com/office/drawing/2014/main" val="1745118417"/>
                  </a:ext>
                </a:extLst>
              </a:tr>
              <a:tr h="3532297">
                <a:tc>
                  <a:txBody>
                    <a:bodyPr/>
                    <a:lstStyle/>
                    <a:p>
                      <a:pPr lvl="0">
                        <a:buNone/>
                      </a:pPr>
                      <a:r>
                        <a:rPr lang="en-US" sz="1600" dirty="0"/>
                        <a:t>The Usefulness of an Augmented Reality-Based Interactive 3D Furniture Catalog as a Tool to Aid Furniture Store Sales Operations</a:t>
                      </a:r>
                    </a:p>
                  </a:txBody>
                  <a:tcPr/>
                </a:tc>
                <a:tc>
                  <a:txBody>
                    <a:bodyPr/>
                    <a:lstStyle/>
                    <a:p>
                      <a:pPr lvl="0">
                        <a:buNone/>
                      </a:pPr>
                      <a:r>
                        <a:rPr lang="pt-BR" sz="2000" b="1" dirty="0"/>
                        <a:t>P. R. S. de Oliveira, R. T. A. Pereira, and C. B. D. Pimentel</a:t>
                      </a:r>
                      <a:r>
                        <a:rPr lang="pt-BR" sz="2000" dirty="0"/>
                        <a:t>.</a:t>
                      </a:r>
                      <a:endParaRPr lang="en-US" sz="2000" dirty="0"/>
                    </a:p>
                  </a:txBody>
                  <a:tcPr/>
                </a:tc>
                <a:tc>
                  <a:txBody>
                    <a:bodyPr/>
                    <a:lstStyle/>
                    <a:p>
                      <a:pPr lvl="0">
                        <a:buNone/>
                      </a:pPr>
                      <a:r>
                        <a:rPr lang="en-US" sz="2000" dirty="0"/>
                        <a:t>2022</a:t>
                      </a:r>
                    </a:p>
                  </a:txBody>
                  <a:tcPr/>
                </a:tc>
                <a:tc>
                  <a:txBody>
                    <a:bodyPr/>
                    <a:lstStyle/>
                    <a:p>
                      <a:pPr lvl="0">
                        <a:buNone/>
                      </a:pPr>
                      <a:r>
                        <a:rPr lang="en-US" sz="1800" dirty="0"/>
                        <a:t>The research paper evaluates the effectiveness of an augmented reality (AR) interactive 3D furniture catalog in enhancing sales operations for furniture stores. It demonstrates how AR technology improves customer engagement and decision-making by providing immersive and interactive product experiences. The study highlights increased sales efficiency and customer satisfaction through the implementation of AR-based tools</a:t>
                      </a:r>
                    </a:p>
                  </a:txBody>
                  <a:tcPr/>
                </a:tc>
                <a:extLst>
                  <a:ext uri="{0D108BD9-81ED-4DB2-BD59-A6C34878D82A}">
                    <a16:rowId xmlns:a16="http://schemas.microsoft.com/office/drawing/2014/main" val="1576516942"/>
                  </a:ext>
                </a:extLst>
              </a:tr>
              <a:tr h="1846853">
                <a:tc>
                  <a:txBody>
                    <a:bodyPr/>
                    <a:lstStyle/>
                    <a:p>
                      <a:pPr lvl="0">
                        <a:buNone/>
                      </a:pPr>
                      <a:r>
                        <a:rPr lang="en-US" sz="1600" dirty="0"/>
                        <a:t>Applying Modern Interactive Techniques to Interior Designing of Home Furniture Stores</a:t>
                      </a:r>
                    </a:p>
                  </a:txBody>
                  <a:tcPr/>
                </a:tc>
                <a:tc>
                  <a:txBody>
                    <a:bodyPr/>
                    <a:lstStyle/>
                    <a:p>
                      <a:pPr lvl="0">
                        <a:buNone/>
                      </a:pPr>
                      <a:r>
                        <a:rPr lang="en-US" sz="2000" b="1" dirty="0"/>
                        <a:t>J. M. Smith, A. L. Brown, and K. P. Johnson</a:t>
                      </a:r>
                      <a:r>
                        <a:rPr lang="en-US" sz="2000" dirty="0"/>
                        <a:t>.</a:t>
                      </a:r>
                    </a:p>
                  </a:txBody>
                  <a:tcPr/>
                </a:tc>
                <a:tc>
                  <a:txBody>
                    <a:bodyPr/>
                    <a:lstStyle/>
                    <a:p>
                      <a:pPr lvl="0">
                        <a:buNone/>
                      </a:pPr>
                      <a:r>
                        <a:rPr lang="en-US" sz="2000" dirty="0"/>
                        <a:t>2024</a:t>
                      </a:r>
                    </a:p>
                  </a:txBody>
                  <a:tcPr/>
                </a:tc>
                <a:tc>
                  <a:txBody>
                    <a:bodyPr/>
                    <a:lstStyle/>
                    <a:p>
                      <a:pPr lvl="0">
                        <a:buNone/>
                      </a:pPr>
                      <a:r>
                        <a:rPr lang="en-US" sz="1800" dirty="0"/>
                        <a:t>The paper explores the integration of modern interactive techniques into the interior design of home furniture stores. It examines how technologies like virtual reality and interactive displays enhance customer engagement and optimize store layouts. The research highlights the potential for these techniques to improve customer experience and boost sales.</a:t>
                      </a:r>
                      <a:endParaRPr lang="en-US" sz="1800" b="0" i="0" u="none" strike="noStrike" noProof="0" dirty="0"/>
                    </a:p>
                  </a:txBody>
                  <a:tcPr/>
                </a:tc>
                <a:extLst>
                  <a:ext uri="{0D108BD9-81ED-4DB2-BD59-A6C34878D82A}">
                    <a16:rowId xmlns:a16="http://schemas.microsoft.com/office/drawing/2014/main" val="3679800026"/>
                  </a:ext>
                </a:extLst>
              </a:tr>
            </a:tbl>
          </a:graphicData>
        </a:graphic>
      </p:graphicFrame>
      <p:sp>
        <p:nvSpPr>
          <p:cNvPr id="5" name="Slide Number Placeholder 4">
            <a:extLst>
              <a:ext uri="{FF2B5EF4-FFF2-40B4-BE49-F238E27FC236}">
                <a16:creationId xmlns:a16="http://schemas.microsoft.com/office/drawing/2014/main" id="{8DC5DB3E-4730-4D6A-2578-0DC7217113A0}"/>
              </a:ext>
            </a:extLst>
          </p:cNvPr>
          <p:cNvSpPr>
            <a:spLocks noGrp="1"/>
          </p:cNvSpPr>
          <p:nvPr>
            <p:ph type="sldNum" sz="quarter" idx="12"/>
          </p:nvPr>
        </p:nvSpPr>
        <p:spPr/>
        <p:txBody>
          <a:bodyPr/>
          <a:lstStyle/>
          <a:p>
            <a:fld id="{330EA680-D336-4FF7-8B7A-9848BB0A1C32}" type="slidenum">
              <a:rPr lang="en-US" smtClean="0"/>
              <a:pPr/>
              <a:t>10</a:t>
            </a:fld>
            <a:endParaRPr lang="en-US"/>
          </a:p>
        </p:txBody>
      </p:sp>
    </p:spTree>
    <p:extLst>
      <p:ext uri="{BB962C8B-B14F-4D97-AF65-F5344CB8AC3E}">
        <p14:creationId xmlns:p14="http://schemas.microsoft.com/office/powerpoint/2010/main" val="653434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0F86F4-3273-9D6A-C670-B29757269023}"/>
              </a:ext>
            </a:extLst>
          </p:cNvPr>
          <p:cNvSpPr txBox="1"/>
          <p:nvPr/>
        </p:nvSpPr>
        <p:spPr>
          <a:xfrm>
            <a:off x="172231" y="203021"/>
            <a:ext cx="11435749"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System Requirements Study:</a:t>
            </a:r>
            <a:endParaRPr lang="en-US" b="1" dirty="0"/>
          </a:p>
        </p:txBody>
      </p:sp>
      <p:sp>
        <p:nvSpPr>
          <p:cNvPr id="3" name="TextBox 2">
            <a:extLst>
              <a:ext uri="{FF2B5EF4-FFF2-40B4-BE49-F238E27FC236}">
                <a16:creationId xmlns:a16="http://schemas.microsoft.com/office/drawing/2014/main" id="{E2B11BFE-86C0-4613-59D0-85369BD614B2}"/>
              </a:ext>
            </a:extLst>
          </p:cNvPr>
          <p:cNvSpPr txBox="1"/>
          <p:nvPr/>
        </p:nvSpPr>
        <p:spPr>
          <a:xfrm>
            <a:off x="334267" y="1266700"/>
            <a:ext cx="11417891"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600" b="1" dirty="0">
                <a:latin typeface="Times New Roman"/>
                <a:cs typeface="Times New Roman"/>
              </a:rPr>
              <a:t>Existing System</a:t>
            </a:r>
            <a:r>
              <a:rPr lang="en-US" sz="2600" b="1" dirty="0">
                <a:latin typeface="Aptos"/>
                <a:cs typeface="Times New Roman"/>
              </a:rPr>
              <a:t>:</a:t>
            </a:r>
            <a:endParaRPr lang="en-US" dirty="0"/>
          </a:p>
          <a:p>
            <a:pPr marL="285750" indent="-285750">
              <a:lnSpc>
                <a:spcPct val="150000"/>
              </a:lnSpc>
              <a:buFont typeface="Arial"/>
              <a:buChar char="•"/>
            </a:pPr>
            <a:r>
              <a:rPr lang="en-US" dirty="0">
                <a:latin typeface="Arial" pitchFamily="34" charset="0"/>
                <a:ea typeface="+mn-lt"/>
                <a:cs typeface="Arial" pitchFamily="34" charset="0"/>
              </a:rPr>
              <a:t>Problems: </a:t>
            </a:r>
            <a:r>
              <a:rPr lang="en-IN" dirty="0">
                <a:latin typeface="Arial" pitchFamily="34" charset="0"/>
                <a:cs typeface="Arial" pitchFamily="34" charset="0"/>
              </a:rPr>
              <a:t>Data Management Issues</a:t>
            </a:r>
            <a:r>
              <a:rPr lang="en-US" dirty="0">
                <a:latin typeface="Arial" pitchFamily="34" charset="0"/>
                <a:ea typeface="+mn-lt"/>
                <a:cs typeface="Arial" pitchFamily="34" charset="0"/>
              </a:rPr>
              <a:t>,</a:t>
            </a:r>
            <a:r>
              <a:rPr lang="en-IN" dirty="0">
                <a:latin typeface="Arial" pitchFamily="34" charset="0"/>
                <a:cs typeface="Arial" pitchFamily="34" charset="0"/>
              </a:rPr>
              <a:t> Scalability Constraint</a:t>
            </a:r>
            <a:r>
              <a:rPr lang="en-US" dirty="0">
                <a:latin typeface="Arial" pitchFamily="34" charset="0"/>
                <a:ea typeface="+mn-lt"/>
                <a:cs typeface="Arial" pitchFamily="34" charset="0"/>
              </a:rPr>
              <a:t>,</a:t>
            </a:r>
            <a:r>
              <a:rPr lang="en-IN" dirty="0">
                <a:latin typeface="Arial" pitchFamily="34" charset="0"/>
                <a:cs typeface="Arial" pitchFamily="34" charset="0"/>
              </a:rPr>
              <a:t> Security Vulnerabilities</a:t>
            </a:r>
            <a:r>
              <a:rPr lang="en-US" dirty="0">
                <a:latin typeface="Arial" pitchFamily="34" charset="0"/>
                <a:ea typeface="+mn-lt"/>
                <a:cs typeface="Arial" pitchFamily="34" charset="0"/>
              </a:rPr>
              <a:t>.</a:t>
            </a:r>
          </a:p>
          <a:p>
            <a:pPr marL="285750" indent="-285750">
              <a:lnSpc>
                <a:spcPct val="150000"/>
              </a:lnSpc>
              <a:buFont typeface="Arial"/>
              <a:buChar char="•"/>
            </a:pPr>
            <a:r>
              <a:rPr lang="en-US" dirty="0">
                <a:latin typeface="Arial" pitchFamily="34" charset="0"/>
                <a:ea typeface="+mn-lt"/>
                <a:cs typeface="Arial" pitchFamily="34" charset="0"/>
              </a:rPr>
              <a:t>Solutions: </a:t>
            </a:r>
            <a:r>
              <a:rPr lang="en-IN" dirty="0">
                <a:latin typeface="Arial" pitchFamily="34" charset="0"/>
                <a:cs typeface="Arial" pitchFamily="34" charset="0"/>
              </a:rPr>
              <a:t>Enhance Data Management, Increase Scalability, Strengthen Security, Upgrade Technology</a:t>
            </a:r>
            <a:r>
              <a:rPr lang="en-US" dirty="0">
                <a:latin typeface="Arial" pitchFamily="34" charset="0"/>
                <a:ea typeface="+mn-lt"/>
                <a:cs typeface="Arial" pitchFamily="34" charset="0"/>
              </a:rPr>
              <a:t>.</a:t>
            </a:r>
            <a:endParaRPr lang="en-US" dirty="0">
              <a:latin typeface="Arial" pitchFamily="34" charset="0"/>
              <a:cs typeface="Arial" pitchFamily="34" charset="0"/>
            </a:endParaRPr>
          </a:p>
          <a:p>
            <a:pPr>
              <a:lnSpc>
                <a:spcPct val="150000"/>
              </a:lnSpc>
            </a:pPr>
            <a:endParaRPr lang="en-US" b="1" dirty="0">
              <a:latin typeface="Arial" pitchFamily="34" charset="0"/>
              <a:cs typeface="Arial" pitchFamily="34" charset="0"/>
            </a:endParaRPr>
          </a:p>
        </p:txBody>
      </p:sp>
      <p:sp>
        <p:nvSpPr>
          <p:cNvPr id="6" name="Slide Number Placeholder 5">
            <a:extLst>
              <a:ext uri="{FF2B5EF4-FFF2-40B4-BE49-F238E27FC236}">
                <a16:creationId xmlns:a16="http://schemas.microsoft.com/office/drawing/2014/main" id="{B47B5880-2EC1-F190-CA07-64ACF4E1FEF3}"/>
              </a:ext>
            </a:extLst>
          </p:cNvPr>
          <p:cNvSpPr>
            <a:spLocks noGrp="1"/>
          </p:cNvSpPr>
          <p:nvPr>
            <p:ph type="sldNum" sz="quarter" idx="12"/>
          </p:nvPr>
        </p:nvSpPr>
        <p:spPr/>
        <p:txBody>
          <a:bodyPr/>
          <a:lstStyle/>
          <a:p>
            <a:fld id="{330EA680-D336-4FF7-8B7A-9848BB0A1C32}" type="slidenum">
              <a:rPr lang="en-US" smtClean="0"/>
              <a:pPr/>
              <a:t>11</a:t>
            </a:fld>
            <a:endParaRPr lang="en-US"/>
          </a:p>
        </p:txBody>
      </p:sp>
    </p:spTree>
    <p:extLst>
      <p:ext uri="{BB962C8B-B14F-4D97-AF65-F5344CB8AC3E}">
        <p14:creationId xmlns:p14="http://schemas.microsoft.com/office/powerpoint/2010/main" val="1109794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2716" y="192506"/>
            <a:ext cx="11646568" cy="3877985"/>
          </a:xfrm>
          <a:prstGeom prst="rect">
            <a:avLst/>
          </a:prstGeom>
        </p:spPr>
        <p:txBody>
          <a:bodyPr wrap="square">
            <a:spAutoFit/>
          </a:bodyPr>
          <a:lstStyle/>
          <a:p>
            <a:r>
              <a:rPr lang="en-US" sz="2400" b="1" dirty="0"/>
              <a:t>Proposed System:</a:t>
            </a:r>
          </a:p>
          <a:p>
            <a:endParaRPr lang="en-US" sz="2400" dirty="0"/>
          </a:p>
          <a:p>
            <a:r>
              <a:rPr lang="en-US" sz="2400" b="1" dirty="0"/>
              <a:t>Modules &amp; Features in the New System:</a:t>
            </a:r>
          </a:p>
          <a:p>
            <a:endParaRPr lang="en-US" sz="2400" dirty="0"/>
          </a:p>
          <a:p>
            <a:pPr lvl="1"/>
            <a:r>
              <a:rPr lang="en-US" b="1" dirty="0">
                <a:latin typeface="Arial" pitchFamily="34" charset="0"/>
                <a:cs typeface="Arial" pitchFamily="34" charset="0"/>
              </a:rPr>
              <a:t>Product Management:</a:t>
            </a:r>
            <a:r>
              <a:rPr lang="en-US" dirty="0">
                <a:latin typeface="Arial" pitchFamily="34" charset="0"/>
                <a:cs typeface="Arial" pitchFamily="34" charset="0"/>
              </a:rPr>
              <a:t> Create, organize, and manage product listings.</a:t>
            </a:r>
          </a:p>
          <a:p>
            <a:pPr lvl="1"/>
            <a:endParaRPr lang="en-US" dirty="0">
              <a:latin typeface="Arial" pitchFamily="34" charset="0"/>
              <a:cs typeface="Arial" pitchFamily="34" charset="0"/>
            </a:endParaRPr>
          </a:p>
          <a:p>
            <a:pPr lvl="1"/>
            <a:r>
              <a:rPr lang="en-US" b="1" dirty="0">
                <a:latin typeface="Arial" pitchFamily="34" charset="0"/>
                <a:cs typeface="Arial" pitchFamily="34" charset="0"/>
              </a:rPr>
              <a:t>Order Processing:</a:t>
            </a:r>
            <a:r>
              <a:rPr lang="en-US" dirty="0">
                <a:latin typeface="Arial" pitchFamily="34" charset="0"/>
                <a:cs typeface="Arial" pitchFamily="34" charset="0"/>
              </a:rPr>
              <a:t> Handle order placements, payments, and tracking</a:t>
            </a:r>
          </a:p>
          <a:p>
            <a:pPr lvl="1"/>
            <a:endParaRPr lang="en-US" dirty="0">
              <a:latin typeface="Arial" pitchFamily="34" charset="0"/>
              <a:cs typeface="Arial" pitchFamily="34" charset="0"/>
            </a:endParaRPr>
          </a:p>
          <a:p>
            <a:pPr lvl="1"/>
            <a:r>
              <a:rPr lang="en-US" b="1" dirty="0">
                <a:latin typeface="Arial" pitchFamily="34" charset="0"/>
                <a:cs typeface="Arial" pitchFamily="34" charset="0"/>
              </a:rPr>
              <a:t>Content Management:</a:t>
            </a:r>
            <a:r>
              <a:rPr lang="en-US" dirty="0">
                <a:latin typeface="Arial" pitchFamily="34" charset="0"/>
                <a:cs typeface="Arial" pitchFamily="34" charset="0"/>
              </a:rPr>
              <a:t> Manage product descriptions, images, and promotional content.</a:t>
            </a:r>
          </a:p>
          <a:p>
            <a:pPr lvl="1"/>
            <a:endParaRPr lang="en-US" dirty="0">
              <a:latin typeface="Arial" pitchFamily="34" charset="0"/>
              <a:cs typeface="Arial" pitchFamily="34" charset="0"/>
            </a:endParaRPr>
          </a:p>
          <a:p>
            <a:pPr lvl="1"/>
            <a:r>
              <a:rPr lang="en-US" b="1" dirty="0">
                <a:latin typeface="Arial" pitchFamily="34" charset="0"/>
                <a:cs typeface="Arial" pitchFamily="34" charset="0"/>
              </a:rPr>
              <a:t>Customer Support:</a:t>
            </a:r>
            <a:r>
              <a:rPr lang="en-US" dirty="0">
                <a:latin typeface="Arial" pitchFamily="34" charset="0"/>
                <a:cs typeface="Arial" pitchFamily="34" charset="0"/>
              </a:rPr>
              <a:t> Provide assistance through chat, email, and ticketing systems.</a:t>
            </a:r>
          </a:p>
          <a:p>
            <a:pPr lvl="1"/>
            <a:endParaRPr lang="en-US" sz="2400" dirty="0"/>
          </a:p>
        </p:txBody>
      </p:sp>
      <p:sp>
        <p:nvSpPr>
          <p:cNvPr id="5" name="Slide Number Placeholder 4">
            <a:extLst>
              <a:ext uri="{FF2B5EF4-FFF2-40B4-BE49-F238E27FC236}">
                <a16:creationId xmlns:a16="http://schemas.microsoft.com/office/drawing/2014/main" id="{731AA950-1898-04EE-E6B5-73545F03743B}"/>
              </a:ext>
            </a:extLst>
          </p:cNvPr>
          <p:cNvSpPr>
            <a:spLocks noGrp="1"/>
          </p:cNvSpPr>
          <p:nvPr>
            <p:ph type="sldNum" sz="quarter" idx="12"/>
          </p:nvPr>
        </p:nvSpPr>
        <p:spPr/>
        <p:txBody>
          <a:bodyPr/>
          <a:lstStyle/>
          <a:p>
            <a:fld id="{330EA680-D336-4FF7-8B7A-9848BB0A1C32}"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6674" y="304800"/>
            <a:ext cx="11935326" cy="2585323"/>
          </a:xfrm>
          <a:prstGeom prst="rect">
            <a:avLst/>
          </a:prstGeom>
        </p:spPr>
        <p:txBody>
          <a:bodyPr wrap="square">
            <a:spAutoFit/>
          </a:bodyPr>
          <a:lstStyle/>
          <a:p>
            <a:endParaRPr lang="en-US" sz="2400" b="1" dirty="0"/>
          </a:p>
          <a:p>
            <a:r>
              <a:rPr lang="en-US" sz="2400" b="1" dirty="0"/>
              <a:t>User Characteristics:</a:t>
            </a:r>
          </a:p>
          <a:p>
            <a:endParaRPr lang="en-US" sz="2400" dirty="0"/>
          </a:p>
          <a:p>
            <a:pPr lvl="1"/>
            <a:r>
              <a:rPr lang="en-US" b="1" dirty="0">
                <a:latin typeface="Arial" pitchFamily="34" charset="0"/>
                <a:cs typeface="Arial" pitchFamily="34" charset="0"/>
              </a:rPr>
              <a:t>Administrators:</a:t>
            </a:r>
            <a:r>
              <a:rPr lang="en-US" dirty="0">
                <a:latin typeface="Arial" pitchFamily="34" charset="0"/>
                <a:cs typeface="Arial" pitchFamily="34" charset="0"/>
              </a:rPr>
              <a:t> Manage system settings, oversee user accounts, and handle system configurations.</a:t>
            </a:r>
          </a:p>
          <a:p>
            <a:pPr lvl="1"/>
            <a:endParaRPr lang="en-US" dirty="0">
              <a:latin typeface="Arial" pitchFamily="34" charset="0"/>
              <a:cs typeface="Arial" pitchFamily="34" charset="0"/>
            </a:endParaRPr>
          </a:p>
          <a:p>
            <a:pPr lvl="1"/>
            <a:r>
              <a:rPr lang="en-US" b="1" dirty="0">
                <a:latin typeface="Arial" pitchFamily="34" charset="0"/>
                <a:cs typeface="Arial" pitchFamily="34" charset="0"/>
              </a:rPr>
              <a:t>Sellers/Vendors:</a:t>
            </a:r>
            <a:r>
              <a:rPr lang="en-US" dirty="0">
                <a:latin typeface="Arial" pitchFamily="34" charset="0"/>
                <a:cs typeface="Arial" pitchFamily="34" charset="0"/>
              </a:rPr>
              <a:t> List and manage products, process orders, and handle inventory.</a:t>
            </a:r>
          </a:p>
          <a:p>
            <a:pPr lvl="1"/>
            <a:endParaRPr lang="en-US" dirty="0">
              <a:latin typeface="Arial" pitchFamily="34" charset="0"/>
              <a:cs typeface="Arial" pitchFamily="34" charset="0"/>
            </a:endParaRPr>
          </a:p>
          <a:p>
            <a:pPr lvl="1"/>
            <a:r>
              <a:rPr lang="en-US" b="1" dirty="0">
                <a:latin typeface="Arial" pitchFamily="34" charset="0"/>
                <a:cs typeface="Arial" pitchFamily="34" charset="0"/>
              </a:rPr>
              <a:t>Customers:</a:t>
            </a:r>
            <a:r>
              <a:rPr lang="en-US" dirty="0">
                <a:latin typeface="Arial" pitchFamily="34" charset="0"/>
                <a:cs typeface="Arial" pitchFamily="34" charset="0"/>
              </a:rPr>
              <a:t> Browse products, place orders, view order history, and leave reviews.</a:t>
            </a:r>
          </a:p>
        </p:txBody>
      </p:sp>
      <p:sp>
        <p:nvSpPr>
          <p:cNvPr id="5" name="Slide Number Placeholder 4">
            <a:extLst>
              <a:ext uri="{FF2B5EF4-FFF2-40B4-BE49-F238E27FC236}">
                <a16:creationId xmlns:a16="http://schemas.microsoft.com/office/drawing/2014/main" id="{E7875B9D-6678-2DCB-147B-AED52E8F8E61}"/>
              </a:ext>
            </a:extLst>
          </p:cNvPr>
          <p:cNvSpPr>
            <a:spLocks noGrp="1"/>
          </p:cNvSpPr>
          <p:nvPr>
            <p:ph type="sldNum" sz="quarter" idx="12"/>
          </p:nvPr>
        </p:nvSpPr>
        <p:spPr/>
        <p:txBody>
          <a:bodyPr/>
          <a:lstStyle/>
          <a:p>
            <a:fld id="{330EA680-D336-4FF7-8B7A-9848BB0A1C32}"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8DBDE7-68E3-FB5A-8A0B-8E0F30006C32}"/>
              </a:ext>
            </a:extLst>
          </p:cNvPr>
          <p:cNvSpPr txBox="1"/>
          <p:nvPr/>
        </p:nvSpPr>
        <p:spPr>
          <a:xfrm>
            <a:off x="351860" y="384848"/>
            <a:ext cx="10432680"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Hardware &amp; Software Requirements:</a:t>
            </a:r>
            <a:endParaRPr lang="en-US" sz="2600" b="1" dirty="0"/>
          </a:p>
        </p:txBody>
      </p:sp>
      <p:sp>
        <p:nvSpPr>
          <p:cNvPr id="3" name="TextBox 2">
            <a:extLst>
              <a:ext uri="{FF2B5EF4-FFF2-40B4-BE49-F238E27FC236}">
                <a16:creationId xmlns:a16="http://schemas.microsoft.com/office/drawing/2014/main" id="{803D5DB9-D0A3-8530-65E5-D01B502515EB}"/>
              </a:ext>
            </a:extLst>
          </p:cNvPr>
          <p:cNvSpPr txBox="1"/>
          <p:nvPr/>
        </p:nvSpPr>
        <p:spPr>
          <a:xfrm>
            <a:off x="350761" y="991807"/>
            <a:ext cx="10344715" cy="28161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b="1" dirty="0">
                <a:latin typeface="Times New Roman"/>
                <a:ea typeface="+mn-lt"/>
                <a:cs typeface="+mn-lt"/>
              </a:rPr>
              <a:t>Hardware</a:t>
            </a:r>
            <a:r>
              <a:rPr lang="en-US" sz="2400" b="1" dirty="0">
                <a:ea typeface="+mn-lt"/>
                <a:cs typeface="+mn-lt"/>
              </a:rPr>
              <a:t>:</a:t>
            </a:r>
            <a:endParaRPr lang="en-US" sz="2400" b="1" dirty="0"/>
          </a:p>
          <a:p>
            <a:pPr marL="285750" indent="-285750">
              <a:lnSpc>
                <a:spcPct val="150000"/>
              </a:lnSpc>
              <a:buFont typeface="Arial"/>
              <a:buChar char="•"/>
            </a:pPr>
            <a:r>
              <a:rPr lang="en-US" dirty="0">
                <a:latin typeface="Arial" pitchFamily="34" charset="0"/>
                <a:ea typeface="+mn-lt"/>
                <a:cs typeface="Arial" pitchFamily="34" charset="0"/>
              </a:rPr>
              <a:t>Processor: Intel Core i3 or equivalent</a:t>
            </a:r>
          </a:p>
          <a:p>
            <a:pPr marL="285750" indent="-285750">
              <a:lnSpc>
                <a:spcPct val="150000"/>
              </a:lnSpc>
              <a:buFont typeface="Arial"/>
              <a:buChar char="•"/>
            </a:pPr>
            <a:r>
              <a:rPr lang="en-US" dirty="0">
                <a:latin typeface="Arial" pitchFamily="34" charset="0"/>
                <a:ea typeface="+mn-lt"/>
                <a:cs typeface="Arial" pitchFamily="34" charset="0"/>
              </a:rPr>
              <a:t>Memory: 4GB RAM</a:t>
            </a:r>
          </a:p>
          <a:p>
            <a:pPr marL="285750" indent="-285750">
              <a:lnSpc>
                <a:spcPct val="150000"/>
              </a:lnSpc>
              <a:buFont typeface="Arial"/>
              <a:buChar char="•"/>
            </a:pPr>
            <a:r>
              <a:rPr lang="en-US" dirty="0">
                <a:latin typeface="Arial" pitchFamily="34" charset="0"/>
                <a:ea typeface="+mn-lt"/>
                <a:cs typeface="Arial" pitchFamily="34" charset="0"/>
              </a:rPr>
              <a:t>Storage: 128GB SSD or higher</a:t>
            </a:r>
          </a:p>
          <a:p>
            <a:pPr marL="285750" indent="-285750">
              <a:lnSpc>
                <a:spcPct val="150000"/>
              </a:lnSpc>
              <a:buFont typeface="Arial"/>
              <a:buChar char="•"/>
            </a:pPr>
            <a:r>
              <a:rPr lang="en-US" dirty="0">
                <a:latin typeface="Arial" pitchFamily="34" charset="0"/>
                <a:ea typeface="+mn-lt"/>
                <a:cs typeface="Arial" pitchFamily="34" charset="0"/>
              </a:rPr>
              <a:t>Internet Connectivity</a:t>
            </a:r>
          </a:p>
          <a:p>
            <a:pPr algn="l">
              <a:lnSpc>
                <a:spcPct val="150000"/>
              </a:lnSpc>
            </a:pPr>
            <a:endParaRPr lang="en-US" sz="2200" dirty="0"/>
          </a:p>
        </p:txBody>
      </p:sp>
      <p:sp>
        <p:nvSpPr>
          <p:cNvPr id="4" name="TextBox 3">
            <a:extLst>
              <a:ext uri="{FF2B5EF4-FFF2-40B4-BE49-F238E27FC236}">
                <a16:creationId xmlns:a16="http://schemas.microsoft.com/office/drawing/2014/main" id="{447C02FC-8FC8-CB96-8A59-FEC0B5EB95A2}"/>
              </a:ext>
            </a:extLst>
          </p:cNvPr>
          <p:cNvSpPr txBox="1"/>
          <p:nvPr/>
        </p:nvSpPr>
        <p:spPr>
          <a:xfrm>
            <a:off x="299081" y="3852878"/>
            <a:ext cx="9711365" cy="10592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endParaRPr lang="en-US" sz="2200" dirty="0"/>
          </a:p>
          <a:p>
            <a:pPr algn="l">
              <a:lnSpc>
                <a:spcPct val="150000"/>
              </a:lnSpc>
            </a:pPr>
            <a:endParaRPr lang="en-US" sz="2200" dirty="0"/>
          </a:p>
        </p:txBody>
      </p:sp>
      <p:sp>
        <p:nvSpPr>
          <p:cNvPr id="6" name="TextBox 5">
            <a:extLst>
              <a:ext uri="{FF2B5EF4-FFF2-40B4-BE49-F238E27FC236}">
                <a16:creationId xmlns:a16="http://schemas.microsoft.com/office/drawing/2014/main" id="{C000572E-3551-E448-F07B-81C830785E16}"/>
              </a:ext>
            </a:extLst>
          </p:cNvPr>
          <p:cNvSpPr txBox="1"/>
          <p:nvPr/>
        </p:nvSpPr>
        <p:spPr>
          <a:xfrm>
            <a:off x="355159" y="3605475"/>
            <a:ext cx="11261761" cy="21544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latin typeface="Times New Roman"/>
                <a:ea typeface="+mn-lt"/>
                <a:cs typeface="+mn-lt"/>
              </a:rPr>
              <a:t>Software</a:t>
            </a:r>
            <a:r>
              <a:rPr lang="en-US" sz="2600" b="1" dirty="0">
                <a:ea typeface="+mn-lt"/>
                <a:cs typeface="+mn-lt"/>
              </a:rPr>
              <a:t>:</a:t>
            </a:r>
          </a:p>
          <a:p>
            <a:pPr marL="285750" indent="-285750">
              <a:lnSpc>
                <a:spcPct val="150000"/>
              </a:lnSpc>
              <a:buFont typeface="Arial,Sans-Serif"/>
              <a:buChar char="•"/>
            </a:pPr>
            <a:r>
              <a:rPr lang="en-US" dirty="0">
                <a:latin typeface="Arial" pitchFamily="34" charset="0"/>
                <a:cs typeface="Arial" pitchFamily="34" charset="0"/>
              </a:rPr>
              <a:t>Operating System: Windows 10 or macOS Catalina</a:t>
            </a:r>
            <a:endParaRPr lang="en-US" dirty="0">
              <a:solidFill>
                <a:srgbClr val="808080"/>
              </a:solidFill>
              <a:latin typeface="Arial" pitchFamily="34" charset="0"/>
              <a:cs typeface="Arial" pitchFamily="34" charset="0"/>
            </a:endParaRPr>
          </a:p>
          <a:p>
            <a:pPr marL="285750" indent="-285750">
              <a:lnSpc>
                <a:spcPct val="150000"/>
              </a:lnSpc>
              <a:buFont typeface="Arial,Sans-Serif"/>
              <a:buChar char="•"/>
            </a:pPr>
            <a:r>
              <a:rPr lang="en-US" dirty="0">
                <a:latin typeface="Arial" pitchFamily="34" charset="0"/>
                <a:cs typeface="Arial" pitchFamily="34" charset="0"/>
              </a:rPr>
              <a:t>Web Browser: Google Chrome, Mozilla Firefox, Safari</a:t>
            </a:r>
            <a:endParaRPr lang="en-US" dirty="0">
              <a:solidFill>
                <a:srgbClr val="808080"/>
              </a:solidFill>
              <a:latin typeface="Arial" pitchFamily="34" charset="0"/>
              <a:cs typeface="Arial" pitchFamily="34" charset="0"/>
            </a:endParaRPr>
          </a:p>
          <a:p>
            <a:pPr marL="285750" indent="-285750">
              <a:lnSpc>
                <a:spcPct val="150000"/>
              </a:lnSpc>
              <a:buFont typeface="Arial,Sans-Serif"/>
              <a:buChar char="•"/>
            </a:pPr>
            <a:r>
              <a:rPr lang="en-US" dirty="0">
                <a:latin typeface="Arial" pitchFamily="34" charset="0"/>
                <a:cs typeface="Arial" pitchFamily="34" charset="0"/>
              </a:rPr>
              <a:t>Database: </a:t>
            </a:r>
            <a:r>
              <a:rPr lang="en-US" dirty="0">
                <a:solidFill>
                  <a:srgbClr val="0D0D0D"/>
                </a:solidFill>
                <a:latin typeface="Arial" pitchFamily="34" charset="0"/>
                <a:ea typeface="+mn-lt"/>
                <a:cs typeface="Arial" pitchFamily="34" charset="0"/>
              </a:rPr>
              <a:t>MongoDB</a:t>
            </a:r>
            <a:endParaRPr lang="en-US" dirty="0">
              <a:solidFill>
                <a:srgbClr val="808080"/>
              </a:solidFill>
              <a:latin typeface="Arial" pitchFamily="34" charset="0"/>
              <a:ea typeface="+mn-lt"/>
              <a:cs typeface="Arial" pitchFamily="34" charset="0"/>
            </a:endParaRPr>
          </a:p>
          <a:p>
            <a:pPr marL="285750" indent="-285750">
              <a:lnSpc>
                <a:spcPct val="150000"/>
              </a:lnSpc>
              <a:buFont typeface="Arial,Sans-Serif"/>
              <a:buChar char="•"/>
            </a:pPr>
            <a:r>
              <a:rPr lang="en-US" dirty="0">
                <a:latin typeface="Arial" pitchFamily="34" charset="0"/>
                <a:cs typeface="Arial" pitchFamily="34" charset="0"/>
              </a:rPr>
              <a:t>Development Framework: </a:t>
            </a:r>
            <a:r>
              <a:rPr lang="en-US" dirty="0">
                <a:solidFill>
                  <a:srgbClr val="0D0D0D"/>
                </a:solidFill>
                <a:latin typeface="Arial" pitchFamily="34" charset="0"/>
                <a:ea typeface="+mn-lt"/>
                <a:cs typeface="Arial" pitchFamily="34" charset="0"/>
              </a:rPr>
              <a:t>React.js</a:t>
            </a:r>
          </a:p>
        </p:txBody>
      </p:sp>
      <p:sp>
        <p:nvSpPr>
          <p:cNvPr id="8" name="Slide Number Placeholder 7">
            <a:extLst>
              <a:ext uri="{FF2B5EF4-FFF2-40B4-BE49-F238E27FC236}">
                <a16:creationId xmlns:a16="http://schemas.microsoft.com/office/drawing/2014/main" id="{69C8DAD9-0460-1AC8-5CF0-FF40F7E5A875}"/>
              </a:ext>
            </a:extLst>
          </p:cNvPr>
          <p:cNvSpPr>
            <a:spLocks noGrp="1"/>
          </p:cNvSpPr>
          <p:nvPr>
            <p:ph type="sldNum" sz="quarter" idx="12"/>
          </p:nvPr>
        </p:nvSpPr>
        <p:spPr/>
        <p:txBody>
          <a:bodyPr/>
          <a:lstStyle/>
          <a:p>
            <a:fld id="{330EA680-D336-4FF7-8B7A-9848BB0A1C32}" type="slidenum">
              <a:rPr lang="en-US" smtClean="0"/>
              <a:pPr/>
              <a:t>14</a:t>
            </a:fld>
            <a:endParaRPr lang="en-US"/>
          </a:p>
        </p:txBody>
      </p:sp>
    </p:spTree>
    <p:extLst>
      <p:ext uri="{BB962C8B-B14F-4D97-AF65-F5344CB8AC3E}">
        <p14:creationId xmlns:p14="http://schemas.microsoft.com/office/powerpoint/2010/main" val="3044217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51FB3AA-4C20-5422-A189-D38643C4BBD8}"/>
              </a:ext>
            </a:extLst>
          </p:cNvPr>
          <p:cNvSpPr>
            <a:spLocks noGrp="1"/>
          </p:cNvSpPr>
          <p:nvPr>
            <p:ph type="title"/>
          </p:nvPr>
        </p:nvSpPr>
        <p:spPr>
          <a:xfrm>
            <a:off x="297585" y="337416"/>
            <a:ext cx="10515600" cy="603063"/>
          </a:xfrm>
        </p:spPr>
        <p:txBody>
          <a:bodyPr>
            <a:normAutofit/>
          </a:bodyPr>
          <a:lstStyle/>
          <a:p>
            <a:r>
              <a:rPr lang="en-US" sz="3000" b="1" dirty="0"/>
              <a:t>Assumptions</a:t>
            </a:r>
            <a:endParaRPr lang="en-IN" sz="3000" b="1" dirty="0"/>
          </a:p>
        </p:txBody>
      </p:sp>
      <p:sp>
        <p:nvSpPr>
          <p:cNvPr id="2" name="Slide Number Placeholder 1">
            <a:extLst>
              <a:ext uri="{FF2B5EF4-FFF2-40B4-BE49-F238E27FC236}">
                <a16:creationId xmlns:a16="http://schemas.microsoft.com/office/drawing/2014/main" id="{C6C77AEF-F309-229B-EF52-EAAB708E9E8E}"/>
              </a:ext>
            </a:extLst>
          </p:cNvPr>
          <p:cNvSpPr>
            <a:spLocks noGrp="1"/>
          </p:cNvSpPr>
          <p:nvPr>
            <p:ph type="sldNum" sz="quarter" idx="12"/>
          </p:nvPr>
        </p:nvSpPr>
        <p:spPr/>
        <p:txBody>
          <a:bodyPr/>
          <a:lstStyle/>
          <a:p>
            <a:fld id="{330EA680-D336-4FF7-8B7A-9848BB0A1C32}" type="slidenum">
              <a:rPr lang="en-US" smtClean="0"/>
              <a:pPr/>
              <a:t>15</a:t>
            </a:fld>
            <a:endParaRPr lang="en-US"/>
          </a:p>
        </p:txBody>
      </p:sp>
      <p:sp>
        <p:nvSpPr>
          <p:cNvPr id="13" name="Rectangle 1">
            <a:extLst>
              <a:ext uri="{FF2B5EF4-FFF2-40B4-BE49-F238E27FC236}">
                <a16:creationId xmlns:a16="http://schemas.microsoft.com/office/drawing/2014/main" id="{AC0D5C7B-10C4-1783-E19A-BC9FCB5476DC}"/>
              </a:ext>
            </a:extLst>
          </p:cNvPr>
          <p:cNvSpPr>
            <a:spLocks noGrp="1" noChangeArrowheads="1"/>
          </p:cNvSpPr>
          <p:nvPr>
            <p:ph idx="1"/>
          </p:nvPr>
        </p:nvSpPr>
        <p:spPr bwMode="auto">
          <a:xfrm>
            <a:off x="297585" y="1078890"/>
            <a:ext cx="1034892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 Adoption:</a:t>
            </a:r>
            <a:r>
              <a:rPr kumimoji="0" lang="en-US" altLang="en-US" sz="1800" b="0" i="0" u="none" strike="noStrike" cap="none" normalizeH="0" baseline="0" dirty="0">
                <a:ln>
                  <a:noFill/>
                </a:ln>
                <a:solidFill>
                  <a:schemeClr val="tx1"/>
                </a:solidFill>
                <a:effectLst/>
                <a:latin typeface="Arial" panose="020B0604020202020204" pitchFamily="34" charset="0"/>
              </a:rPr>
              <a:t> It is assumed that customers will be willing to engage with and adopt new</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digital tools like AR and VR for furniture shopping.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Technology Integration:</a:t>
            </a:r>
            <a:r>
              <a:rPr kumimoji="0" lang="en-US" altLang="en-US" sz="1800" b="0" i="0" u="none" strike="noStrike" cap="none" normalizeH="0" baseline="0" dirty="0">
                <a:ln>
                  <a:noFill/>
                </a:ln>
                <a:solidFill>
                  <a:schemeClr val="tx1"/>
                </a:solidFill>
                <a:effectLst/>
                <a:latin typeface="Arial" panose="020B0604020202020204" pitchFamily="34" charset="0"/>
              </a:rPr>
              <a:t> The necessary technologies (AR, VR, AI) will integrate smoothly into the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existing</a:t>
            </a: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systems without significant delays.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Sustainability Demand:</a:t>
            </a:r>
            <a:r>
              <a:rPr kumimoji="0" lang="en-US" altLang="en-US" sz="1800" b="0" i="0" u="none" strike="noStrike" cap="none" normalizeH="0" baseline="0" dirty="0">
                <a:ln>
                  <a:noFill/>
                </a:ln>
                <a:solidFill>
                  <a:schemeClr val="tx1"/>
                </a:solidFill>
                <a:effectLst/>
                <a:latin typeface="Arial" panose="020B0604020202020204" pitchFamily="34" charset="0"/>
              </a:rPr>
              <a:t> Customers will prioritize and value eco-friendly and sustainable furniture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options, driving demand.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Partnership Support:</a:t>
            </a:r>
            <a:r>
              <a:rPr kumimoji="0" lang="en-US" altLang="en-US" sz="1800" b="0" i="0" u="none" strike="noStrike" cap="none" normalizeH="0" baseline="0" dirty="0">
                <a:ln>
                  <a:noFill/>
                </a:ln>
                <a:solidFill>
                  <a:schemeClr val="tx1"/>
                </a:solidFill>
                <a:effectLst/>
                <a:latin typeface="Arial" panose="020B0604020202020204" pitchFamily="34" charset="0"/>
              </a:rPr>
              <a:t> Strategic partners (designers, tech providers, manufacturers) will actively</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collaborate and support project goals throughout the development. </a:t>
            </a:r>
          </a:p>
        </p:txBody>
      </p:sp>
    </p:spTree>
    <p:extLst>
      <p:ext uri="{BB962C8B-B14F-4D97-AF65-F5344CB8AC3E}">
        <p14:creationId xmlns:p14="http://schemas.microsoft.com/office/powerpoint/2010/main" val="2063947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89F5-E747-B837-9604-D2C94748C78B}"/>
              </a:ext>
            </a:extLst>
          </p:cNvPr>
          <p:cNvSpPr>
            <a:spLocks noGrp="1"/>
          </p:cNvSpPr>
          <p:nvPr>
            <p:ph type="title"/>
          </p:nvPr>
        </p:nvSpPr>
        <p:spPr>
          <a:xfrm>
            <a:off x="605118" y="-265579"/>
            <a:ext cx="10515600" cy="1690688"/>
          </a:xfrm>
        </p:spPr>
        <p:txBody>
          <a:bodyPr>
            <a:normAutofit/>
          </a:bodyPr>
          <a:lstStyle/>
          <a:p>
            <a:r>
              <a:rPr lang="en-US" sz="2800" b="1" dirty="0"/>
              <a:t>Dependencies</a:t>
            </a:r>
            <a:endParaRPr lang="en-IN" sz="2800" b="1" dirty="0"/>
          </a:p>
        </p:txBody>
      </p:sp>
      <p:sp>
        <p:nvSpPr>
          <p:cNvPr id="3" name="Content Placeholder 2">
            <a:extLst>
              <a:ext uri="{FF2B5EF4-FFF2-40B4-BE49-F238E27FC236}">
                <a16:creationId xmlns:a16="http://schemas.microsoft.com/office/drawing/2014/main" id="{C15AE1EA-5964-5392-E9EF-FE9D125E6C58}"/>
              </a:ext>
            </a:extLst>
          </p:cNvPr>
          <p:cNvSpPr>
            <a:spLocks noGrp="1"/>
          </p:cNvSpPr>
          <p:nvPr>
            <p:ph idx="1"/>
          </p:nvPr>
        </p:nvSpPr>
        <p:spPr>
          <a:xfrm>
            <a:off x="515471" y="1081552"/>
            <a:ext cx="10515600" cy="5274797"/>
          </a:xfrm>
        </p:spPr>
        <p:txBody>
          <a:bodyPr>
            <a:normAutofit/>
          </a:bodyPr>
          <a:lstStyle/>
          <a:p>
            <a:r>
              <a:rPr lang="en-US" sz="1800" b="1" dirty="0">
                <a:latin typeface="Arial" pitchFamily="34" charset="0"/>
                <a:cs typeface="Arial" pitchFamily="34" charset="0"/>
              </a:rPr>
              <a:t>Technology Providers:</a:t>
            </a:r>
            <a:r>
              <a:rPr lang="en-US" sz="1800" dirty="0">
                <a:latin typeface="Arial" pitchFamily="34" charset="0"/>
                <a:cs typeface="Arial" pitchFamily="34" charset="0"/>
              </a:rPr>
              <a:t> The project depends on timely delivery and integration of AR, VR, and AI technologies from external vendors.</a:t>
            </a:r>
          </a:p>
          <a:p>
            <a:endParaRPr lang="en-US" sz="1800" dirty="0">
              <a:latin typeface="Arial" pitchFamily="34" charset="0"/>
              <a:cs typeface="Arial" pitchFamily="34" charset="0"/>
            </a:endParaRPr>
          </a:p>
          <a:p>
            <a:r>
              <a:rPr lang="en-US" sz="1800" b="1" dirty="0">
                <a:latin typeface="Arial" pitchFamily="34" charset="0"/>
                <a:cs typeface="Arial" pitchFamily="34" charset="0"/>
              </a:rPr>
              <a:t>Supply Chain Partners:</a:t>
            </a:r>
            <a:r>
              <a:rPr lang="en-US" sz="1800" dirty="0">
                <a:latin typeface="Arial" pitchFamily="34" charset="0"/>
                <a:cs typeface="Arial" pitchFamily="34" charset="0"/>
              </a:rPr>
              <a:t> Dependence on sustainable material suppliers and manufacturers for eco-friendly furniture production.</a:t>
            </a:r>
          </a:p>
          <a:p>
            <a:endParaRPr lang="en-US" sz="1800" dirty="0">
              <a:latin typeface="Arial" pitchFamily="34" charset="0"/>
              <a:cs typeface="Arial" pitchFamily="34" charset="0"/>
            </a:endParaRPr>
          </a:p>
          <a:p>
            <a:r>
              <a:rPr lang="en-US" sz="1800" b="1" dirty="0">
                <a:latin typeface="Arial" pitchFamily="34" charset="0"/>
                <a:cs typeface="Arial" pitchFamily="34" charset="0"/>
              </a:rPr>
              <a:t>Customer Engagement:</a:t>
            </a:r>
            <a:r>
              <a:rPr lang="en-US" sz="1800" dirty="0">
                <a:latin typeface="Arial" pitchFamily="34" charset="0"/>
                <a:cs typeface="Arial" pitchFamily="34" charset="0"/>
              </a:rPr>
              <a:t> The success of interactive tools like virtual showrooms relies on customer willingness to use and engage with these features.</a:t>
            </a:r>
          </a:p>
          <a:p>
            <a:endParaRPr lang="en-US" sz="1800" dirty="0">
              <a:latin typeface="Arial" pitchFamily="34" charset="0"/>
              <a:cs typeface="Arial" pitchFamily="34" charset="0"/>
            </a:endParaRPr>
          </a:p>
          <a:p>
            <a:r>
              <a:rPr lang="en-US" sz="1800" b="1" dirty="0">
                <a:latin typeface="Arial" pitchFamily="34" charset="0"/>
                <a:cs typeface="Arial" pitchFamily="34" charset="0"/>
              </a:rPr>
              <a:t>Marketing and Sales Teams:</a:t>
            </a:r>
            <a:r>
              <a:rPr lang="en-US" sz="1800" dirty="0">
                <a:latin typeface="Arial" pitchFamily="34" charset="0"/>
                <a:cs typeface="Arial" pitchFamily="34" charset="0"/>
              </a:rPr>
              <a:t> The effectiveness of digital marketing strategies and staff training is critical for expanding market reach and ensuring smooth operations</a:t>
            </a:r>
            <a:r>
              <a:rPr lang="en-US" sz="2000" dirty="0"/>
              <a:t>.</a:t>
            </a:r>
            <a:endParaRPr lang="en-IN" sz="2000" dirty="0"/>
          </a:p>
        </p:txBody>
      </p:sp>
      <p:sp>
        <p:nvSpPr>
          <p:cNvPr id="4" name="Slide Number Placeholder 3">
            <a:extLst>
              <a:ext uri="{FF2B5EF4-FFF2-40B4-BE49-F238E27FC236}">
                <a16:creationId xmlns:a16="http://schemas.microsoft.com/office/drawing/2014/main" id="{098D56F8-5000-3477-8935-C4AA52D22FC2}"/>
              </a:ext>
            </a:extLst>
          </p:cNvPr>
          <p:cNvSpPr>
            <a:spLocks noGrp="1"/>
          </p:cNvSpPr>
          <p:nvPr>
            <p:ph type="sldNum" sz="quarter" idx="12"/>
          </p:nvPr>
        </p:nvSpPr>
        <p:spPr/>
        <p:txBody>
          <a:bodyPr/>
          <a:lstStyle/>
          <a:p>
            <a:fld id="{330EA680-D336-4FF7-8B7A-9848BB0A1C32}" type="slidenum">
              <a:rPr lang="en-US" smtClean="0"/>
              <a:pPr/>
              <a:t>16</a:t>
            </a:fld>
            <a:endParaRPr lang="en-US"/>
          </a:p>
        </p:txBody>
      </p:sp>
    </p:spTree>
    <p:extLst>
      <p:ext uri="{BB962C8B-B14F-4D97-AF65-F5344CB8AC3E}">
        <p14:creationId xmlns:p14="http://schemas.microsoft.com/office/powerpoint/2010/main" val="2330185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B0DCAA-4310-7FF1-D3BF-9D540D4D26BB}"/>
              </a:ext>
            </a:extLst>
          </p:cNvPr>
          <p:cNvSpPr txBox="1"/>
          <p:nvPr/>
        </p:nvSpPr>
        <p:spPr>
          <a:xfrm>
            <a:off x="844" y="5849"/>
            <a:ext cx="8732627"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System Analysis:</a:t>
            </a:r>
            <a:endParaRPr lang="en-US" dirty="0">
              <a:latin typeface="Aptos"/>
              <a:cs typeface="Times New Roman"/>
            </a:endParaRPr>
          </a:p>
          <a:p>
            <a:endParaRPr lang="en-US" sz="4400" b="1" dirty="0">
              <a:latin typeface="Times New Roman"/>
              <a:cs typeface="Times New Roman"/>
            </a:endParaRPr>
          </a:p>
          <a:p>
            <a:br>
              <a:rPr lang="en-US" dirty="0"/>
            </a:br>
            <a:endParaRPr lang="en-US" dirty="0"/>
          </a:p>
        </p:txBody>
      </p:sp>
      <p:sp>
        <p:nvSpPr>
          <p:cNvPr id="4" name="TextBox 3">
            <a:extLst>
              <a:ext uri="{FF2B5EF4-FFF2-40B4-BE49-F238E27FC236}">
                <a16:creationId xmlns:a16="http://schemas.microsoft.com/office/drawing/2014/main" id="{6BDAAE51-452D-F7BB-59D8-891BCF3F997D}"/>
              </a:ext>
            </a:extLst>
          </p:cNvPr>
          <p:cNvSpPr txBox="1"/>
          <p:nvPr/>
        </p:nvSpPr>
        <p:spPr>
          <a:xfrm>
            <a:off x="683110" y="770710"/>
            <a:ext cx="11047336"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dirty="0"/>
          </a:p>
          <a:p>
            <a:r>
              <a:rPr lang="en-US" sz="2400" b="1" dirty="0"/>
              <a:t>Technical Feasibility:</a:t>
            </a:r>
            <a:endParaRPr lang="en-US" sz="2400" dirty="0"/>
          </a:p>
          <a:p>
            <a:pPr lvl="1"/>
            <a:r>
              <a:rPr lang="en-US" dirty="0">
                <a:latin typeface="Arial" pitchFamily="34" charset="0"/>
                <a:cs typeface="Arial" pitchFamily="34" charset="0"/>
              </a:rPr>
              <a:t>Evaluate system requirements (hardware and software)</a:t>
            </a:r>
          </a:p>
          <a:p>
            <a:pPr lvl="1"/>
            <a:r>
              <a:rPr lang="en-US" dirty="0">
                <a:latin typeface="Arial" pitchFamily="34" charset="0"/>
                <a:cs typeface="Arial" pitchFamily="34" charset="0"/>
              </a:rPr>
              <a:t>Address scalability (vertical and horizontal)</a:t>
            </a:r>
          </a:p>
          <a:p>
            <a:pPr lvl="1"/>
            <a:r>
              <a:rPr lang="en-US" dirty="0">
                <a:latin typeface="Arial" pitchFamily="34" charset="0"/>
                <a:cs typeface="Arial" pitchFamily="34" charset="0"/>
              </a:rPr>
              <a:t>Integrate with payment gateways, shipping providers, and CRM systems</a:t>
            </a:r>
          </a:p>
          <a:p>
            <a:pPr lvl="1"/>
            <a:r>
              <a:rPr lang="en-US" dirty="0">
                <a:latin typeface="Arial" pitchFamily="34" charset="0"/>
                <a:cs typeface="Arial" pitchFamily="34" charset="0"/>
              </a:rPr>
              <a:t>Implement security measures and performance optimization</a:t>
            </a:r>
          </a:p>
          <a:p>
            <a:endParaRPr lang="en-US" sz="2400" dirty="0"/>
          </a:p>
          <a:p>
            <a:r>
              <a:rPr lang="en-US" sz="2400" b="1" dirty="0"/>
              <a:t>Operational Feasibility:</a:t>
            </a:r>
            <a:endParaRPr lang="en-US" sz="2400" dirty="0"/>
          </a:p>
          <a:p>
            <a:pPr lvl="1"/>
            <a:r>
              <a:rPr lang="en-US" dirty="0">
                <a:latin typeface="Arial" pitchFamily="34" charset="0"/>
                <a:cs typeface="Arial" pitchFamily="34" charset="0"/>
              </a:rPr>
              <a:t>Assess user acceptance and experience</a:t>
            </a:r>
          </a:p>
          <a:p>
            <a:pPr lvl="1"/>
            <a:r>
              <a:rPr lang="en-US" dirty="0">
                <a:latin typeface="Arial" pitchFamily="34" charset="0"/>
                <a:cs typeface="Arial" pitchFamily="34" charset="0"/>
              </a:rPr>
              <a:t>Manage content effectively (product info, promotions)</a:t>
            </a:r>
          </a:p>
          <a:p>
            <a:pPr lvl="1"/>
            <a:r>
              <a:rPr lang="en-US" dirty="0">
                <a:latin typeface="Arial" pitchFamily="34" charset="0"/>
                <a:cs typeface="Arial" pitchFamily="34" charset="0"/>
              </a:rPr>
              <a:t>Ensure maintenance and support for functionality and security</a:t>
            </a:r>
          </a:p>
          <a:p>
            <a:endParaRPr lang="en-US" sz="2400" dirty="0"/>
          </a:p>
          <a:p>
            <a:r>
              <a:rPr lang="en-US" sz="2400" b="1" dirty="0"/>
              <a:t>Economic Feasibility:</a:t>
            </a:r>
            <a:endParaRPr lang="en-US" sz="2400" dirty="0"/>
          </a:p>
          <a:p>
            <a:pPr lvl="1"/>
            <a:r>
              <a:rPr lang="en-US" dirty="0">
                <a:latin typeface="Arial" pitchFamily="34" charset="0"/>
                <a:cs typeface="Arial" pitchFamily="34" charset="0"/>
              </a:rPr>
              <a:t>Perform cost-benefit analysis (costs vs. benefits)</a:t>
            </a:r>
          </a:p>
          <a:p>
            <a:pPr lvl="1"/>
            <a:r>
              <a:rPr lang="en-US" dirty="0">
                <a:latin typeface="Arial" pitchFamily="34" charset="0"/>
                <a:cs typeface="Arial" pitchFamily="34" charset="0"/>
              </a:rPr>
              <a:t>Conduct risk analysis (financial risks and impacts)</a:t>
            </a:r>
          </a:p>
        </p:txBody>
      </p:sp>
      <p:sp>
        <p:nvSpPr>
          <p:cNvPr id="7" name="TextBox 6">
            <a:extLst>
              <a:ext uri="{FF2B5EF4-FFF2-40B4-BE49-F238E27FC236}">
                <a16:creationId xmlns:a16="http://schemas.microsoft.com/office/drawing/2014/main" id="{3B6F38A3-55D2-3138-3F64-1FDC39B92176}"/>
              </a:ext>
            </a:extLst>
          </p:cNvPr>
          <p:cNvSpPr txBox="1"/>
          <p:nvPr/>
        </p:nvSpPr>
        <p:spPr>
          <a:xfrm>
            <a:off x="683954" y="3972504"/>
            <a:ext cx="509241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dirty="0">
              <a:latin typeface="Times New Roman"/>
              <a:cs typeface="Times New Roman"/>
            </a:endParaRPr>
          </a:p>
          <a:p>
            <a:endParaRPr lang="en-US" sz="2400" b="1" dirty="0">
              <a:latin typeface="Times New Roman"/>
              <a:cs typeface="Times New Roman"/>
            </a:endParaRPr>
          </a:p>
        </p:txBody>
      </p:sp>
      <p:sp>
        <p:nvSpPr>
          <p:cNvPr id="6" name="Slide Number Placeholder 5">
            <a:extLst>
              <a:ext uri="{FF2B5EF4-FFF2-40B4-BE49-F238E27FC236}">
                <a16:creationId xmlns:a16="http://schemas.microsoft.com/office/drawing/2014/main" id="{24631C58-D58F-48D0-D884-0D73D54E5C31}"/>
              </a:ext>
            </a:extLst>
          </p:cNvPr>
          <p:cNvSpPr>
            <a:spLocks noGrp="1"/>
          </p:cNvSpPr>
          <p:nvPr>
            <p:ph type="sldNum" sz="quarter" idx="12"/>
          </p:nvPr>
        </p:nvSpPr>
        <p:spPr/>
        <p:txBody>
          <a:bodyPr/>
          <a:lstStyle/>
          <a:p>
            <a:fld id="{330EA680-D336-4FF7-8B7A-9848BB0A1C32}" type="slidenum">
              <a:rPr lang="en-US" smtClean="0"/>
              <a:pPr/>
              <a:t>17</a:t>
            </a:fld>
            <a:endParaRPr lang="en-US"/>
          </a:p>
        </p:txBody>
      </p:sp>
    </p:spTree>
    <p:extLst>
      <p:ext uri="{BB962C8B-B14F-4D97-AF65-F5344CB8AC3E}">
        <p14:creationId xmlns:p14="http://schemas.microsoft.com/office/powerpoint/2010/main" val="3708411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15AB8E-E9C7-A52B-B444-4D2CBD424BCA}"/>
              </a:ext>
            </a:extLst>
          </p:cNvPr>
          <p:cNvSpPr txBox="1"/>
          <p:nvPr/>
        </p:nvSpPr>
        <p:spPr>
          <a:xfrm>
            <a:off x="196365" y="151627"/>
            <a:ext cx="795876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System Activity Diagram:</a:t>
            </a:r>
            <a:endParaRPr lang="en-US" sz="3000" b="1" dirty="0"/>
          </a:p>
        </p:txBody>
      </p:sp>
      <p:sp>
        <p:nvSpPr>
          <p:cNvPr id="6" name="Slide Number Placeholder 5">
            <a:extLst>
              <a:ext uri="{FF2B5EF4-FFF2-40B4-BE49-F238E27FC236}">
                <a16:creationId xmlns:a16="http://schemas.microsoft.com/office/drawing/2014/main" id="{5D471663-DA86-C744-D78C-24858A5723EE}"/>
              </a:ext>
            </a:extLst>
          </p:cNvPr>
          <p:cNvSpPr>
            <a:spLocks noGrp="1"/>
          </p:cNvSpPr>
          <p:nvPr>
            <p:ph type="sldNum" sz="quarter" idx="12"/>
          </p:nvPr>
        </p:nvSpPr>
        <p:spPr/>
        <p:txBody>
          <a:bodyPr/>
          <a:lstStyle/>
          <a:p>
            <a:fld id="{330EA680-D336-4FF7-8B7A-9848BB0A1C32}" type="slidenum">
              <a:rPr lang="en-US" smtClean="0"/>
              <a:pPr/>
              <a:t>18</a:t>
            </a:fld>
            <a:endParaRPr lang="en-US"/>
          </a:p>
        </p:txBody>
      </p:sp>
      <p:pic>
        <p:nvPicPr>
          <p:cNvPr id="7" name="Picture 6">
            <a:extLst>
              <a:ext uri="{FF2B5EF4-FFF2-40B4-BE49-F238E27FC236}">
                <a16:creationId xmlns:a16="http://schemas.microsoft.com/office/drawing/2014/main" id="{4EF5F7B2-5DC8-0792-3773-8E1344FBB7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7713" y="705625"/>
            <a:ext cx="10046898" cy="6000748"/>
          </a:xfrm>
          <a:prstGeom prst="rect">
            <a:avLst/>
          </a:prstGeom>
        </p:spPr>
      </p:pic>
      <p:sp>
        <p:nvSpPr>
          <p:cNvPr id="9" name="TextBox 8">
            <a:extLst>
              <a:ext uri="{FF2B5EF4-FFF2-40B4-BE49-F238E27FC236}">
                <a16:creationId xmlns:a16="http://schemas.microsoft.com/office/drawing/2014/main" id="{E3AF88C7-6C55-33C4-E642-F9BC5148458C}"/>
              </a:ext>
            </a:extLst>
          </p:cNvPr>
          <p:cNvSpPr txBox="1"/>
          <p:nvPr/>
        </p:nvSpPr>
        <p:spPr>
          <a:xfrm>
            <a:off x="3057326" y="767752"/>
            <a:ext cx="5767496" cy="369332"/>
          </a:xfrm>
          <a:prstGeom prst="rect">
            <a:avLst/>
          </a:prstGeom>
          <a:noFill/>
        </p:spPr>
        <p:txBody>
          <a:bodyPr wrap="square" rtlCol="0">
            <a:spAutoFit/>
          </a:bodyPr>
          <a:lstStyle/>
          <a:p>
            <a:r>
              <a:rPr lang="en-IN" b="1" spc="300" dirty="0">
                <a:effectLst>
                  <a:outerShdw blurRad="38100" dist="38100" dir="2700000" algn="tl">
                    <a:srgbClr val="000000">
                      <a:alpha val="43137"/>
                    </a:srgbClr>
                  </a:outerShdw>
                </a:effectLst>
              </a:rPr>
              <a:t>NextGen Furnishings &amp; Digital Store</a:t>
            </a:r>
          </a:p>
        </p:txBody>
      </p:sp>
    </p:spTree>
    <p:extLst>
      <p:ext uri="{BB962C8B-B14F-4D97-AF65-F5344CB8AC3E}">
        <p14:creationId xmlns:p14="http://schemas.microsoft.com/office/powerpoint/2010/main" val="4022654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D41AB5-3628-2CAE-6B4C-B7958B59D27B}"/>
              </a:ext>
            </a:extLst>
          </p:cNvPr>
          <p:cNvSpPr txBox="1"/>
          <p:nvPr/>
        </p:nvSpPr>
        <p:spPr>
          <a:xfrm>
            <a:off x="285344" y="266224"/>
            <a:ext cx="9520048"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Use Case Diagram:</a:t>
            </a:r>
            <a:endParaRPr lang="en-US" sz="3000" b="1" dirty="0"/>
          </a:p>
        </p:txBody>
      </p:sp>
      <p:sp>
        <p:nvSpPr>
          <p:cNvPr id="6" name="Slide Number Placeholder 5">
            <a:extLst>
              <a:ext uri="{FF2B5EF4-FFF2-40B4-BE49-F238E27FC236}">
                <a16:creationId xmlns:a16="http://schemas.microsoft.com/office/drawing/2014/main" id="{D9209C08-1A78-E8FA-E643-A058A58F2A2E}"/>
              </a:ext>
            </a:extLst>
          </p:cNvPr>
          <p:cNvSpPr>
            <a:spLocks noGrp="1"/>
          </p:cNvSpPr>
          <p:nvPr>
            <p:ph type="sldNum" sz="quarter" idx="12"/>
          </p:nvPr>
        </p:nvSpPr>
        <p:spPr/>
        <p:txBody>
          <a:bodyPr/>
          <a:lstStyle/>
          <a:p>
            <a:fld id="{330EA680-D336-4FF7-8B7A-9848BB0A1C32}" type="slidenum">
              <a:rPr lang="en-US" smtClean="0"/>
              <a:pPr/>
              <a:t>19</a:t>
            </a:fld>
            <a:endParaRPr lang="en-US"/>
          </a:p>
        </p:txBody>
      </p:sp>
      <p:pic>
        <p:nvPicPr>
          <p:cNvPr id="5" name="Picture 4">
            <a:extLst>
              <a:ext uri="{FF2B5EF4-FFF2-40B4-BE49-F238E27FC236}">
                <a16:creationId xmlns:a16="http://schemas.microsoft.com/office/drawing/2014/main" id="{CC4DABF2-788D-F323-7DFD-DD3DE4FA82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819914"/>
            <a:ext cx="9789543" cy="6038086"/>
          </a:xfrm>
          <a:prstGeom prst="rect">
            <a:avLst/>
          </a:prstGeom>
        </p:spPr>
      </p:pic>
      <p:sp>
        <p:nvSpPr>
          <p:cNvPr id="7" name="TextBox 6">
            <a:extLst>
              <a:ext uri="{FF2B5EF4-FFF2-40B4-BE49-F238E27FC236}">
                <a16:creationId xmlns:a16="http://schemas.microsoft.com/office/drawing/2014/main" id="{CD5AE5E8-18E5-D5EF-F309-29504678D132}"/>
              </a:ext>
            </a:extLst>
          </p:cNvPr>
          <p:cNvSpPr txBox="1"/>
          <p:nvPr/>
        </p:nvSpPr>
        <p:spPr>
          <a:xfrm>
            <a:off x="4009163" y="742276"/>
            <a:ext cx="4106172" cy="369332"/>
          </a:xfrm>
          <a:prstGeom prst="rect">
            <a:avLst/>
          </a:prstGeom>
          <a:noFill/>
        </p:spPr>
        <p:txBody>
          <a:bodyPr wrap="square" rtlCol="0">
            <a:spAutoFit/>
          </a:bodyPr>
          <a:lstStyle/>
          <a:p>
            <a:r>
              <a:rPr lang="en-US" dirty="0"/>
              <a:t>NextGen Furnishing &amp; Digital Store</a:t>
            </a:r>
            <a:endParaRPr lang="en-IN" dirty="0"/>
          </a:p>
        </p:txBody>
      </p:sp>
    </p:spTree>
    <p:extLst>
      <p:ext uri="{BB962C8B-B14F-4D97-AF65-F5344CB8AC3E}">
        <p14:creationId xmlns:p14="http://schemas.microsoft.com/office/powerpoint/2010/main" val="1318047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D41AB5-3628-2CAE-6B4C-B7958B59D27B}"/>
              </a:ext>
            </a:extLst>
          </p:cNvPr>
          <p:cNvSpPr txBox="1"/>
          <p:nvPr/>
        </p:nvSpPr>
        <p:spPr>
          <a:xfrm>
            <a:off x="285344" y="266224"/>
            <a:ext cx="952004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Sequence </a:t>
            </a:r>
          </a:p>
          <a:p>
            <a:r>
              <a:rPr lang="en-US" sz="3000" b="1" dirty="0">
                <a:latin typeface="Times New Roman"/>
                <a:cs typeface="Times New Roman"/>
              </a:rPr>
              <a:t>Diagram:</a:t>
            </a:r>
            <a:endParaRPr lang="en-US" sz="3000" b="1" dirty="0"/>
          </a:p>
        </p:txBody>
      </p:sp>
      <p:sp>
        <p:nvSpPr>
          <p:cNvPr id="6" name="Slide Number Placeholder 5">
            <a:extLst>
              <a:ext uri="{FF2B5EF4-FFF2-40B4-BE49-F238E27FC236}">
                <a16:creationId xmlns:a16="http://schemas.microsoft.com/office/drawing/2014/main" id="{D9209C08-1A78-E8FA-E643-A058A58F2A2E}"/>
              </a:ext>
            </a:extLst>
          </p:cNvPr>
          <p:cNvSpPr>
            <a:spLocks noGrp="1"/>
          </p:cNvSpPr>
          <p:nvPr>
            <p:ph type="sldNum" sz="quarter" idx="12"/>
          </p:nvPr>
        </p:nvSpPr>
        <p:spPr/>
        <p:txBody>
          <a:bodyPr/>
          <a:lstStyle/>
          <a:p>
            <a:fld id="{330EA680-D336-4FF7-8B7A-9848BB0A1C32}" type="slidenum">
              <a:rPr lang="en-US" smtClean="0"/>
              <a:pPr/>
              <a:t>20</a:t>
            </a:fld>
            <a:endParaRPr lang="en-US"/>
          </a:p>
        </p:txBody>
      </p:sp>
      <p:pic>
        <p:nvPicPr>
          <p:cNvPr id="4" name="Picture 3">
            <a:extLst>
              <a:ext uri="{FF2B5EF4-FFF2-40B4-BE49-F238E27FC236}">
                <a16:creationId xmlns:a16="http://schemas.microsoft.com/office/drawing/2014/main" id="{A388944F-D740-D38E-F820-7C6FC4AB16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31595" y="136525"/>
            <a:ext cx="8450036" cy="6566801"/>
          </a:xfrm>
          <a:prstGeom prst="rect">
            <a:avLst/>
          </a:prstGeom>
        </p:spPr>
      </p:pic>
      <p:sp>
        <p:nvSpPr>
          <p:cNvPr id="5" name="Rectangle 4">
            <a:extLst>
              <a:ext uri="{FF2B5EF4-FFF2-40B4-BE49-F238E27FC236}">
                <a16:creationId xmlns:a16="http://schemas.microsoft.com/office/drawing/2014/main" id="{83382C0C-C3C6-074A-626E-E49058752FE6}"/>
              </a:ext>
            </a:extLst>
          </p:cNvPr>
          <p:cNvSpPr/>
          <p:nvPr/>
        </p:nvSpPr>
        <p:spPr>
          <a:xfrm>
            <a:off x="8292353" y="6149788"/>
            <a:ext cx="2034988" cy="5716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1"/>
                </a:solidFill>
              </a:ln>
              <a:solidFill>
                <a:schemeClr val="bg1"/>
              </a:solidFill>
            </a:endParaRPr>
          </a:p>
        </p:txBody>
      </p:sp>
    </p:spTree>
    <p:extLst>
      <p:ext uri="{BB962C8B-B14F-4D97-AF65-F5344CB8AC3E}">
        <p14:creationId xmlns:p14="http://schemas.microsoft.com/office/powerpoint/2010/main" val="44066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7C1C966-100C-34AF-EEAB-9B409C8C1A16}"/>
              </a:ext>
            </a:extLst>
          </p:cNvPr>
          <p:cNvGraphicFramePr>
            <a:graphicFrameLocks noGrp="1"/>
          </p:cNvGraphicFramePr>
          <p:nvPr>
            <p:extLst>
              <p:ext uri="{D42A27DB-BD31-4B8C-83A1-F6EECF244321}">
                <p14:modId xmlns:p14="http://schemas.microsoft.com/office/powerpoint/2010/main" val="2709931771"/>
              </p:ext>
            </p:extLst>
          </p:nvPr>
        </p:nvGraphicFramePr>
        <p:xfrm>
          <a:off x="1859280" y="1357376"/>
          <a:ext cx="9026373" cy="3126891"/>
        </p:xfrm>
        <a:graphic>
          <a:graphicData uri="http://schemas.openxmlformats.org/drawingml/2006/table">
            <a:tbl>
              <a:tblPr firstRow="1" bandRow="1">
                <a:tableStyleId>{5C22544A-7EE6-4342-B048-85BDC9FD1C3A}</a:tableStyleId>
              </a:tblPr>
              <a:tblGrid>
                <a:gridCol w="3008791">
                  <a:extLst>
                    <a:ext uri="{9D8B030D-6E8A-4147-A177-3AD203B41FA5}">
                      <a16:colId xmlns:a16="http://schemas.microsoft.com/office/drawing/2014/main" val="656490514"/>
                    </a:ext>
                  </a:extLst>
                </a:gridCol>
                <a:gridCol w="3008791">
                  <a:extLst>
                    <a:ext uri="{9D8B030D-6E8A-4147-A177-3AD203B41FA5}">
                      <a16:colId xmlns:a16="http://schemas.microsoft.com/office/drawing/2014/main" val="1586978359"/>
                    </a:ext>
                  </a:extLst>
                </a:gridCol>
                <a:gridCol w="3008791">
                  <a:extLst>
                    <a:ext uri="{9D8B030D-6E8A-4147-A177-3AD203B41FA5}">
                      <a16:colId xmlns:a16="http://schemas.microsoft.com/office/drawing/2014/main" val="1098642673"/>
                    </a:ext>
                  </a:extLst>
                </a:gridCol>
              </a:tblGrid>
              <a:tr h="970414">
                <a:tc>
                  <a:txBody>
                    <a:bodyPr/>
                    <a:lstStyle/>
                    <a:p>
                      <a:pPr lvl="0">
                        <a:buNone/>
                      </a:pPr>
                      <a:r>
                        <a:rPr lang="en-US" sz="2800" dirty="0"/>
                        <a:t>User</a:t>
                      </a:r>
                    </a:p>
                  </a:txBody>
                  <a:tcPr/>
                </a:tc>
                <a:tc>
                  <a:txBody>
                    <a:bodyPr/>
                    <a:lstStyle/>
                    <a:p>
                      <a:pPr lvl="0">
                        <a:buNone/>
                      </a:pPr>
                      <a:r>
                        <a:rPr lang="en-US" sz="2900" b="1" i="0" u="none" strike="noStrike" noProof="0" dirty="0">
                          <a:solidFill>
                            <a:srgbClr val="FFFFFF"/>
                          </a:solidFill>
                          <a:latin typeface="Aptos"/>
                        </a:rPr>
                        <a:t>Product</a:t>
                      </a:r>
                      <a:endParaRPr lang="en-US" dirty="0"/>
                    </a:p>
                  </a:txBody>
                  <a:tcPr/>
                </a:tc>
                <a:tc>
                  <a:txBody>
                    <a:bodyPr/>
                    <a:lstStyle/>
                    <a:p>
                      <a:pPr lvl="0">
                        <a:buNone/>
                      </a:pPr>
                      <a:endParaRPr lang="en-US" dirty="0"/>
                    </a:p>
                  </a:txBody>
                  <a:tcPr/>
                </a:tc>
                <a:extLst>
                  <a:ext uri="{0D108BD9-81ED-4DB2-BD59-A6C34878D82A}">
                    <a16:rowId xmlns:a16="http://schemas.microsoft.com/office/drawing/2014/main" val="3577977982"/>
                  </a:ext>
                </a:extLst>
              </a:tr>
              <a:tr h="862591">
                <a:tc>
                  <a:txBody>
                    <a:bodyPr/>
                    <a:lstStyle/>
                    <a:p>
                      <a:pPr lvl="0">
                        <a:buNone/>
                      </a:pPr>
                      <a:r>
                        <a:rPr lang="en-US" sz="1700" b="0" i="0" u="none" strike="noStrike" noProof="0" dirty="0" err="1">
                          <a:solidFill>
                            <a:schemeClr val="tx1"/>
                          </a:solidFill>
                          <a:latin typeface="Segoe UI"/>
                        </a:rPr>
                        <a:t>User_id</a:t>
                      </a:r>
                      <a:endParaRPr lang="en-US" sz="1700" b="0" i="0" u="none" strike="noStrike" noProof="0" dirty="0">
                        <a:solidFill>
                          <a:srgbClr val="000000"/>
                        </a:solidFill>
                        <a:latin typeface="Segoe UI"/>
                      </a:endParaRPr>
                    </a:p>
                    <a:p>
                      <a:pPr lvl="0">
                        <a:buNone/>
                      </a:pPr>
                      <a:r>
                        <a:rPr lang="en-US" sz="1700" b="0" i="0" u="none" strike="noStrike" noProof="0" dirty="0">
                          <a:solidFill>
                            <a:schemeClr val="tx1"/>
                          </a:solidFill>
                          <a:latin typeface="Segoe UI"/>
                        </a:rPr>
                        <a:t>(Primary Key)</a:t>
                      </a:r>
                      <a:endParaRPr lang="en-US" dirty="0"/>
                    </a:p>
                  </a:txBody>
                  <a:tcPr/>
                </a:tc>
                <a:tc>
                  <a:txBody>
                    <a:bodyPr/>
                    <a:lstStyle/>
                    <a:p>
                      <a:pPr lvl="0">
                        <a:buNone/>
                      </a:pPr>
                      <a:r>
                        <a:rPr lang="en-US" sz="1800" b="0" i="0" u="none" strike="noStrike" noProof="0" dirty="0" err="1">
                          <a:solidFill>
                            <a:srgbClr val="000000"/>
                          </a:solidFill>
                          <a:latin typeface="Segoe UI"/>
                        </a:rPr>
                        <a:t>Product_id</a:t>
                      </a:r>
                      <a:endParaRPr lang="en-US" sz="1800" b="0" i="0" u="none" strike="noStrike" noProof="0" dirty="0">
                        <a:solidFill>
                          <a:srgbClr val="000000"/>
                        </a:solidFill>
                        <a:latin typeface="Segoe UI"/>
                      </a:endParaRPr>
                    </a:p>
                    <a:p>
                      <a:pPr lvl="0">
                        <a:buNone/>
                      </a:pPr>
                      <a:r>
                        <a:rPr lang="en-US" sz="1700" b="0" i="0" u="none" strike="noStrike" noProof="0" dirty="0">
                          <a:solidFill>
                            <a:schemeClr val="tx1"/>
                          </a:solidFill>
                          <a:latin typeface="Segoe UI"/>
                        </a:rPr>
                        <a:t>(Primary Key)</a:t>
                      </a:r>
                      <a:endParaRPr lang="en-US" dirty="0"/>
                    </a:p>
                  </a:txBody>
                  <a:tcPr/>
                </a:tc>
                <a:tc>
                  <a:txBody>
                    <a:bodyPr/>
                    <a:lstStyle/>
                    <a:p>
                      <a:pPr lvl="0">
                        <a:buNone/>
                      </a:pPr>
                      <a:r>
                        <a:rPr lang="en-US" sz="1800" b="0" i="0" u="none" strike="noStrike" noProof="0" dirty="0" err="1">
                          <a:solidFill>
                            <a:srgbClr val="000000"/>
                          </a:solidFill>
                          <a:latin typeface="Segoe UI"/>
                        </a:rPr>
                        <a:t>Instructure_id</a:t>
                      </a:r>
                      <a:endParaRPr lang="en-US" sz="1800" b="0" i="0" u="none" strike="noStrike" noProof="0" dirty="0">
                        <a:solidFill>
                          <a:srgbClr val="000000"/>
                        </a:solidFill>
                        <a:latin typeface="Segoe UI"/>
                      </a:endParaRPr>
                    </a:p>
                    <a:p>
                      <a:pPr lvl="0">
                        <a:buNone/>
                      </a:pPr>
                      <a:r>
                        <a:rPr lang="en-US" sz="1700" b="0" i="0" u="none" strike="noStrike" noProof="0" dirty="0">
                          <a:solidFill>
                            <a:schemeClr val="tx1"/>
                          </a:solidFill>
                          <a:latin typeface="Segoe UI"/>
                        </a:rPr>
                        <a:t>(Primary Key)</a:t>
                      </a:r>
                      <a:endParaRPr lang="en-US" dirty="0"/>
                    </a:p>
                  </a:txBody>
                  <a:tcPr/>
                </a:tc>
                <a:extLst>
                  <a:ext uri="{0D108BD9-81ED-4DB2-BD59-A6C34878D82A}">
                    <a16:rowId xmlns:a16="http://schemas.microsoft.com/office/drawing/2014/main" val="3255014293"/>
                  </a:ext>
                </a:extLst>
              </a:tr>
              <a:tr h="646943">
                <a:tc>
                  <a:txBody>
                    <a:bodyPr/>
                    <a:lstStyle/>
                    <a:p>
                      <a:pPr lvl="0">
                        <a:buNone/>
                      </a:pPr>
                      <a:r>
                        <a:rPr lang="en-US" sz="1800" b="0" i="0" u="none" strike="noStrike" noProof="0" dirty="0" err="1">
                          <a:solidFill>
                            <a:srgbClr val="000000"/>
                          </a:solidFill>
                          <a:latin typeface="Aptos"/>
                        </a:rPr>
                        <a:t>User_name</a:t>
                      </a:r>
                      <a:endParaRPr lang="en-US" dirty="0" err="1"/>
                    </a:p>
                  </a:txBody>
                  <a:tcPr/>
                </a:tc>
                <a:tc>
                  <a:txBody>
                    <a:bodyPr/>
                    <a:lstStyle/>
                    <a:p>
                      <a:pPr lvl="0">
                        <a:buNone/>
                      </a:pPr>
                      <a:r>
                        <a:rPr lang="en-US" sz="1800" b="0" i="0" u="none" strike="noStrike" noProof="0" dirty="0" err="1">
                          <a:solidFill>
                            <a:srgbClr val="000000"/>
                          </a:solidFill>
                          <a:latin typeface="Aptos"/>
                        </a:rPr>
                        <a:t>Product_name</a:t>
                      </a:r>
                      <a:endParaRPr lang="en-US" dirty="0" err="1"/>
                    </a:p>
                  </a:txBody>
                  <a:tcPr/>
                </a:tc>
                <a:tc>
                  <a:txBody>
                    <a:bodyPr/>
                    <a:lstStyle/>
                    <a:p>
                      <a:pPr lvl="0">
                        <a:buNone/>
                      </a:pPr>
                      <a:r>
                        <a:rPr lang="en-US" sz="1800" b="0" i="0" u="none" strike="noStrike" noProof="0" dirty="0" err="1">
                          <a:solidFill>
                            <a:srgbClr val="000000"/>
                          </a:solidFill>
                          <a:latin typeface="Aptos"/>
                        </a:rPr>
                        <a:t>Instructure_name</a:t>
                      </a:r>
                      <a:endParaRPr lang="en-US" dirty="0" err="1"/>
                    </a:p>
                  </a:txBody>
                  <a:tcPr/>
                </a:tc>
                <a:extLst>
                  <a:ext uri="{0D108BD9-81ED-4DB2-BD59-A6C34878D82A}">
                    <a16:rowId xmlns:a16="http://schemas.microsoft.com/office/drawing/2014/main" val="789958730"/>
                  </a:ext>
                </a:extLst>
              </a:tr>
              <a:tr h="646943">
                <a:tc>
                  <a:txBody>
                    <a:bodyPr/>
                    <a:lstStyle/>
                    <a:p>
                      <a:pPr lvl="0">
                        <a:buNone/>
                      </a:pPr>
                      <a:endParaRPr lang="en-US" dirty="0"/>
                    </a:p>
                  </a:txBody>
                  <a:tcPr/>
                </a:tc>
                <a:tc>
                  <a:txBody>
                    <a:bodyPr/>
                    <a:lstStyle/>
                    <a:p>
                      <a:endParaRPr lang="en-US"/>
                    </a:p>
                  </a:txBody>
                  <a:tcPr/>
                </a:tc>
                <a:tc>
                  <a:txBody>
                    <a:bodyPr/>
                    <a:lstStyle/>
                    <a:p>
                      <a:pPr lvl="0">
                        <a:buNone/>
                      </a:pPr>
                      <a:endParaRPr lang="en-US" dirty="0"/>
                    </a:p>
                  </a:txBody>
                  <a:tcPr/>
                </a:tc>
                <a:extLst>
                  <a:ext uri="{0D108BD9-81ED-4DB2-BD59-A6C34878D82A}">
                    <a16:rowId xmlns:a16="http://schemas.microsoft.com/office/drawing/2014/main" val="1210482734"/>
                  </a:ext>
                </a:extLst>
              </a:tr>
            </a:tbl>
          </a:graphicData>
        </a:graphic>
      </p:graphicFrame>
      <p:sp>
        <p:nvSpPr>
          <p:cNvPr id="4" name="TextBox 3">
            <a:extLst>
              <a:ext uri="{FF2B5EF4-FFF2-40B4-BE49-F238E27FC236}">
                <a16:creationId xmlns:a16="http://schemas.microsoft.com/office/drawing/2014/main" id="{0745DC36-3ED9-79A4-2535-A85BEF72ADFB}"/>
              </a:ext>
            </a:extLst>
          </p:cNvPr>
          <p:cNvSpPr txBox="1"/>
          <p:nvPr/>
        </p:nvSpPr>
        <p:spPr>
          <a:xfrm>
            <a:off x="82301" y="28401"/>
            <a:ext cx="452202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System Design:</a:t>
            </a:r>
            <a:endParaRPr lang="en-US" dirty="0"/>
          </a:p>
        </p:txBody>
      </p:sp>
      <p:sp>
        <p:nvSpPr>
          <p:cNvPr id="5" name="TextBox 4">
            <a:extLst>
              <a:ext uri="{FF2B5EF4-FFF2-40B4-BE49-F238E27FC236}">
                <a16:creationId xmlns:a16="http://schemas.microsoft.com/office/drawing/2014/main" id="{ED4C23E0-AE1F-C1A6-9489-15210DA009F6}"/>
              </a:ext>
            </a:extLst>
          </p:cNvPr>
          <p:cNvSpPr txBox="1"/>
          <p:nvPr/>
        </p:nvSpPr>
        <p:spPr>
          <a:xfrm>
            <a:off x="1301707" y="808907"/>
            <a:ext cx="728743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Database Design/Data Structure Design:</a:t>
            </a:r>
            <a:endParaRPr lang="en-US" dirty="0"/>
          </a:p>
        </p:txBody>
      </p:sp>
      <p:sp>
        <p:nvSpPr>
          <p:cNvPr id="8" name="Rectangle 7"/>
          <p:cNvSpPr/>
          <p:nvPr/>
        </p:nvSpPr>
        <p:spPr>
          <a:xfrm>
            <a:off x="1389017" y="4762139"/>
            <a:ext cx="9544594" cy="1200329"/>
          </a:xfrm>
          <a:prstGeom prst="rect">
            <a:avLst/>
          </a:prstGeom>
        </p:spPr>
        <p:txBody>
          <a:bodyPr wrap="square">
            <a:spAutoFit/>
          </a:bodyPr>
          <a:lstStyle/>
          <a:p>
            <a:r>
              <a:rPr lang="en-US" sz="2400" b="1" dirty="0"/>
              <a:t>Customers and Products Relationship:</a:t>
            </a:r>
            <a:endParaRPr lang="en-US" sz="2400" dirty="0"/>
          </a:p>
          <a:p>
            <a:r>
              <a:rPr lang="en-US" sz="2400" dirty="0"/>
              <a:t>	Many-to-Many Relationship: A customer can purchase multiple products, and a product can be bought by multiple customers</a:t>
            </a:r>
            <a:r>
              <a:rPr lang="en-US" dirty="0"/>
              <a:t>.</a:t>
            </a:r>
          </a:p>
        </p:txBody>
      </p:sp>
      <p:sp>
        <p:nvSpPr>
          <p:cNvPr id="7" name="Slide Number Placeholder 6">
            <a:extLst>
              <a:ext uri="{FF2B5EF4-FFF2-40B4-BE49-F238E27FC236}">
                <a16:creationId xmlns:a16="http://schemas.microsoft.com/office/drawing/2014/main" id="{19030F2D-79AB-1E25-C182-31401FB4B1C6}"/>
              </a:ext>
            </a:extLst>
          </p:cNvPr>
          <p:cNvSpPr>
            <a:spLocks noGrp="1"/>
          </p:cNvSpPr>
          <p:nvPr>
            <p:ph type="sldNum" sz="quarter" idx="12"/>
          </p:nvPr>
        </p:nvSpPr>
        <p:spPr/>
        <p:txBody>
          <a:bodyPr/>
          <a:lstStyle/>
          <a:p>
            <a:fld id="{330EA680-D336-4FF7-8B7A-9848BB0A1C32}" type="slidenum">
              <a:rPr lang="en-US" smtClean="0"/>
              <a:pPr/>
              <a:t>21</a:t>
            </a:fld>
            <a:endParaRPr lang="en-US"/>
          </a:p>
        </p:txBody>
      </p:sp>
    </p:spTree>
    <p:extLst>
      <p:ext uri="{BB962C8B-B14F-4D97-AF65-F5344CB8AC3E}">
        <p14:creationId xmlns:p14="http://schemas.microsoft.com/office/powerpoint/2010/main" val="1003059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47537" y="209006"/>
            <a:ext cx="10500474" cy="6001643"/>
          </a:xfrm>
          <a:prstGeom prst="rect">
            <a:avLst/>
          </a:prstGeom>
        </p:spPr>
        <p:txBody>
          <a:bodyPr wrap="square">
            <a:spAutoFit/>
          </a:bodyPr>
          <a:lstStyle/>
          <a:p>
            <a:endParaRPr lang="en-US" sz="2400" dirty="0"/>
          </a:p>
          <a:p>
            <a:r>
              <a:rPr lang="en-US" sz="2400" b="1" dirty="0"/>
              <a:t>Products and Categories Relationship:</a:t>
            </a:r>
            <a:endParaRPr lang="en-US" sz="2400" dirty="0"/>
          </a:p>
          <a:p>
            <a:r>
              <a:rPr lang="en-US" sz="2400" dirty="0"/>
              <a:t>	Many-to-One Relationship: A product belongs to a single category, but a category can include multiple products.</a:t>
            </a:r>
          </a:p>
          <a:p>
            <a:endParaRPr lang="en-US" sz="2400" dirty="0"/>
          </a:p>
          <a:p>
            <a:r>
              <a:rPr lang="en-US" sz="2400" b="1" dirty="0"/>
              <a:t>Customers and Orders Relationship:</a:t>
            </a:r>
            <a:endParaRPr lang="en-US" sz="2400" dirty="0"/>
          </a:p>
          <a:p>
            <a:r>
              <a:rPr lang="en-US" sz="2400" dirty="0"/>
              <a:t>	One-to-Many Relationship: A customer can place multiple orders, but each order is typically associated with a single customer.</a:t>
            </a:r>
          </a:p>
          <a:p>
            <a:endParaRPr lang="en-US" sz="2400" dirty="0"/>
          </a:p>
          <a:p>
            <a:r>
              <a:rPr lang="en-US" sz="2400" b="1" dirty="0"/>
              <a:t>Orders and Products Relationship:</a:t>
            </a:r>
            <a:endParaRPr lang="en-US" sz="2400" dirty="0"/>
          </a:p>
          <a:p>
            <a:r>
              <a:rPr lang="en-US" sz="2400" dirty="0"/>
              <a:t>	Many-to-Many Relationship: An order can include multiple products, and a product can appear in multiple orders.</a:t>
            </a:r>
          </a:p>
          <a:p>
            <a:endParaRPr lang="en-US" sz="2400" dirty="0"/>
          </a:p>
          <a:p>
            <a:r>
              <a:rPr lang="en-US" sz="2400" b="1" dirty="0"/>
              <a:t>Customers and Reviews Relationship:</a:t>
            </a:r>
            <a:endParaRPr lang="en-US" sz="2400" dirty="0"/>
          </a:p>
          <a:p>
            <a:r>
              <a:rPr lang="en-US" sz="2400" dirty="0"/>
              <a:t>	One-to-Many Relationship: A customer can leave multiple reviews, but each review is typically written by a single customer.</a:t>
            </a:r>
          </a:p>
        </p:txBody>
      </p:sp>
      <p:sp>
        <p:nvSpPr>
          <p:cNvPr id="5" name="Slide Number Placeholder 4">
            <a:extLst>
              <a:ext uri="{FF2B5EF4-FFF2-40B4-BE49-F238E27FC236}">
                <a16:creationId xmlns:a16="http://schemas.microsoft.com/office/drawing/2014/main" id="{763FC0DB-DAD1-BC70-3464-6DC4991EC3E2}"/>
              </a:ext>
            </a:extLst>
          </p:cNvPr>
          <p:cNvSpPr>
            <a:spLocks noGrp="1"/>
          </p:cNvSpPr>
          <p:nvPr>
            <p:ph type="sldNum" sz="quarter" idx="12"/>
          </p:nvPr>
        </p:nvSpPr>
        <p:spPr/>
        <p:txBody>
          <a:bodyPr/>
          <a:lstStyle/>
          <a:p>
            <a:fld id="{330EA680-D336-4FF7-8B7A-9848BB0A1C32}"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808E75-232E-EDEC-FC93-9CF870ADAC79}"/>
              </a:ext>
            </a:extLst>
          </p:cNvPr>
          <p:cNvSpPr txBox="1"/>
          <p:nvPr/>
        </p:nvSpPr>
        <p:spPr>
          <a:xfrm>
            <a:off x="191126" y="128747"/>
            <a:ext cx="621000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ER Diagram:</a:t>
            </a:r>
            <a:endParaRPr lang="en-US" sz="3000" b="1" dirty="0"/>
          </a:p>
        </p:txBody>
      </p:sp>
      <p:sp>
        <p:nvSpPr>
          <p:cNvPr id="6" name="Slide Number Placeholder 5">
            <a:extLst>
              <a:ext uri="{FF2B5EF4-FFF2-40B4-BE49-F238E27FC236}">
                <a16:creationId xmlns:a16="http://schemas.microsoft.com/office/drawing/2014/main" id="{D54D36C9-66CF-B3B0-EB37-818AB409A4ED}"/>
              </a:ext>
            </a:extLst>
          </p:cNvPr>
          <p:cNvSpPr>
            <a:spLocks noGrp="1"/>
          </p:cNvSpPr>
          <p:nvPr>
            <p:ph type="sldNum" sz="quarter" idx="12"/>
          </p:nvPr>
        </p:nvSpPr>
        <p:spPr/>
        <p:txBody>
          <a:bodyPr/>
          <a:lstStyle/>
          <a:p>
            <a:fld id="{330EA680-D336-4FF7-8B7A-9848BB0A1C32}" type="slidenum">
              <a:rPr lang="en-US" smtClean="0"/>
              <a:pPr/>
              <a:t>23</a:t>
            </a:fld>
            <a:endParaRPr lang="en-US"/>
          </a:p>
        </p:txBody>
      </p:sp>
      <p:pic>
        <p:nvPicPr>
          <p:cNvPr id="7" name="Picture 6" descr="WhatsApp Image 2024-10-04 at 15.26.40_e4562af0.jpg"/>
          <p:cNvPicPr>
            <a:picLocks noChangeAspect="1"/>
          </p:cNvPicPr>
          <p:nvPr/>
        </p:nvPicPr>
        <p:blipFill>
          <a:blip r:embed="rId2" cstate="print"/>
          <a:stretch>
            <a:fillRect/>
          </a:stretch>
        </p:blipFill>
        <p:spPr>
          <a:xfrm>
            <a:off x="0" y="822960"/>
            <a:ext cx="12192000" cy="6035040"/>
          </a:xfrm>
          <a:prstGeom prst="rect">
            <a:avLst/>
          </a:prstGeom>
        </p:spPr>
      </p:pic>
    </p:spTree>
    <p:extLst>
      <p:ext uri="{BB962C8B-B14F-4D97-AF65-F5344CB8AC3E}">
        <p14:creationId xmlns:p14="http://schemas.microsoft.com/office/powerpoint/2010/main" val="1587851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808E75-232E-EDEC-FC93-9CF870ADAC79}"/>
              </a:ext>
            </a:extLst>
          </p:cNvPr>
          <p:cNvSpPr txBox="1"/>
          <p:nvPr/>
        </p:nvSpPr>
        <p:spPr>
          <a:xfrm>
            <a:off x="191126" y="128747"/>
            <a:ext cx="621000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Data </a:t>
            </a:r>
            <a:r>
              <a:rPr lang="en-US" sz="3000" b="1" dirty="0" err="1">
                <a:latin typeface="Times New Roman"/>
                <a:cs typeface="Times New Roman"/>
              </a:rPr>
              <a:t>FlowDiagram</a:t>
            </a:r>
            <a:r>
              <a:rPr lang="en-US" sz="3000" b="1" dirty="0">
                <a:latin typeface="Times New Roman"/>
                <a:cs typeface="Times New Roman"/>
              </a:rPr>
              <a:t>:</a:t>
            </a:r>
            <a:endParaRPr lang="en-US" sz="3000" b="1" dirty="0"/>
          </a:p>
        </p:txBody>
      </p:sp>
      <p:sp>
        <p:nvSpPr>
          <p:cNvPr id="6" name="Slide Number Placeholder 5">
            <a:extLst>
              <a:ext uri="{FF2B5EF4-FFF2-40B4-BE49-F238E27FC236}">
                <a16:creationId xmlns:a16="http://schemas.microsoft.com/office/drawing/2014/main" id="{D54D36C9-66CF-B3B0-EB37-818AB409A4ED}"/>
              </a:ext>
            </a:extLst>
          </p:cNvPr>
          <p:cNvSpPr>
            <a:spLocks noGrp="1"/>
          </p:cNvSpPr>
          <p:nvPr>
            <p:ph type="sldNum" sz="quarter" idx="12"/>
          </p:nvPr>
        </p:nvSpPr>
        <p:spPr/>
        <p:txBody>
          <a:bodyPr/>
          <a:lstStyle/>
          <a:p>
            <a:fld id="{330EA680-D336-4FF7-8B7A-9848BB0A1C32}" type="slidenum">
              <a:rPr lang="en-US" smtClean="0"/>
              <a:pPr/>
              <a:t>24</a:t>
            </a:fld>
            <a:endParaRPr lang="en-US"/>
          </a:p>
        </p:txBody>
      </p:sp>
      <p:pic>
        <p:nvPicPr>
          <p:cNvPr id="4" name="Picture 3">
            <a:extLst>
              <a:ext uri="{FF2B5EF4-FFF2-40B4-BE49-F238E27FC236}">
                <a16:creationId xmlns:a16="http://schemas.microsoft.com/office/drawing/2014/main" id="{70C82E29-29D0-D45F-0B4C-74715B9B05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7881" y="679263"/>
            <a:ext cx="8956238" cy="6042212"/>
          </a:xfrm>
          <a:prstGeom prst="rect">
            <a:avLst/>
          </a:prstGeom>
        </p:spPr>
      </p:pic>
    </p:spTree>
    <p:extLst>
      <p:ext uri="{BB962C8B-B14F-4D97-AF65-F5344CB8AC3E}">
        <p14:creationId xmlns:p14="http://schemas.microsoft.com/office/powerpoint/2010/main" val="3837141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328933-0CE0-5EBA-6193-641D365400D0}"/>
              </a:ext>
            </a:extLst>
          </p:cNvPr>
          <p:cNvSpPr txBox="1"/>
          <p:nvPr/>
        </p:nvSpPr>
        <p:spPr>
          <a:xfrm>
            <a:off x="78399" y="95577"/>
            <a:ext cx="632008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Flow Chart:</a:t>
            </a:r>
            <a:endParaRPr lang="en-US" sz="3000" b="1" dirty="0"/>
          </a:p>
        </p:txBody>
      </p:sp>
      <p:sp>
        <p:nvSpPr>
          <p:cNvPr id="6" name="Slide Number Placeholder 5">
            <a:extLst>
              <a:ext uri="{FF2B5EF4-FFF2-40B4-BE49-F238E27FC236}">
                <a16:creationId xmlns:a16="http://schemas.microsoft.com/office/drawing/2014/main" id="{743DFF17-ACF2-EA24-00D2-AE8B4C550698}"/>
              </a:ext>
            </a:extLst>
          </p:cNvPr>
          <p:cNvSpPr>
            <a:spLocks noGrp="1"/>
          </p:cNvSpPr>
          <p:nvPr>
            <p:ph type="sldNum" sz="quarter" idx="12"/>
          </p:nvPr>
        </p:nvSpPr>
        <p:spPr/>
        <p:txBody>
          <a:bodyPr/>
          <a:lstStyle/>
          <a:p>
            <a:fld id="{330EA680-D336-4FF7-8B7A-9848BB0A1C32}" type="slidenum">
              <a:rPr lang="en-US" smtClean="0"/>
              <a:pPr/>
              <a:t>25</a:t>
            </a:fld>
            <a:endParaRPr lang="en-US"/>
          </a:p>
        </p:txBody>
      </p:sp>
      <p:pic>
        <p:nvPicPr>
          <p:cNvPr id="7" name="Picture 6" descr="WhatsApp Image 2024-10-04 at 15.24.52_acd3d52b.jpg"/>
          <p:cNvPicPr>
            <a:picLocks noChangeAspect="1"/>
          </p:cNvPicPr>
          <p:nvPr/>
        </p:nvPicPr>
        <p:blipFill>
          <a:blip r:embed="rId2" cstate="print"/>
          <a:stretch>
            <a:fillRect/>
          </a:stretch>
        </p:blipFill>
        <p:spPr>
          <a:xfrm>
            <a:off x="2560320" y="1"/>
            <a:ext cx="5225143" cy="6858000"/>
          </a:xfrm>
          <a:prstGeom prst="rect">
            <a:avLst/>
          </a:prstGeom>
        </p:spPr>
      </p:pic>
    </p:spTree>
    <p:extLst>
      <p:ext uri="{BB962C8B-B14F-4D97-AF65-F5344CB8AC3E}">
        <p14:creationId xmlns:p14="http://schemas.microsoft.com/office/powerpoint/2010/main" val="2304566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46B4B2-92FC-54F4-6897-B5E5672A1936}"/>
              </a:ext>
            </a:extLst>
          </p:cNvPr>
          <p:cNvSpPr txBox="1"/>
          <p:nvPr/>
        </p:nvSpPr>
        <p:spPr>
          <a:xfrm>
            <a:off x="190401" y="263631"/>
            <a:ext cx="919783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latin typeface="Times New Roman"/>
                <a:cs typeface="Times New Roman"/>
              </a:rPr>
              <a:t>Implementation:</a:t>
            </a:r>
            <a:endParaRPr lang="en-US" b="1" dirty="0"/>
          </a:p>
        </p:txBody>
      </p:sp>
      <p:sp>
        <p:nvSpPr>
          <p:cNvPr id="3" name="TextBox 2">
            <a:extLst>
              <a:ext uri="{FF2B5EF4-FFF2-40B4-BE49-F238E27FC236}">
                <a16:creationId xmlns:a16="http://schemas.microsoft.com/office/drawing/2014/main" id="{0CD980BB-B414-E3CF-6332-429E79BFF3F4}"/>
              </a:ext>
            </a:extLst>
          </p:cNvPr>
          <p:cNvSpPr txBox="1"/>
          <p:nvPr/>
        </p:nvSpPr>
        <p:spPr>
          <a:xfrm>
            <a:off x="352697" y="1110344"/>
            <a:ext cx="11599818"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Single-user:</a:t>
            </a:r>
          </a:p>
          <a:p>
            <a:endParaRPr lang="en-US" sz="2400" dirty="0"/>
          </a:p>
          <a:p>
            <a:pPr lvl="1"/>
            <a:r>
              <a:rPr lang="en-US" sz="2400" dirty="0"/>
              <a:t>Designed for individual use</a:t>
            </a:r>
          </a:p>
          <a:p>
            <a:pPr lvl="1"/>
            <a:r>
              <a:rPr lang="en-US" sz="2400" dirty="0"/>
              <a:t>Focuses on personal shopping experiences</a:t>
            </a:r>
          </a:p>
          <a:p>
            <a:pPr lvl="1"/>
            <a:r>
              <a:rPr lang="en-US" sz="2400" dirty="0"/>
              <a:t>Minimal interaction with other users</a:t>
            </a:r>
          </a:p>
          <a:p>
            <a:pPr lvl="1"/>
            <a:endParaRPr lang="en-US" sz="2400" dirty="0"/>
          </a:p>
          <a:p>
            <a:r>
              <a:rPr lang="en-US" sz="2400" b="1" dirty="0"/>
              <a:t>Multi-user:</a:t>
            </a:r>
          </a:p>
          <a:p>
            <a:endParaRPr lang="en-US" sz="2400" dirty="0"/>
          </a:p>
          <a:p>
            <a:pPr lvl="1"/>
            <a:r>
              <a:rPr lang="en-US" sz="2400" dirty="0"/>
              <a:t>Supports interactions among customers</a:t>
            </a:r>
          </a:p>
          <a:p>
            <a:pPr lvl="1"/>
            <a:r>
              <a:rPr lang="en-US" sz="2400" dirty="0"/>
              <a:t>administrators, and support staff</a:t>
            </a:r>
          </a:p>
          <a:p>
            <a:pPr lvl="1"/>
            <a:r>
              <a:rPr lang="en-US" sz="2400" dirty="0"/>
              <a:t>Enables features like customer reviews, admin dashboards, and user support</a:t>
            </a:r>
          </a:p>
          <a:p>
            <a:endParaRPr lang="en-US" sz="2400" dirty="0"/>
          </a:p>
          <a:p>
            <a:endParaRPr lang="en-US" sz="2400" dirty="0"/>
          </a:p>
        </p:txBody>
      </p:sp>
      <p:sp>
        <p:nvSpPr>
          <p:cNvPr id="6" name="Slide Number Placeholder 5">
            <a:extLst>
              <a:ext uri="{FF2B5EF4-FFF2-40B4-BE49-F238E27FC236}">
                <a16:creationId xmlns:a16="http://schemas.microsoft.com/office/drawing/2014/main" id="{277B2B50-659E-FE28-119B-EBCB66AFFBEF}"/>
              </a:ext>
            </a:extLst>
          </p:cNvPr>
          <p:cNvSpPr>
            <a:spLocks noGrp="1"/>
          </p:cNvSpPr>
          <p:nvPr>
            <p:ph type="sldNum" sz="quarter" idx="12"/>
          </p:nvPr>
        </p:nvSpPr>
        <p:spPr/>
        <p:txBody>
          <a:bodyPr/>
          <a:lstStyle/>
          <a:p>
            <a:fld id="{330EA680-D336-4FF7-8B7A-9848BB0A1C32}" type="slidenum">
              <a:rPr lang="en-US" smtClean="0"/>
              <a:pPr/>
              <a:t>26</a:t>
            </a:fld>
            <a:endParaRPr lang="en-US"/>
          </a:p>
        </p:txBody>
      </p:sp>
    </p:spTree>
    <p:extLst>
      <p:ext uri="{BB962C8B-B14F-4D97-AF65-F5344CB8AC3E}">
        <p14:creationId xmlns:p14="http://schemas.microsoft.com/office/powerpoint/2010/main" val="372657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22513" y="352696"/>
            <a:ext cx="11234057" cy="4154984"/>
          </a:xfrm>
          <a:prstGeom prst="rect">
            <a:avLst/>
          </a:prstGeom>
        </p:spPr>
        <p:txBody>
          <a:bodyPr wrap="square">
            <a:spAutoFit/>
          </a:bodyPr>
          <a:lstStyle/>
          <a:p>
            <a:r>
              <a:rPr lang="en-US" sz="2400" b="1" dirty="0"/>
              <a:t>GUI (Graphical User Interface):</a:t>
            </a:r>
          </a:p>
          <a:p>
            <a:endParaRPr lang="en-US" sz="2400" dirty="0"/>
          </a:p>
          <a:p>
            <a:pPr lvl="1"/>
            <a:r>
              <a:rPr lang="en-US" sz="2400" dirty="0"/>
              <a:t>Provides a visual and interactive interface</a:t>
            </a:r>
          </a:p>
          <a:p>
            <a:pPr lvl="1"/>
            <a:r>
              <a:rPr lang="en-US" sz="2400" dirty="0"/>
              <a:t>Enhances user experience with graphical elements</a:t>
            </a:r>
          </a:p>
          <a:p>
            <a:pPr lvl="1"/>
            <a:r>
              <a:rPr lang="en-US" sz="2400" dirty="0"/>
              <a:t>Makes navigation intuitive and engaging</a:t>
            </a:r>
          </a:p>
          <a:p>
            <a:pPr lvl="1"/>
            <a:endParaRPr lang="en-US" sz="2400" dirty="0"/>
          </a:p>
          <a:p>
            <a:r>
              <a:rPr lang="en-US" sz="2400" b="1" dirty="0"/>
              <a:t>Non-GUI:</a:t>
            </a:r>
          </a:p>
          <a:p>
            <a:endParaRPr lang="en-US" sz="2400" dirty="0"/>
          </a:p>
          <a:p>
            <a:pPr lvl="1"/>
            <a:r>
              <a:rPr lang="en-US" sz="2400" dirty="0"/>
              <a:t>Uses text-based interfaces for user interactions</a:t>
            </a:r>
          </a:p>
          <a:p>
            <a:pPr lvl="1"/>
            <a:r>
              <a:rPr lang="en-US" sz="2400" dirty="0"/>
              <a:t>Suitable for backend operations or specific environments</a:t>
            </a:r>
          </a:p>
          <a:p>
            <a:pPr lvl="1"/>
            <a:r>
              <a:rPr lang="en-US" sz="2400" dirty="0"/>
              <a:t>Less visually engaging but functional for certain use cases</a:t>
            </a:r>
          </a:p>
        </p:txBody>
      </p:sp>
      <p:sp>
        <p:nvSpPr>
          <p:cNvPr id="5" name="Slide Number Placeholder 4">
            <a:extLst>
              <a:ext uri="{FF2B5EF4-FFF2-40B4-BE49-F238E27FC236}">
                <a16:creationId xmlns:a16="http://schemas.microsoft.com/office/drawing/2014/main" id="{C0E9CAB8-4086-7D4D-473E-ADEF552C5124}"/>
              </a:ext>
            </a:extLst>
          </p:cNvPr>
          <p:cNvSpPr>
            <a:spLocks noGrp="1"/>
          </p:cNvSpPr>
          <p:nvPr>
            <p:ph type="sldNum" sz="quarter" idx="12"/>
          </p:nvPr>
        </p:nvSpPr>
        <p:spPr/>
        <p:txBody>
          <a:bodyPr/>
          <a:lstStyle/>
          <a:p>
            <a:fld id="{330EA680-D336-4FF7-8B7A-9848BB0A1C32}"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8216EC-75B5-AFEB-5370-411FE1D83198}"/>
              </a:ext>
            </a:extLst>
          </p:cNvPr>
          <p:cNvSpPr txBox="1"/>
          <p:nvPr/>
        </p:nvSpPr>
        <p:spPr>
          <a:xfrm>
            <a:off x="180435" y="147625"/>
            <a:ext cx="848298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Screenshots Of Forms, Reports and Interface:</a:t>
            </a:r>
            <a:endParaRPr lang="en-US" sz="3000" b="1" dirty="0"/>
          </a:p>
          <a:p>
            <a:pPr algn="l"/>
            <a:endParaRPr lang="en-US" dirty="0"/>
          </a:p>
        </p:txBody>
      </p:sp>
      <p:sp>
        <p:nvSpPr>
          <p:cNvPr id="9" name="Slide Number Placeholder 8">
            <a:extLst>
              <a:ext uri="{FF2B5EF4-FFF2-40B4-BE49-F238E27FC236}">
                <a16:creationId xmlns:a16="http://schemas.microsoft.com/office/drawing/2014/main" id="{CF52FB39-C7B9-461A-937E-CE82853EE0E5}"/>
              </a:ext>
            </a:extLst>
          </p:cNvPr>
          <p:cNvSpPr>
            <a:spLocks noGrp="1"/>
          </p:cNvSpPr>
          <p:nvPr>
            <p:ph type="sldNum" sz="quarter" idx="12"/>
          </p:nvPr>
        </p:nvSpPr>
        <p:spPr/>
        <p:txBody>
          <a:bodyPr/>
          <a:lstStyle/>
          <a:p>
            <a:fld id="{330EA680-D336-4FF7-8B7A-9848BB0A1C32}" type="slidenum">
              <a:rPr lang="en-US" smtClean="0"/>
              <a:pPr/>
              <a:t>28</a:t>
            </a:fld>
            <a:endParaRPr lang="en-US"/>
          </a:p>
        </p:txBody>
      </p:sp>
      <p:pic>
        <p:nvPicPr>
          <p:cNvPr id="6" name="Picture 5" descr="WhatsApp Image 2024-10-18 at 14.40.03_cc8f21a2.jpg"/>
          <p:cNvPicPr>
            <a:picLocks noChangeAspect="1"/>
          </p:cNvPicPr>
          <p:nvPr/>
        </p:nvPicPr>
        <p:blipFill>
          <a:blip r:embed="rId2" cstate="print"/>
          <a:stretch>
            <a:fillRect/>
          </a:stretch>
        </p:blipFill>
        <p:spPr>
          <a:xfrm>
            <a:off x="0" y="718456"/>
            <a:ext cx="12192000" cy="6139543"/>
          </a:xfrm>
          <a:prstGeom prst="rect">
            <a:avLst/>
          </a:prstGeom>
        </p:spPr>
      </p:pic>
    </p:spTree>
    <p:extLst>
      <p:ext uri="{BB962C8B-B14F-4D97-AF65-F5344CB8AC3E}">
        <p14:creationId xmlns:p14="http://schemas.microsoft.com/office/powerpoint/2010/main" val="1457302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30EA680-D336-4FF7-8B7A-9848BB0A1C32}" type="slidenum">
              <a:rPr lang="en-US" smtClean="0"/>
              <a:pPr/>
              <a:t>29</a:t>
            </a:fld>
            <a:endParaRPr lang="en-US"/>
          </a:p>
        </p:txBody>
      </p:sp>
      <p:pic>
        <p:nvPicPr>
          <p:cNvPr id="3" name="Picture 2" descr="WhatsApp Image 2024-10-18 at 14.40.21_a0828b94.jpg"/>
          <p:cNvPicPr>
            <a:picLocks noChangeAspect="1"/>
          </p:cNvPicPr>
          <p:nvPr/>
        </p:nvPicPr>
        <p:blipFill>
          <a:blip r:embed="rId2" cstate="print"/>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30EA680-D336-4FF7-8B7A-9848BB0A1C32}" type="slidenum">
              <a:rPr lang="en-US" smtClean="0"/>
              <a:pPr/>
              <a:t>30</a:t>
            </a:fld>
            <a:endParaRPr lang="en-US"/>
          </a:p>
        </p:txBody>
      </p:sp>
      <p:pic>
        <p:nvPicPr>
          <p:cNvPr id="3" name="Picture 2" descr="WhatsApp Image 2024-10-18 at 14.40.39_b96bdae8.jpg"/>
          <p:cNvPicPr>
            <a:picLocks noChangeAspect="1"/>
          </p:cNvPicPr>
          <p:nvPr/>
        </p:nvPicPr>
        <p:blipFill>
          <a:blip r:embed="rId2" cstate="print"/>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30EA680-D336-4FF7-8B7A-9848BB0A1C32}" type="slidenum">
              <a:rPr lang="en-US" smtClean="0"/>
              <a:pPr/>
              <a:t>31</a:t>
            </a:fld>
            <a:endParaRPr lang="en-US"/>
          </a:p>
        </p:txBody>
      </p:sp>
      <p:pic>
        <p:nvPicPr>
          <p:cNvPr id="3" name="Picture 2" descr="WhatsApp Image 2024-10-18 at 14.40.57_58c9b61e.jpg"/>
          <p:cNvPicPr>
            <a:picLocks noChangeAspect="1"/>
          </p:cNvPicPr>
          <p:nvPr/>
        </p:nvPicPr>
        <p:blipFill>
          <a:blip r:embed="rId2" cstate="print"/>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30EA680-D336-4FF7-8B7A-9848BB0A1C32}" type="slidenum">
              <a:rPr lang="en-US" smtClean="0"/>
              <a:pPr/>
              <a:t>32</a:t>
            </a:fld>
            <a:endParaRPr lang="en-US"/>
          </a:p>
        </p:txBody>
      </p:sp>
      <p:pic>
        <p:nvPicPr>
          <p:cNvPr id="3" name="Picture 2" descr="WhatsApp Image 2024-10-18 at 14.41.12_0bd7a23b.jpg"/>
          <p:cNvPicPr>
            <a:picLocks noChangeAspect="1"/>
          </p:cNvPicPr>
          <p:nvPr/>
        </p:nvPicPr>
        <p:blipFill>
          <a:blip r:embed="rId2" cstate="print"/>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30EA680-D336-4FF7-8B7A-9848BB0A1C32}" type="slidenum">
              <a:rPr lang="en-US" smtClean="0"/>
              <a:pPr/>
              <a:t>33</a:t>
            </a:fld>
            <a:endParaRPr lang="en-US"/>
          </a:p>
        </p:txBody>
      </p:sp>
      <p:pic>
        <p:nvPicPr>
          <p:cNvPr id="3" name="Picture 2" descr="WhatsApp Image 2024-10-18 at 14.41.26_419e1aec.jpg"/>
          <p:cNvPicPr>
            <a:picLocks noChangeAspect="1"/>
          </p:cNvPicPr>
          <p:nvPr/>
        </p:nvPicPr>
        <p:blipFill>
          <a:blip r:embed="rId2" cstate="print"/>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30EA680-D336-4FF7-8B7A-9848BB0A1C32}" type="slidenum">
              <a:rPr lang="en-US" smtClean="0"/>
              <a:pPr/>
              <a:t>34</a:t>
            </a:fld>
            <a:endParaRPr lang="en-US"/>
          </a:p>
        </p:txBody>
      </p:sp>
      <p:pic>
        <p:nvPicPr>
          <p:cNvPr id="3" name="Picture 2" descr="WhatsApp Image 2024-10-18 at 14.41.56_7bd3e9ad.jpg"/>
          <p:cNvPicPr>
            <a:picLocks noChangeAspect="1"/>
          </p:cNvPicPr>
          <p:nvPr/>
        </p:nvPicPr>
        <p:blipFill>
          <a:blip r:embed="rId2" cstate="print"/>
          <a:stretch>
            <a:fillRect/>
          </a:stretch>
        </p:blipFill>
        <p:spPr>
          <a:xfrm>
            <a:off x="165096" y="0"/>
            <a:ext cx="6013635" cy="6858000"/>
          </a:xfrm>
          <a:prstGeom prst="rect">
            <a:avLst/>
          </a:prstGeom>
        </p:spPr>
      </p:pic>
      <p:pic>
        <p:nvPicPr>
          <p:cNvPr id="4" name="Picture 3" descr="WhatsApp Image 2024-10-18 at 14.42.56_4f61b2ca.jpg"/>
          <p:cNvPicPr>
            <a:picLocks noChangeAspect="1"/>
          </p:cNvPicPr>
          <p:nvPr/>
        </p:nvPicPr>
        <p:blipFill>
          <a:blip r:embed="rId3" cstate="print"/>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30EA680-D336-4FF7-8B7A-9848BB0A1C32}" type="slidenum">
              <a:rPr lang="en-US" smtClean="0"/>
              <a:pPr/>
              <a:t>35</a:t>
            </a:fld>
            <a:endParaRPr lang="en-US"/>
          </a:p>
        </p:txBody>
      </p:sp>
      <p:pic>
        <p:nvPicPr>
          <p:cNvPr id="3" name="Picture 2" descr="WhatsApp Image 2024-10-18 at 14.44.33_e4e49f50.jpg"/>
          <p:cNvPicPr>
            <a:picLocks noChangeAspect="1"/>
          </p:cNvPicPr>
          <p:nvPr/>
        </p:nvPicPr>
        <p:blipFill>
          <a:blip r:embed="rId2" cstate="print"/>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D1136D-978A-C712-7FB3-3DD975F1714F}"/>
              </a:ext>
            </a:extLst>
          </p:cNvPr>
          <p:cNvSpPr txBox="1"/>
          <p:nvPr/>
        </p:nvSpPr>
        <p:spPr>
          <a:xfrm>
            <a:off x="234544" y="133102"/>
            <a:ext cx="868228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latin typeface="Times New Roman"/>
                <a:cs typeface="Times New Roman"/>
              </a:rPr>
              <a:t>Testing:</a:t>
            </a:r>
            <a:endParaRPr lang="en-US" b="1" dirty="0"/>
          </a:p>
        </p:txBody>
      </p:sp>
      <p:sp>
        <p:nvSpPr>
          <p:cNvPr id="3" name="TextBox 2">
            <a:extLst>
              <a:ext uri="{FF2B5EF4-FFF2-40B4-BE49-F238E27FC236}">
                <a16:creationId xmlns:a16="http://schemas.microsoft.com/office/drawing/2014/main" id="{326D6AEA-E033-1116-804A-EECEA132A870}"/>
              </a:ext>
            </a:extLst>
          </p:cNvPr>
          <p:cNvSpPr txBox="1"/>
          <p:nvPr/>
        </p:nvSpPr>
        <p:spPr>
          <a:xfrm>
            <a:off x="577662" y="907406"/>
            <a:ext cx="799684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Testing Plan &amp; Strategy:</a:t>
            </a:r>
            <a:endParaRPr lang="en-US" sz="3000" b="1" dirty="0">
              <a:latin typeface="Aptos" panose="020B0004020202020204"/>
              <a:cs typeface="Times New Roman"/>
            </a:endParaRPr>
          </a:p>
          <a:p>
            <a:endParaRPr lang="en-US" sz="3000" b="1" dirty="0">
              <a:latin typeface="Times New Roman"/>
              <a:cs typeface="Times New Roman"/>
            </a:endParaRPr>
          </a:p>
        </p:txBody>
      </p:sp>
      <p:sp>
        <p:nvSpPr>
          <p:cNvPr id="5" name="TextBox 4">
            <a:extLst>
              <a:ext uri="{FF2B5EF4-FFF2-40B4-BE49-F238E27FC236}">
                <a16:creationId xmlns:a16="http://schemas.microsoft.com/office/drawing/2014/main" id="{A0BE72E6-A450-09BF-03F3-925D1C6A3CDD}"/>
              </a:ext>
            </a:extLst>
          </p:cNvPr>
          <p:cNvSpPr txBox="1"/>
          <p:nvPr/>
        </p:nvSpPr>
        <p:spPr>
          <a:xfrm>
            <a:off x="1180485" y="1732648"/>
            <a:ext cx="10053171"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Objectives:</a:t>
            </a:r>
            <a:r>
              <a:rPr lang="en-US" sz="2400" dirty="0"/>
              <a:t> Ensure Smooth Functionality, Usability, Security, Performance</a:t>
            </a:r>
          </a:p>
          <a:p>
            <a:endParaRPr lang="en-US" sz="2400" dirty="0"/>
          </a:p>
          <a:p>
            <a:r>
              <a:rPr lang="en-US" sz="2400" b="1" dirty="0"/>
              <a:t>Testing Types:</a:t>
            </a:r>
            <a:r>
              <a:rPr lang="en-US" sz="2400" dirty="0"/>
              <a:t> Functional, Usability, Performance, Security, Compatibility</a:t>
            </a:r>
          </a:p>
          <a:p>
            <a:endParaRPr lang="en-US" dirty="0">
              <a:latin typeface="Arial" pitchFamily="34" charset="0"/>
              <a:cs typeface="Arial" pitchFamily="34" charset="0"/>
            </a:endParaRPr>
          </a:p>
          <a:p>
            <a:r>
              <a:rPr lang="en-US" sz="2400" b="1" dirty="0"/>
              <a:t>Test Cases:</a:t>
            </a:r>
            <a:r>
              <a:rPr lang="en-US" sz="2400" dirty="0"/>
              <a:t> Product Search and Filtering, Adding Items to the Cart, Checkout Process, Order Confirmation and Tracking, User Account Management</a:t>
            </a:r>
          </a:p>
          <a:p>
            <a:endParaRPr lang="en-US" sz="2400" dirty="0"/>
          </a:p>
          <a:p>
            <a:r>
              <a:rPr lang="en-US" sz="2400" b="1" dirty="0"/>
              <a:t>Execution:</a:t>
            </a:r>
            <a:r>
              <a:rPr lang="en-US" sz="2400" dirty="0"/>
              <a:t> Test in Different Environments, Allocate Resources, Schedule Phases</a:t>
            </a:r>
          </a:p>
          <a:p>
            <a:endParaRPr lang="en-US" sz="2400" dirty="0"/>
          </a:p>
        </p:txBody>
      </p:sp>
      <p:sp>
        <p:nvSpPr>
          <p:cNvPr id="7" name="Slide Number Placeholder 6">
            <a:extLst>
              <a:ext uri="{FF2B5EF4-FFF2-40B4-BE49-F238E27FC236}">
                <a16:creationId xmlns:a16="http://schemas.microsoft.com/office/drawing/2014/main" id="{FEC70AB3-F66F-EB9B-6EF9-28E8ED3181A5}"/>
              </a:ext>
            </a:extLst>
          </p:cNvPr>
          <p:cNvSpPr>
            <a:spLocks noGrp="1"/>
          </p:cNvSpPr>
          <p:nvPr>
            <p:ph type="sldNum" sz="quarter" idx="12"/>
          </p:nvPr>
        </p:nvSpPr>
        <p:spPr/>
        <p:txBody>
          <a:bodyPr/>
          <a:lstStyle/>
          <a:p>
            <a:fld id="{330EA680-D336-4FF7-8B7A-9848BB0A1C32}" type="slidenum">
              <a:rPr lang="en-US" smtClean="0"/>
              <a:pPr/>
              <a:t>36</a:t>
            </a:fld>
            <a:endParaRPr lang="en-US"/>
          </a:p>
        </p:txBody>
      </p:sp>
    </p:spTree>
    <p:extLst>
      <p:ext uri="{BB962C8B-B14F-4D97-AF65-F5344CB8AC3E}">
        <p14:creationId xmlns:p14="http://schemas.microsoft.com/office/powerpoint/2010/main" val="3351716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9E240C-0889-5CBA-E204-BA41272B64E7}"/>
              </a:ext>
            </a:extLst>
          </p:cNvPr>
          <p:cNvSpPr txBox="1"/>
          <p:nvPr/>
        </p:nvSpPr>
        <p:spPr>
          <a:xfrm>
            <a:off x="1162595" y="457199"/>
            <a:ext cx="9740394" cy="58169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b="1" dirty="0">
                <a:latin typeface="Arial" pitchFamily="34" charset="0"/>
                <a:cs typeface="Arial" pitchFamily="34" charset="0"/>
              </a:rPr>
              <a:t>Process:</a:t>
            </a:r>
            <a:r>
              <a:rPr lang="en-US" sz="2400" dirty="0">
                <a:latin typeface="Arial" pitchFamily="34" charset="0"/>
                <a:cs typeface="Arial" pitchFamily="34" charset="0"/>
              </a:rPr>
              <a:t> Functional, Usability, Performance, Security, Compatibility Testing</a:t>
            </a:r>
          </a:p>
          <a:p>
            <a:endParaRPr lang="en-US" sz="2400" dirty="0">
              <a:latin typeface="Arial" pitchFamily="34" charset="0"/>
              <a:cs typeface="Arial" pitchFamily="34" charset="0"/>
            </a:endParaRPr>
          </a:p>
          <a:p>
            <a:r>
              <a:rPr lang="en-US" sz="2400" b="1" dirty="0">
                <a:latin typeface="Arial" pitchFamily="34" charset="0"/>
                <a:cs typeface="Arial" pitchFamily="34" charset="0"/>
              </a:rPr>
              <a:t>Iterative Testing:</a:t>
            </a:r>
            <a:r>
              <a:rPr lang="en-US" sz="2400" dirty="0">
                <a:latin typeface="Arial" pitchFamily="34" charset="0"/>
                <a:cs typeface="Arial" pitchFamily="34" charset="0"/>
              </a:rPr>
              <a:t> Continuous testing after updates to refine and enhance the e-commerce website.</a:t>
            </a:r>
          </a:p>
          <a:p>
            <a:endParaRPr lang="en-US" sz="2400" dirty="0">
              <a:latin typeface="Arial" pitchFamily="34" charset="0"/>
              <a:cs typeface="Arial" pitchFamily="34" charset="0"/>
            </a:endParaRPr>
          </a:p>
          <a:p>
            <a:r>
              <a:rPr lang="en-US" sz="2400" b="1" dirty="0">
                <a:latin typeface="Arial" pitchFamily="34" charset="0"/>
                <a:cs typeface="Arial" pitchFamily="34" charset="0"/>
              </a:rPr>
              <a:t>Automation:</a:t>
            </a:r>
            <a:r>
              <a:rPr lang="en-US" sz="2400" dirty="0">
                <a:latin typeface="Arial" pitchFamily="34" charset="0"/>
                <a:cs typeface="Arial" pitchFamily="34" charset="0"/>
              </a:rPr>
              <a:t> Automate repetitive tests to improve efficiency and accuracy.</a:t>
            </a:r>
          </a:p>
          <a:p>
            <a:endParaRPr lang="en-US" dirty="0">
              <a:latin typeface="Arial" pitchFamily="34" charset="0"/>
              <a:cs typeface="Arial" pitchFamily="34" charset="0"/>
            </a:endParaRPr>
          </a:p>
          <a:p>
            <a:r>
              <a:rPr lang="en-US" sz="2400" b="1" dirty="0">
                <a:latin typeface="Arial" pitchFamily="34" charset="0"/>
                <a:cs typeface="Arial" pitchFamily="34" charset="0"/>
              </a:rPr>
              <a:t>Conclusion:</a:t>
            </a:r>
            <a:r>
              <a:rPr lang="en-US" sz="2400" dirty="0">
                <a:latin typeface="Arial" pitchFamily="34" charset="0"/>
                <a:cs typeface="Arial" pitchFamily="34" charset="0"/>
              </a:rPr>
              <a:t> Thorough testing guarantees a reliable, secure, and user-friendly e-commerce website.</a:t>
            </a:r>
          </a:p>
          <a:p>
            <a:pPr>
              <a:lnSpc>
                <a:spcPct val="150000"/>
              </a:lnSpc>
            </a:pPr>
            <a:endParaRPr lang="en-US" sz="2000" dirty="0">
              <a:latin typeface="Arial" pitchFamily="34" charset="0"/>
              <a:cs typeface="Arial" pitchFamily="34" charset="0"/>
            </a:endParaRPr>
          </a:p>
          <a:p>
            <a:pPr>
              <a:lnSpc>
                <a:spcPct val="150000"/>
              </a:lnSpc>
            </a:pPr>
            <a:endParaRPr lang="en-US" sz="2000" b="1" dirty="0">
              <a:solidFill>
                <a:srgbClr val="0D0D0D"/>
              </a:solidFill>
              <a:latin typeface="Arial" pitchFamily="34" charset="0"/>
              <a:ea typeface="+mn-lt"/>
              <a:cs typeface="Arial" pitchFamily="34" charset="0"/>
            </a:endParaRPr>
          </a:p>
          <a:p>
            <a:pPr algn="l">
              <a:lnSpc>
                <a:spcPct val="150000"/>
              </a:lnSpc>
            </a:pPr>
            <a:endParaRPr lang="en-US" sz="2000" dirty="0">
              <a:latin typeface="Arial" pitchFamily="34" charset="0"/>
              <a:cs typeface="Arial" pitchFamily="34" charset="0"/>
            </a:endParaRPr>
          </a:p>
        </p:txBody>
      </p:sp>
      <p:sp>
        <p:nvSpPr>
          <p:cNvPr id="5" name="Slide Number Placeholder 4">
            <a:extLst>
              <a:ext uri="{FF2B5EF4-FFF2-40B4-BE49-F238E27FC236}">
                <a16:creationId xmlns:a16="http://schemas.microsoft.com/office/drawing/2014/main" id="{68087426-B0C1-31C8-ED01-68540CB3DB8B}"/>
              </a:ext>
            </a:extLst>
          </p:cNvPr>
          <p:cNvSpPr>
            <a:spLocks noGrp="1"/>
          </p:cNvSpPr>
          <p:nvPr>
            <p:ph type="sldNum" sz="quarter" idx="12"/>
          </p:nvPr>
        </p:nvSpPr>
        <p:spPr/>
        <p:txBody>
          <a:bodyPr/>
          <a:lstStyle/>
          <a:p>
            <a:fld id="{330EA680-D336-4FF7-8B7A-9848BB0A1C32}" type="slidenum">
              <a:rPr lang="en-US" smtClean="0"/>
              <a:pPr/>
              <a:t>37</a:t>
            </a:fld>
            <a:endParaRPr lang="en-US"/>
          </a:p>
        </p:txBody>
      </p:sp>
    </p:spTree>
    <p:extLst>
      <p:ext uri="{BB962C8B-B14F-4D97-AF65-F5344CB8AC3E}">
        <p14:creationId xmlns:p14="http://schemas.microsoft.com/office/powerpoint/2010/main" val="3732264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80071B-2822-AF33-4606-A51659188A5A}"/>
              </a:ext>
            </a:extLst>
          </p:cNvPr>
          <p:cNvSpPr txBox="1"/>
          <p:nvPr/>
        </p:nvSpPr>
        <p:spPr>
          <a:xfrm>
            <a:off x="311040" y="105649"/>
            <a:ext cx="698771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Arial" pitchFamily="34" charset="0"/>
                <a:cs typeface="Arial" pitchFamily="34" charset="0"/>
              </a:rPr>
              <a:t>Testing</a:t>
            </a:r>
            <a:r>
              <a:rPr lang="en-US" sz="3200" b="1" dirty="0">
                <a:latin typeface="Times New Roman"/>
                <a:cs typeface="Times New Roman"/>
              </a:rPr>
              <a:t> Methods:</a:t>
            </a:r>
            <a:endParaRPr lang="en-US" sz="3200" b="1" dirty="0"/>
          </a:p>
        </p:txBody>
      </p:sp>
      <p:sp>
        <p:nvSpPr>
          <p:cNvPr id="4" name="TextBox 3">
            <a:extLst>
              <a:ext uri="{FF2B5EF4-FFF2-40B4-BE49-F238E27FC236}">
                <a16:creationId xmlns:a16="http://schemas.microsoft.com/office/drawing/2014/main" id="{F62A5B42-7C67-B28B-A849-9F9336F91DC2}"/>
              </a:ext>
            </a:extLst>
          </p:cNvPr>
          <p:cNvSpPr txBox="1"/>
          <p:nvPr/>
        </p:nvSpPr>
        <p:spPr>
          <a:xfrm>
            <a:off x="304581" y="659647"/>
            <a:ext cx="11576379"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latin typeface="Arial" pitchFamily="34" charset="0"/>
              <a:cs typeface="Arial" pitchFamily="34" charset="0"/>
            </a:endParaRPr>
          </a:p>
          <a:p>
            <a:r>
              <a:rPr lang="en-US" sz="2400" b="1" dirty="0">
                <a:latin typeface="Arial" pitchFamily="34" charset="0"/>
                <a:cs typeface="Arial" pitchFamily="34" charset="0"/>
              </a:rPr>
              <a:t>Functional Testing:</a:t>
            </a:r>
            <a:r>
              <a:rPr lang="en-US" sz="2400" dirty="0">
                <a:latin typeface="Arial" pitchFamily="34" charset="0"/>
                <a:cs typeface="Arial" pitchFamily="34" charset="0"/>
              </a:rPr>
              <a:t> Ensure all e-commerce features work as intended.</a:t>
            </a:r>
          </a:p>
          <a:p>
            <a:endParaRPr lang="en-US" sz="2400" dirty="0">
              <a:latin typeface="Arial" pitchFamily="34" charset="0"/>
              <a:cs typeface="Arial" pitchFamily="34" charset="0"/>
            </a:endParaRPr>
          </a:p>
          <a:p>
            <a:r>
              <a:rPr lang="en-US" sz="2400" b="1" dirty="0">
                <a:latin typeface="Arial" pitchFamily="34" charset="0"/>
                <a:cs typeface="Arial" pitchFamily="34" charset="0"/>
              </a:rPr>
              <a:t>Usability Testing:</a:t>
            </a:r>
            <a:r>
              <a:rPr lang="en-US" sz="2400" dirty="0">
                <a:latin typeface="Arial" pitchFamily="34" charset="0"/>
                <a:cs typeface="Arial" pitchFamily="34" charset="0"/>
              </a:rPr>
              <a:t> Evaluate user interface and shopping experience.</a:t>
            </a:r>
          </a:p>
          <a:p>
            <a:endParaRPr lang="en-US" sz="2400" dirty="0">
              <a:latin typeface="Arial" pitchFamily="34" charset="0"/>
              <a:cs typeface="Arial" pitchFamily="34" charset="0"/>
            </a:endParaRPr>
          </a:p>
          <a:p>
            <a:r>
              <a:rPr lang="en-US" sz="2400" b="1" dirty="0">
                <a:latin typeface="Arial" pitchFamily="34" charset="0"/>
                <a:cs typeface="Arial" pitchFamily="34" charset="0"/>
              </a:rPr>
              <a:t>Performance Testing:</a:t>
            </a:r>
            <a:r>
              <a:rPr lang="en-US" sz="2400" dirty="0">
                <a:latin typeface="Arial" pitchFamily="34" charset="0"/>
                <a:cs typeface="Arial" pitchFamily="34" charset="0"/>
              </a:rPr>
              <a:t> Assess system responsiveness and scalability.</a:t>
            </a:r>
          </a:p>
          <a:p>
            <a:endParaRPr lang="en-US" sz="2400" dirty="0">
              <a:latin typeface="Arial" pitchFamily="34" charset="0"/>
              <a:cs typeface="Arial" pitchFamily="34" charset="0"/>
            </a:endParaRPr>
          </a:p>
          <a:p>
            <a:r>
              <a:rPr lang="en-US" sz="2400" b="1" dirty="0">
                <a:latin typeface="Arial" pitchFamily="34" charset="0"/>
                <a:cs typeface="Arial" pitchFamily="34" charset="0"/>
              </a:rPr>
              <a:t>Security Testing:</a:t>
            </a:r>
            <a:r>
              <a:rPr lang="en-US" sz="2400" dirty="0">
                <a:latin typeface="Arial" pitchFamily="34" charset="0"/>
                <a:cs typeface="Arial" pitchFamily="34" charset="0"/>
              </a:rPr>
              <a:t> Identify and address vulnerabilities.</a:t>
            </a:r>
          </a:p>
          <a:p>
            <a:endParaRPr lang="en-US" sz="2400" dirty="0">
              <a:latin typeface="Arial" pitchFamily="34" charset="0"/>
              <a:cs typeface="Arial" pitchFamily="34" charset="0"/>
            </a:endParaRPr>
          </a:p>
          <a:p>
            <a:r>
              <a:rPr lang="en-US" sz="2400" b="1" dirty="0">
                <a:latin typeface="Arial" pitchFamily="34" charset="0"/>
                <a:cs typeface="Arial" pitchFamily="34" charset="0"/>
              </a:rPr>
              <a:t>Compatibility Testing:</a:t>
            </a:r>
            <a:r>
              <a:rPr lang="en-US" sz="2400" dirty="0">
                <a:latin typeface="Arial" pitchFamily="34" charset="0"/>
                <a:cs typeface="Arial" pitchFamily="34" charset="0"/>
              </a:rPr>
              <a:t> Verify across browsers and devices.</a:t>
            </a:r>
          </a:p>
          <a:p>
            <a:endParaRPr lang="en-US" sz="2400" dirty="0">
              <a:latin typeface="Arial" pitchFamily="34" charset="0"/>
              <a:cs typeface="Arial" pitchFamily="34" charset="0"/>
            </a:endParaRPr>
          </a:p>
          <a:p>
            <a:r>
              <a:rPr lang="en-US" sz="2400" b="1" dirty="0">
                <a:latin typeface="Arial" pitchFamily="34" charset="0"/>
                <a:cs typeface="Arial" pitchFamily="34" charset="0"/>
              </a:rPr>
              <a:t>Accessibility Testing:</a:t>
            </a:r>
            <a:r>
              <a:rPr lang="en-US" sz="2400" dirty="0">
                <a:latin typeface="Arial" pitchFamily="34" charset="0"/>
                <a:cs typeface="Arial" pitchFamily="34" charset="0"/>
              </a:rPr>
              <a:t> Ensure compliance with accessibility standards.</a:t>
            </a:r>
          </a:p>
          <a:p>
            <a:endParaRPr lang="en-US" sz="2400" dirty="0">
              <a:latin typeface="Arial" pitchFamily="34" charset="0"/>
              <a:cs typeface="Arial" pitchFamily="34" charset="0"/>
            </a:endParaRPr>
          </a:p>
          <a:p>
            <a:r>
              <a:rPr lang="en-US" sz="2400" b="1" dirty="0">
                <a:latin typeface="Arial" pitchFamily="34" charset="0"/>
                <a:cs typeface="Arial" pitchFamily="34" charset="0"/>
              </a:rPr>
              <a:t>Load Testing:</a:t>
            </a:r>
            <a:r>
              <a:rPr lang="en-US" sz="2400" dirty="0">
                <a:latin typeface="Arial" pitchFamily="34" charset="0"/>
                <a:cs typeface="Arial" pitchFamily="34" charset="0"/>
              </a:rPr>
              <a:t> Measure performance under heavy traffic.</a:t>
            </a:r>
          </a:p>
        </p:txBody>
      </p:sp>
      <p:sp>
        <p:nvSpPr>
          <p:cNvPr id="6" name="Slide Number Placeholder 5">
            <a:extLst>
              <a:ext uri="{FF2B5EF4-FFF2-40B4-BE49-F238E27FC236}">
                <a16:creationId xmlns:a16="http://schemas.microsoft.com/office/drawing/2014/main" id="{E255AC3F-5AE4-7D74-0573-C2163E316AFD}"/>
              </a:ext>
            </a:extLst>
          </p:cNvPr>
          <p:cNvSpPr>
            <a:spLocks noGrp="1"/>
          </p:cNvSpPr>
          <p:nvPr>
            <p:ph type="sldNum" sz="quarter" idx="12"/>
          </p:nvPr>
        </p:nvSpPr>
        <p:spPr/>
        <p:txBody>
          <a:bodyPr/>
          <a:lstStyle/>
          <a:p>
            <a:fld id="{330EA680-D336-4FF7-8B7A-9848BB0A1C32}" type="slidenum">
              <a:rPr lang="en-US" smtClean="0"/>
              <a:pPr/>
              <a:t>38</a:t>
            </a:fld>
            <a:endParaRPr lang="en-US"/>
          </a:p>
        </p:txBody>
      </p:sp>
    </p:spTree>
    <p:extLst>
      <p:ext uri="{BB962C8B-B14F-4D97-AF65-F5344CB8AC3E}">
        <p14:creationId xmlns:p14="http://schemas.microsoft.com/office/powerpoint/2010/main" val="31080050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9A4D2B-65CC-6E44-A271-A485E8BFCDAB}"/>
              </a:ext>
            </a:extLst>
          </p:cNvPr>
          <p:cNvSpPr txBox="1"/>
          <p:nvPr/>
        </p:nvSpPr>
        <p:spPr>
          <a:xfrm>
            <a:off x="234623" y="171182"/>
            <a:ext cx="11285863"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Test Cases (Table with following columns)</a:t>
            </a:r>
          </a:p>
        </p:txBody>
      </p:sp>
      <p:graphicFrame>
        <p:nvGraphicFramePr>
          <p:cNvPr id="3" name="Table 2">
            <a:extLst>
              <a:ext uri="{FF2B5EF4-FFF2-40B4-BE49-F238E27FC236}">
                <a16:creationId xmlns:a16="http://schemas.microsoft.com/office/drawing/2014/main" id="{43A60425-3F0C-6293-69A6-4FA043FEB586}"/>
              </a:ext>
            </a:extLst>
          </p:cNvPr>
          <p:cNvGraphicFramePr>
            <a:graphicFrameLocks noGrp="1"/>
          </p:cNvGraphicFramePr>
          <p:nvPr>
            <p:extLst>
              <p:ext uri="{D42A27DB-BD31-4B8C-83A1-F6EECF244321}">
                <p14:modId xmlns:p14="http://schemas.microsoft.com/office/powerpoint/2010/main" val="399559478"/>
              </p:ext>
            </p:extLst>
          </p:nvPr>
        </p:nvGraphicFramePr>
        <p:xfrm>
          <a:off x="304800" y="1066800"/>
          <a:ext cx="10951470" cy="5110471"/>
        </p:xfrm>
        <a:graphic>
          <a:graphicData uri="http://schemas.openxmlformats.org/drawingml/2006/table">
            <a:tbl>
              <a:tblPr firstRow="1" bandRow="1">
                <a:tableStyleId>{5C22544A-7EE6-4342-B048-85BDC9FD1C3A}</a:tableStyleId>
              </a:tblPr>
              <a:tblGrid>
                <a:gridCol w="3650490">
                  <a:extLst>
                    <a:ext uri="{9D8B030D-6E8A-4147-A177-3AD203B41FA5}">
                      <a16:colId xmlns:a16="http://schemas.microsoft.com/office/drawing/2014/main" val="3312124177"/>
                    </a:ext>
                  </a:extLst>
                </a:gridCol>
                <a:gridCol w="3650490">
                  <a:extLst>
                    <a:ext uri="{9D8B030D-6E8A-4147-A177-3AD203B41FA5}">
                      <a16:colId xmlns:a16="http://schemas.microsoft.com/office/drawing/2014/main" val="3717956139"/>
                    </a:ext>
                  </a:extLst>
                </a:gridCol>
                <a:gridCol w="3650490">
                  <a:extLst>
                    <a:ext uri="{9D8B030D-6E8A-4147-A177-3AD203B41FA5}">
                      <a16:colId xmlns:a16="http://schemas.microsoft.com/office/drawing/2014/main" val="1768437551"/>
                    </a:ext>
                  </a:extLst>
                </a:gridCol>
              </a:tblGrid>
              <a:tr h="1227406">
                <a:tc>
                  <a:txBody>
                    <a:bodyPr/>
                    <a:lstStyle/>
                    <a:p>
                      <a:pPr lvl="0">
                        <a:buNone/>
                      </a:pPr>
                      <a:r>
                        <a:rPr lang="en-US" sz="2800" b="1" i="0" u="none" strike="noStrike" noProof="0" dirty="0">
                          <a:solidFill>
                            <a:srgbClr val="0D0D0D"/>
                          </a:solidFill>
                          <a:latin typeface="Times New Roman"/>
                        </a:rPr>
                        <a:t>Purpose</a:t>
                      </a:r>
                      <a:endParaRPr lang="en-US" sz="2800" b="1" dirty="0">
                        <a:latin typeface="Times New Roman"/>
                      </a:endParaRPr>
                    </a:p>
                  </a:txBody>
                  <a:tcPr/>
                </a:tc>
                <a:tc>
                  <a:txBody>
                    <a:bodyPr/>
                    <a:lstStyle/>
                    <a:p>
                      <a:pPr lvl="0">
                        <a:buNone/>
                      </a:pPr>
                      <a:r>
                        <a:rPr lang="en-US" sz="2800" b="1" i="0" u="none" strike="noStrike" noProof="0" dirty="0">
                          <a:solidFill>
                            <a:srgbClr val="0D0D0D"/>
                          </a:solidFill>
                          <a:latin typeface="Times New Roman"/>
                        </a:rPr>
                        <a:t>Required Input</a:t>
                      </a:r>
                      <a:endParaRPr lang="en-US" sz="2800">
                        <a:latin typeface="Times New Roman"/>
                      </a:endParaRPr>
                    </a:p>
                  </a:txBody>
                  <a:tcPr/>
                </a:tc>
                <a:tc>
                  <a:txBody>
                    <a:bodyPr/>
                    <a:lstStyle/>
                    <a:p>
                      <a:pPr lvl="0">
                        <a:buNone/>
                      </a:pPr>
                      <a:r>
                        <a:rPr lang="en-US" sz="2800" b="1" i="0" u="none" strike="noStrike" noProof="0" dirty="0">
                          <a:solidFill>
                            <a:srgbClr val="0D0D0D"/>
                          </a:solidFill>
                          <a:latin typeface="Times New Roman"/>
                        </a:rPr>
                        <a:t>Expected Result</a:t>
                      </a:r>
                      <a:endParaRPr lang="en-US" sz="2800">
                        <a:latin typeface="Times New Roman"/>
                      </a:endParaRPr>
                    </a:p>
                  </a:txBody>
                  <a:tcPr/>
                </a:tc>
                <a:extLst>
                  <a:ext uri="{0D108BD9-81ED-4DB2-BD59-A6C34878D82A}">
                    <a16:rowId xmlns:a16="http://schemas.microsoft.com/office/drawing/2014/main" val="1227012873"/>
                  </a:ext>
                </a:extLst>
              </a:tr>
              <a:tr h="914975">
                <a:tc>
                  <a:txBody>
                    <a:bodyPr/>
                    <a:lstStyle/>
                    <a:p>
                      <a:pPr lvl="0">
                        <a:buNone/>
                      </a:pPr>
                      <a:r>
                        <a:rPr lang="en-US" sz="1900" b="1" i="0" u="none" strike="noStrike" noProof="0" dirty="0">
                          <a:solidFill>
                            <a:srgbClr val="0D0D0D"/>
                          </a:solidFill>
                          <a:latin typeface="Aptos"/>
                        </a:rPr>
                        <a:t>User Login</a:t>
                      </a:r>
                      <a:endParaRPr lang="en-US" sz="1900" b="1" dirty="0"/>
                    </a:p>
                  </a:txBody>
                  <a:tcPr/>
                </a:tc>
                <a:tc>
                  <a:txBody>
                    <a:bodyPr/>
                    <a:lstStyle/>
                    <a:p>
                      <a:pPr lvl="0">
                        <a:buNone/>
                      </a:pPr>
                      <a:r>
                        <a:rPr lang="en-US" sz="1900" b="0" i="0" u="none" strike="noStrike" noProof="0" dirty="0">
                          <a:solidFill>
                            <a:srgbClr val="0D0D0D"/>
                          </a:solidFill>
                          <a:latin typeface="Aptos"/>
                        </a:rPr>
                        <a:t>Username, Password</a:t>
                      </a:r>
                      <a:endParaRPr lang="en-US" sz="1900" dirty="0"/>
                    </a:p>
                  </a:txBody>
                  <a:tcPr/>
                </a:tc>
                <a:tc>
                  <a:txBody>
                    <a:bodyPr/>
                    <a:lstStyle/>
                    <a:p>
                      <a:pPr lvl="0">
                        <a:buNone/>
                      </a:pPr>
                      <a:r>
                        <a:rPr lang="en-US" sz="1900" b="0" i="0" u="none" strike="noStrike" noProof="0" dirty="0">
                          <a:solidFill>
                            <a:srgbClr val="0D0D0D"/>
                          </a:solidFill>
                          <a:latin typeface="Aptos"/>
                        </a:rPr>
                        <a:t>Successful login</a:t>
                      </a:r>
                      <a:endParaRPr lang="en-US" sz="1900" dirty="0"/>
                    </a:p>
                  </a:txBody>
                  <a:tcPr/>
                </a:tc>
                <a:extLst>
                  <a:ext uri="{0D108BD9-81ED-4DB2-BD59-A6C34878D82A}">
                    <a16:rowId xmlns:a16="http://schemas.microsoft.com/office/drawing/2014/main" val="2264232239"/>
                  </a:ext>
                </a:extLst>
              </a:tr>
              <a:tr h="1138140">
                <a:tc>
                  <a:txBody>
                    <a:bodyPr/>
                    <a:lstStyle/>
                    <a:p>
                      <a:pPr lvl="0">
                        <a:buNone/>
                      </a:pPr>
                      <a:endParaRPr lang="en-US" sz="1900" dirty="0"/>
                    </a:p>
                  </a:txBody>
                  <a:tcPr/>
                </a:tc>
                <a:tc>
                  <a:txBody>
                    <a:bodyPr/>
                    <a:lstStyle/>
                    <a:p>
                      <a:pPr lvl="0">
                        <a:buNone/>
                      </a:pPr>
                      <a:r>
                        <a:rPr lang="en-US" sz="1900" b="0" i="0" u="none" strike="noStrike" noProof="0" dirty="0">
                          <a:solidFill>
                            <a:srgbClr val="0D0D0D"/>
                          </a:solidFill>
                          <a:latin typeface="Aptos"/>
                        </a:rPr>
                        <a:t>Incorrect Username/Password</a:t>
                      </a:r>
                      <a:endParaRPr lang="en-US" sz="1900" dirty="0"/>
                    </a:p>
                  </a:txBody>
                  <a:tcPr/>
                </a:tc>
                <a:tc>
                  <a:txBody>
                    <a:bodyPr/>
                    <a:lstStyle/>
                    <a:p>
                      <a:pPr lvl="0">
                        <a:buNone/>
                      </a:pPr>
                      <a:r>
                        <a:rPr lang="en-US" sz="1900" b="0" i="0" u="none" strike="noStrike" noProof="0" dirty="0">
                          <a:solidFill>
                            <a:srgbClr val="0D0D0D"/>
                          </a:solidFill>
                          <a:latin typeface="Aptos"/>
                        </a:rPr>
                        <a:t>Error message displayed</a:t>
                      </a:r>
                      <a:endParaRPr lang="en-US" sz="1900" dirty="0"/>
                    </a:p>
                  </a:txBody>
                  <a:tcPr/>
                </a:tc>
                <a:extLst>
                  <a:ext uri="{0D108BD9-81ED-4DB2-BD59-A6C34878D82A}">
                    <a16:rowId xmlns:a16="http://schemas.microsoft.com/office/drawing/2014/main" val="668431036"/>
                  </a:ext>
                </a:extLst>
              </a:tr>
              <a:tr h="914975">
                <a:tc>
                  <a:txBody>
                    <a:bodyPr/>
                    <a:lstStyle/>
                    <a:p>
                      <a:pPr lvl="0">
                        <a:buNone/>
                      </a:pPr>
                      <a:r>
                        <a:rPr lang="en-US" sz="1900" b="1" i="0" u="none" strike="noStrike" noProof="0" dirty="0">
                          <a:solidFill>
                            <a:srgbClr val="0D0D0D"/>
                          </a:solidFill>
                          <a:latin typeface="Aptos"/>
                        </a:rPr>
                        <a:t>Course Enrollment</a:t>
                      </a:r>
                      <a:endParaRPr lang="en-US" sz="1900" b="1" dirty="0"/>
                    </a:p>
                  </a:txBody>
                  <a:tcPr/>
                </a:tc>
                <a:tc>
                  <a:txBody>
                    <a:bodyPr/>
                    <a:lstStyle/>
                    <a:p>
                      <a:pPr lvl="0">
                        <a:buNone/>
                      </a:pPr>
                      <a:r>
                        <a:rPr lang="en-US" sz="1900" b="0" i="0" u="none" strike="noStrike" noProof="0" dirty="0">
                          <a:solidFill>
                            <a:srgbClr val="0D0D0D"/>
                          </a:solidFill>
                          <a:latin typeface="Aptos"/>
                        </a:rPr>
                        <a:t>Course selection</a:t>
                      </a:r>
                      <a:endParaRPr lang="en-US" sz="1900" dirty="0"/>
                    </a:p>
                  </a:txBody>
                  <a:tcPr/>
                </a:tc>
                <a:tc>
                  <a:txBody>
                    <a:bodyPr/>
                    <a:lstStyle/>
                    <a:p>
                      <a:pPr lvl="0">
                        <a:buNone/>
                      </a:pPr>
                      <a:r>
                        <a:rPr lang="en-US" sz="1900" b="0" i="0" u="none" strike="noStrike" noProof="0" dirty="0">
                          <a:solidFill>
                            <a:srgbClr val="0D0D0D"/>
                          </a:solidFill>
                          <a:latin typeface="Aptos"/>
                        </a:rPr>
                        <a:t>Enrollment confirmation</a:t>
                      </a:r>
                      <a:endParaRPr lang="en-US" sz="1900" dirty="0"/>
                    </a:p>
                  </a:txBody>
                  <a:tcPr/>
                </a:tc>
                <a:extLst>
                  <a:ext uri="{0D108BD9-81ED-4DB2-BD59-A6C34878D82A}">
                    <a16:rowId xmlns:a16="http://schemas.microsoft.com/office/drawing/2014/main" val="3305798370"/>
                  </a:ext>
                </a:extLst>
              </a:tr>
              <a:tr h="914975">
                <a:tc>
                  <a:txBody>
                    <a:bodyPr/>
                    <a:lstStyle/>
                    <a:p>
                      <a:pPr lvl="0">
                        <a:buNone/>
                      </a:pPr>
                      <a:endParaRPr lang="en-US" sz="1900" dirty="0"/>
                    </a:p>
                  </a:txBody>
                  <a:tcPr/>
                </a:tc>
                <a:tc>
                  <a:txBody>
                    <a:bodyPr/>
                    <a:lstStyle/>
                    <a:p>
                      <a:pPr lvl="0">
                        <a:buNone/>
                      </a:pPr>
                      <a:r>
                        <a:rPr lang="en-US" sz="1900" b="0" i="0" u="none" strike="noStrike" noProof="0" dirty="0">
                          <a:solidFill>
                            <a:srgbClr val="0D0D0D"/>
                          </a:solidFill>
                          <a:latin typeface="Aptos"/>
                        </a:rPr>
                        <a:t>Already enrolled in course</a:t>
                      </a:r>
                      <a:endParaRPr lang="en-US" sz="1900" dirty="0"/>
                    </a:p>
                  </a:txBody>
                  <a:tcPr/>
                </a:tc>
                <a:tc>
                  <a:txBody>
                    <a:bodyPr/>
                    <a:lstStyle/>
                    <a:p>
                      <a:pPr lvl="0">
                        <a:buNone/>
                      </a:pPr>
                      <a:r>
                        <a:rPr lang="en-US" sz="1900" b="0" i="0" u="none" strike="noStrike" noProof="0" dirty="0">
                          <a:solidFill>
                            <a:srgbClr val="0D0D0D"/>
                          </a:solidFill>
                          <a:latin typeface="Aptos"/>
                        </a:rPr>
                        <a:t>Error message displayed</a:t>
                      </a:r>
                      <a:endParaRPr lang="en-US" sz="1900" dirty="0"/>
                    </a:p>
                  </a:txBody>
                  <a:tcPr/>
                </a:tc>
                <a:extLst>
                  <a:ext uri="{0D108BD9-81ED-4DB2-BD59-A6C34878D82A}">
                    <a16:rowId xmlns:a16="http://schemas.microsoft.com/office/drawing/2014/main" val="456425775"/>
                  </a:ext>
                </a:extLst>
              </a:tr>
            </a:tbl>
          </a:graphicData>
        </a:graphic>
      </p:graphicFrame>
      <p:sp>
        <p:nvSpPr>
          <p:cNvPr id="8" name="Slide Number Placeholder 7">
            <a:extLst>
              <a:ext uri="{FF2B5EF4-FFF2-40B4-BE49-F238E27FC236}">
                <a16:creationId xmlns:a16="http://schemas.microsoft.com/office/drawing/2014/main" id="{6102A792-1D69-3079-85A9-57F4834BA29A}"/>
              </a:ext>
            </a:extLst>
          </p:cNvPr>
          <p:cNvSpPr>
            <a:spLocks noGrp="1"/>
          </p:cNvSpPr>
          <p:nvPr>
            <p:ph type="sldNum" sz="quarter" idx="12"/>
          </p:nvPr>
        </p:nvSpPr>
        <p:spPr/>
        <p:txBody>
          <a:bodyPr/>
          <a:lstStyle/>
          <a:p>
            <a:fld id="{330EA680-D336-4FF7-8B7A-9848BB0A1C32}" type="slidenum">
              <a:rPr lang="en-US" smtClean="0"/>
              <a:pPr/>
              <a:t>39</a:t>
            </a:fld>
            <a:endParaRPr lang="en-US"/>
          </a:p>
        </p:txBody>
      </p:sp>
    </p:spTree>
    <p:extLst>
      <p:ext uri="{BB962C8B-B14F-4D97-AF65-F5344CB8AC3E}">
        <p14:creationId xmlns:p14="http://schemas.microsoft.com/office/powerpoint/2010/main" val="1294961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2943434"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Limitation: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Box 4">
            <a:extLst>
              <a:ext uri="{FF2B5EF4-FFF2-40B4-BE49-F238E27FC236}">
                <a16:creationId xmlns:a16="http://schemas.microsoft.com/office/drawing/2014/main" id="{7C8F93FD-E1A0-739C-CBD9-B5804059B176}"/>
              </a:ext>
            </a:extLst>
          </p:cNvPr>
          <p:cNvSpPr txBox="1"/>
          <p:nvPr/>
        </p:nvSpPr>
        <p:spPr>
          <a:xfrm>
            <a:off x="310721" y="864328"/>
            <a:ext cx="10839632" cy="5078313"/>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b="1" dirty="0">
                <a:latin typeface="Arial" pitchFamily="34" charset="0"/>
                <a:cs typeface="Arial" pitchFamily="34" charset="0"/>
              </a:rPr>
              <a:t>Lack of </a:t>
            </a:r>
            <a:r>
              <a:rPr lang="en-US" b="1" dirty="0" err="1">
                <a:latin typeface="Arial" pitchFamily="34" charset="0"/>
                <a:cs typeface="Arial" pitchFamily="34" charset="0"/>
              </a:rPr>
              <a:t>Customization</a:t>
            </a:r>
            <a:r>
              <a:rPr lang="en-US" dirty="0" err="1">
                <a:latin typeface="Arial" pitchFamily="34" charset="0"/>
                <a:cs typeface="Arial" pitchFamily="34" charset="0"/>
              </a:rPr>
              <a:t>:While</a:t>
            </a:r>
            <a:r>
              <a:rPr lang="en-US" dirty="0">
                <a:latin typeface="Arial" pitchFamily="34" charset="0"/>
                <a:cs typeface="Arial" pitchFamily="34" charset="0"/>
              </a:rPr>
              <a:t> users can location and examine furniture fashions of their real surroundings, there seems to be no point out of customization alternatives (like shade, size, and so on.) restricting the personalization of the purchasing experience. </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itchFamily="34" charset="0"/>
              <a:cs typeface="Arial" pitchFamily="34" charset="0"/>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b="1" dirty="0">
                <a:latin typeface="Arial" pitchFamily="34" charset="0"/>
                <a:cs typeface="Arial" pitchFamily="34" charset="0"/>
              </a:rPr>
              <a:t>Increased Costs and Channel Conflict: </a:t>
            </a:r>
            <a:r>
              <a:rPr lang="en-US" dirty="0">
                <a:latin typeface="Arial" pitchFamily="34" charset="0"/>
                <a:cs typeface="Arial" pitchFamily="34" charset="0"/>
              </a:rPr>
              <a:t>Implementing eCommerce through website can be costly. Retailers will have to struggle with this because of the conflict between online sales and brick-and-mortar operations, especially in dealing with shipping and delivery costs.</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itchFamily="34" charset="0"/>
              <a:cs typeface="Arial" pitchFamily="34" charset="0"/>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b="1" dirty="0">
                <a:latin typeface="Arial" pitchFamily="34" charset="0"/>
                <a:cs typeface="Arial" pitchFamily="34" charset="0"/>
              </a:rPr>
              <a:t>Limited Online Sales: </a:t>
            </a:r>
            <a:r>
              <a:rPr lang="en-US" dirty="0">
                <a:latin typeface="Arial" pitchFamily="34" charset="0"/>
                <a:cs typeface="Arial" pitchFamily="34" charset="0"/>
              </a:rPr>
              <a:t>While 3D models can simulate a realistic shopping experience, it hasn't significantly boosted online furniture sales. Consumers are hesitant to buy furniture online due to delivery inconveniences and a lack of confidence in purchasing large, costly items without physical interaction.</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itchFamily="34" charset="0"/>
              <a:cs typeface="Arial" pitchFamily="34" charset="0"/>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b="1" dirty="0">
                <a:latin typeface="Arial" pitchFamily="34" charset="0"/>
                <a:cs typeface="Arial" pitchFamily="34" charset="0"/>
              </a:rPr>
              <a:t>Limited User Interaction: </a:t>
            </a:r>
            <a:r>
              <a:rPr lang="en-US" dirty="0">
                <a:latin typeface="Arial" pitchFamily="34" charset="0"/>
                <a:cs typeface="Arial" pitchFamily="34" charset="0"/>
              </a:rPr>
              <a:t>Customers might  not get direct control over the virtual environment; they relied on the sales assistant for adjustments. This limited their engagement and interaction.</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itchFamily="34" charset="0"/>
              <a:cs typeface="Arial" pitchFamily="34" charset="0"/>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b="1" dirty="0">
                <a:latin typeface="Arial" pitchFamily="34" charset="0"/>
                <a:cs typeface="Arial" pitchFamily="34" charset="0"/>
              </a:rPr>
              <a:t>Data </a:t>
            </a:r>
            <a:r>
              <a:rPr lang="en-US" b="1" dirty="0" err="1">
                <a:latin typeface="Arial" pitchFamily="34" charset="0"/>
                <a:cs typeface="Arial" pitchFamily="34" charset="0"/>
              </a:rPr>
              <a:t>Storage:</a:t>
            </a:r>
            <a:r>
              <a:rPr lang="en-US" dirty="0" err="1">
                <a:latin typeface="Arial" pitchFamily="34" charset="0"/>
                <a:cs typeface="Arial" pitchFamily="34" charset="0"/>
              </a:rPr>
              <a:t>The</a:t>
            </a:r>
            <a:r>
              <a:rPr lang="en-US" dirty="0">
                <a:latin typeface="Arial" pitchFamily="34" charset="0"/>
                <a:cs typeface="Arial" pitchFamily="34" charset="0"/>
              </a:rPr>
              <a:t> application relies on  for storing user and product data. 3D models  requires more robust backend solutions for scalability. It requires a large amount of storage to be loaded</a:t>
            </a:r>
            <a:endParaRPr lang="en-IN" dirty="0">
              <a:latin typeface="Arial" pitchFamily="34" charset="0"/>
              <a:cs typeface="Arial" pitchFamily="34" charset="0"/>
            </a:endParaRPr>
          </a:p>
        </p:txBody>
      </p:sp>
      <p:sp>
        <p:nvSpPr>
          <p:cNvPr id="7" name="Slide Number Placeholder 6">
            <a:extLst>
              <a:ext uri="{FF2B5EF4-FFF2-40B4-BE49-F238E27FC236}">
                <a16:creationId xmlns:a16="http://schemas.microsoft.com/office/drawing/2014/main" id="{5F3301F6-CD83-7F89-EE12-96D537A87524}"/>
              </a:ext>
            </a:extLst>
          </p:cNvPr>
          <p:cNvSpPr>
            <a:spLocks noGrp="1"/>
          </p:cNvSpPr>
          <p:nvPr>
            <p:ph type="sldNum" sz="quarter" idx="12"/>
          </p:nvPr>
        </p:nvSpPr>
        <p:spPr/>
        <p:txBody>
          <a:bodyPr/>
          <a:lstStyle/>
          <a:p>
            <a:fld id="{330EA680-D336-4FF7-8B7A-9848BB0A1C32}" type="slidenum">
              <a:rPr lang="en-US" smtClean="0"/>
              <a:pPr/>
              <a:t>40</a:t>
            </a:fld>
            <a:endParaRPr lang="en-US"/>
          </a:p>
        </p:txBody>
      </p:sp>
    </p:spTree>
    <p:extLst>
      <p:ext uri="{BB962C8B-B14F-4D97-AF65-F5344CB8AC3E}">
        <p14:creationId xmlns:p14="http://schemas.microsoft.com/office/powerpoint/2010/main" val="27940810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5486823"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Future Enhancement:</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Box 3">
            <a:extLst>
              <a:ext uri="{FF2B5EF4-FFF2-40B4-BE49-F238E27FC236}">
                <a16:creationId xmlns:a16="http://schemas.microsoft.com/office/drawing/2014/main" id="{478F2548-2FF7-90E5-E810-3655F5333612}"/>
              </a:ext>
            </a:extLst>
          </p:cNvPr>
          <p:cNvSpPr txBox="1"/>
          <p:nvPr/>
        </p:nvSpPr>
        <p:spPr>
          <a:xfrm>
            <a:off x="414067" y="1061049"/>
            <a:ext cx="11050439" cy="4801314"/>
          </a:xfrm>
          <a:prstGeom prst="rect">
            <a:avLst/>
          </a:prstGeom>
          <a:noFill/>
        </p:spPr>
        <p:txBody>
          <a:bodyPr wrap="square" rtlCol="0">
            <a:spAutoFit/>
          </a:bodyPr>
          <a:lstStyle/>
          <a:p>
            <a:pPr marL="342900" indent="-342900">
              <a:buAutoNum type="arabicPeriod"/>
            </a:pPr>
            <a:r>
              <a:rPr lang="en-US" b="1" dirty="0">
                <a:latin typeface="Arial" pitchFamily="34" charset="0"/>
                <a:cs typeface="Arial" pitchFamily="34" charset="0"/>
              </a:rPr>
              <a:t>Improving Customer Comfort: </a:t>
            </a:r>
            <a:r>
              <a:rPr lang="en-US" dirty="0">
                <a:latin typeface="Arial" pitchFamily="34" charset="0"/>
                <a:cs typeface="Arial" pitchFamily="34" charset="0"/>
              </a:rPr>
              <a:t>Adjustments could be made to increase customer comfort during the VR session, such as offering shorter immersive experiences or ensuring a more private and safe environment.</a:t>
            </a:r>
          </a:p>
          <a:p>
            <a:pPr marL="342900" indent="-342900">
              <a:buAutoNum type="arabicPeriod"/>
            </a:pPr>
            <a:endParaRPr lang="en-US" dirty="0">
              <a:latin typeface="Arial" pitchFamily="34" charset="0"/>
              <a:cs typeface="Arial" pitchFamily="34" charset="0"/>
            </a:endParaRPr>
          </a:p>
          <a:p>
            <a:pPr marL="342900" indent="-342900">
              <a:buAutoNum type="arabicPeriod"/>
            </a:pPr>
            <a:r>
              <a:rPr lang="en-US" b="1" dirty="0">
                <a:latin typeface="Arial" pitchFamily="34" charset="0"/>
                <a:cs typeface="Arial" pitchFamily="34" charset="0"/>
              </a:rPr>
              <a:t>Incorporating More Sensory Feedback: </a:t>
            </a:r>
            <a:r>
              <a:rPr lang="en-US" dirty="0">
                <a:latin typeface="Arial" pitchFamily="34" charset="0"/>
                <a:cs typeface="Arial" pitchFamily="34" charset="0"/>
              </a:rPr>
              <a:t>Expanding the multisensory feedback system (e.g., adding more tactile elements or scents) could make the experience even more immersive.</a:t>
            </a:r>
          </a:p>
          <a:p>
            <a:pPr marL="342900" indent="-342900">
              <a:buAutoNum type="arabicPeriod"/>
            </a:pPr>
            <a:endParaRPr lang="en-US" dirty="0">
              <a:latin typeface="Arial" pitchFamily="34" charset="0"/>
              <a:cs typeface="Arial" pitchFamily="34" charset="0"/>
            </a:endParaRPr>
          </a:p>
          <a:p>
            <a:pPr marL="342900" indent="-342900">
              <a:buAutoNum type="arabicPeriod"/>
            </a:pPr>
            <a:r>
              <a:rPr lang="en-US" b="1" dirty="0">
                <a:latin typeface="Arial" pitchFamily="34" charset="0"/>
                <a:cs typeface="Arial" pitchFamily="34" charset="0"/>
              </a:rPr>
              <a:t>Expanding Product Offerings: </a:t>
            </a:r>
            <a:r>
              <a:rPr lang="en-US" dirty="0">
                <a:latin typeface="Arial" pitchFamily="34" charset="0"/>
                <a:cs typeface="Arial" pitchFamily="34" charset="0"/>
              </a:rPr>
              <a:t>The VR journey could be expanded to include more diverse product ranges, allowing users to configure a broader selection of items that may not be available in-</a:t>
            </a:r>
            <a:r>
              <a:rPr lang="en-US" dirty="0" err="1">
                <a:latin typeface="Arial" pitchFamily="34" charset="0"/>
                <a:cs typeface="Arial" pitchFamily="34" charset="0"/>
              </a:rPr>
              <a:t>store.Enhanced</a:t>
            </a:r>
            <a:r>
              <a:rPr lang="en-US" dirty="0">
                <a:latin typeface="Arial" pitchFamily="34" charset="0"/>
                <a:cs typeface="Arial" pitchFamily="34" charset="0"/>
              </a:rPr>
              <a:t> Model.</a:t>
            </a:r>
          </a:p>
          <a:p>
            <a:pPr marL="342900" indent="-342900">
              <a:buAutoNum type="arabicPeriod"/>
            </a:pPr>
            <a:endParaRPr lang="en-US" dirty="0">
              <a:latin typeface="Arial" pitchFamily="34" charset="0"/>
              <a:cs typeface="Arial" pitchFamily="34" charset="0"/>
            </a:endParaRPr>
          </a:p>
          <a:p>
            <a:pPr marL="342900" indent="-342900">
              <a:buAutoNum type="arabicPeriod"/>
            </a:pPr>
            <a:r>
              <a:rPr lang="en-US" b="1" dirty="0">
                <a:latin typeface="Arial" pitchFamily="34" charset="0"/>
                <a:cs typeface="Arial" pitchFamily="34" charset="0"/>
              </a:rPr>
              <a:t>Quality and Realism: </a:t>
            </a:r>
            <a:r>
              <a:rPr lang="en-US" dirty="0">
                <a:latin typeface="Arial" pitchFamily="34" charset="0"/>
                <a:cs typeface="Arial" pitchFamily="34" charset="0"/>
              </a:rPr>
              <a:t>Support for more complex, higher-resolution models can be introduced to improve realism, especially with better reflection, texture, and lighting control. This would require enhanced hardware support for real-time rendering of detailed 3D models.</a:t>
            </a:r>
          </a:p>
          <a:p>
            <a:pPr marL="342900" indent="-342900">
              <a:buAutoNum type="arabicPeriod"/>
            </a:pPr>
            <a:endParaRPr lang="en-US" dirty="0">
              <a:latin typeface="Arial" pitchFamily="34" charset="0"/>
              <a:cs typeface="Arial" pitchFamily="34" charset="0"/>
            </a:endParaRPr>
          </a:p>
          <a:p>
            <a:pPr marL="342900" indent="-342900">
              <a:buAutoNum type="arabicPeriod"/>
            </a:pPr>
            <a:r>
              <a:rPr lang="en-US" b="1" dirty="0">
                <a:latin typeface="Arial" pitchFamily="34" charset="0"/>
                <a:cs typeface="Arial" pitchFamily="34" charset="0"/>
              </a:rPr>
              <a:t>Offline Functionality: </a:t>
            </a:r>
            <a:r>
              <a:rPr lang="en-US" dirty="0">
                <a:latin typeface="Arial" pitchFamily="34" charset="0"/>
                <a:cs typeface="Arial" pitchFamily="34" charset="0"/>
              </a:rPr>
              <a:t>Allowing some offline functionality or downloading selected 3D models for offline use could improve usability in areas with limited connectivity</a:t>
            </a:r>
          </a:p>
        </p:txBody>
      </p:sp>
      <p:sp>
        <p:nvSpPr>
          <p:cNvPr id="6" name="Slide Number Placeholder 5">
            <a:extLst>
              <a:ext uri="{FF2B5EF4-FFF2-40B4-BE49-F238E27FC236}">
                <a16:creationId xmlns:a16="http://schemas.microsoft.com/office/drawing/2014/main" id="{CF0AF8BA-0268-532C-29F0-67E628D7ECC2}"/>
              </a:ext>
            </a:extLst>
          </p:cNvPr>
          <p:cNvSpPr>
            <a:spLocks noGrp="1"/>
          </p:cNvSpPr>
          <p:nvPr>
            <p:ph type="sldNum" sz="quarter" idx="12"/>
          </p:nvPr>
        </p:nvSpPr>
        <p:spPr/>
        <p:txBody>
          <a:bodyPr/>
          <a:lstStyle/>
          <a:p>
            <a:fld id="{330EA680-D336-4FF7-8B7A-9848BB0A1C32}" type="slidenum">
              <a:rPr lang="en-US" smtClean="0"/>
              <a:pPr/>
              <a:t>41</a:t>
            </a:fld>
            <a:endParaRPr lang="en-US"/>
          </a:p>
        </p:txBody>
      </p:sp>
    </p:spTree>
    <p:extLst>
      <p:ext uri="{BB962C8B-B14F-4D97-AF65-F5344CB8AC3E}">
        <p14:creationId xmlns:p14="http://schemas.microsoft.com/office/powerpoint/2010/main" val="250707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3070071"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Conclusion: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Box 3">
            <a:extLst>
              <a:ext uri="{FF2B5EF4-FFF2-40B4-BE49-F238E27FC236}">
                <a16:creationId xmlns:a16="http://schemas.microsoft.com/office/drawing/2014/main" id="{26ECFF5E-3A81-F336-9CFF-E6BF87AAF03B}"/>
              </a:ext>
            </a:extLst>
          </p:cNvPr>
          <p:cNvSpPr txBox="1"/>
          <p:nvPr/>
        </p:nvSpPr>
        <p:spPr>
          <a:xfrm>
            <a:off x="414067" y="1125684"/>
            <a:ext cx="10939733" cy="1200329"/>
          </a:xfrm>
          <a:prstGeom prst="rect">
            <a:avLst/>
          </a:prstGeom>
          <a:noFill/>
        </p:spPr>
        <p:txBody>
          <a:bodyPr wrap="square" rtlCol="0">
            <a:spAutoFit/>
          </a:bodyPr>
          <a:lstStyle/>
          <a:p>
            <a:r>
              <a:rPr lang="en-US" dirty="0"/>
              <a:t>In conclusion, implementing 3D visualization and a budget mechanism offers furniture retailers an innovative way to enhance customer experience by enabling realistic product exploration and cost management. Despite high initial costs and the lack of tactile feedback, this approach reduces inventory needs, optimizes store space, and improves customer decision-making, making it a valuable asset for the future of furniture retail.</a:t>
            </a:r>
            <a:endParaRPr lang="en-US" dirty="0">
              <a:latin typeface="Arial" pitchFamily="34" charset="0"/>
              <a:cs typeface="Arial" pitchFamily="34" charset="0"/>
            </a:endParaRPr>
          </a:p>
        </p:txBody>
      </p:sp>
      <p:sp>
        <p:nvSpPr>
          <p:cNvPr id="6" name="Slide Number Placeholder 5">
            <a:extLst>
              <a:ext uri="{FF2B5EF4-FFF2-40B4-BE49-F238E27FC236}">
                <a16:creationId xmlns:a16="http://schemas.microsoft.com/office/drawing/2014/main" id="{1065275C-FEF9-2C9A-05D0-1E21189364AD}"/>
              </a:ext>
            </a:extLst>
          </p:cNvPr>
          <p:cNvSpPr>
            <a:spLocks noGrp="1"/>
          </p:cNvSpPr>
          <p:nvPr>
            <p:ph type="sldNum" sz="quarter" idx="12"/>
          </p:nvPr>
        </p:nvSpPr>
        <p:spPr/>
        <p:txBody>
          <a:bodyPr/>
          <a:lstStyle/>
          <a:p>
            <a:fld id="{330EA680-D336-4FF7-8B7A-9848BB0A1C32}" type="slidenum">
              <a:rPr lang="en-US" smtClean="0"/>
              <a:pPr/>
              <a:t>42</a:t>
            </a:fld>
            <a:endParaRPr lang="en-US"/>
          </a:p>
        </p:txBody>
      </p:sp>
    </p:spTree>
    <p:extLst>
      <p:ext uri="{BB962C8B-B14F-4D97-AF65-F5344CB8AC3E}">
        <p14:creationId xmlns:p14="http://schemas.microsoft.com/office/powerpoint/2010/main" val="1802540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2990947"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References:</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Box 3">
            <a:extLst>
              <a:ext uri="{FF2B5EF4-FFF2-40B4-BE49-F238E27FC236}">
                <a16:creationId xmlns:a16="http://schemas.microsoft.com/office/drawing/2014/main" id="{17356D1B-8D2F-8080-0A1D-BBA64B592E3B}"/>
              </a:ext>
            </a:extLst>
          </p:cNvPr>
          <p:cNvSpPr txBox="1"/>
          <p:nvPr/>
        </p:nvSpPr>
        <p:spPr>
          <a:xfrm>
            <a:off x="414067" y="864330"/>
            <a:ext cx="11490386" cy="2240613"/>
          </a:xfrm>
          <a:prstGeom prst="rect">
            <a:avLst/>
          </a:prstGeom>
          <a:noFill/>
        </p:spPr>
        <p:txBody>
          <a:bodyPr wrap="square" numCol="1" rtlCol="0">
            <a:spAutoFit/>
          </a:bodyPr>
          <a:lstStyle/>
          <a:p>
            <a:pPr marL="285750" indent="-285750">
              <a:lnSpc>
                <a:spcPct val="150000"/>
              </a:lnSpc>
              <a:buFont typeface="Arial" panose="020B0604020202020204" pitchFamily="34" charset="0"/>
              <a:buChar char="•"/>
            </a:pPr>
            <a:r>
              <a:rPr lang="en-US" sz="2400" b="1" dirty="0"/>
              <a:t>Reference 1: </a:t>
            </a:r>
            <a:r>
              <a:rPr lang="en-US" sz="2400" dirty="0">
                <a:hlinkClick r:id="rId2"/>
              </a:rPr>
              <a:t>The usefulness of an Augmented Reality-based Interactive 3D Furniture Catalog as a Tool to Aid Furniture Store Sales Operations</a:t>
            </a:r>
            <a:endParaRPr lang="en-IN" sz="2400" dirty="0"/>
          </a:p>
          <a:p>
            <a:pPr marL="285750" indent="-285750">
              <a:lnSpc>
                <a:spcPct val="150000"/>
              </a:lnSpc>
              <a:buFont typeface="Arial" panose="020B0604020202020204" pitchFamily="34" charset="0"/>
              <a:buChar char="•"/>
            </a:pPr>
            <a:r>
              <a:rPr lang="en-IN" sz="2400" b="1" dirty="0"/>
              <a:t>Reference 2</a:t>
            </a:r>
            <a:r>
              <a:rPr lang="en-IN" sz="2400" b="1"/>
              <a:t>: </a:t>
            </a:r>
            <a:r>
              <a:rPr lang="en-US" sz="2400">
                <a:hlinkClick r:id="rId3"/>
              </a:rPr>
              <a:t>Applying Modern Interactive Techniques to Interior </a:t>
            </a:r>
            <a:endParaRPr lang="en-US" sz="2400" dirty="0"/>
          </a:p>
          <a:p>
            <a:pPr>
              <a:lnSpc>
                <a:spcPct val="150000"/>
              </a:lnSpc>
            </a:pPr>
            <a:endParaRPr lang="en-IN" sz="2400" b="1" dirty="0"/>
          </a:p>
        </p:txBody>
      </p:sp>
      <p:sp>
        <p:nvSpPr>
          <p:cNvPr id="6" name="Slide Number Placeholder 5">
            <a:extLst>
              <a:ext uri="{FF2B5EF4-FFF2-40B4-BE49-F238E27FC236}">
                <a16:creationId xmlns:a16="http://schemas.microsoft.com/office/drawing/2014/main" id="{490E2F2D-69BE-FFF5-7BC2-FE771218FAA6}"/>
              </a:ext>
            </a:extLst>
          </p:cNvPr>
          <p:cNvSpPr>
            <a:spLocks noGrp="1"/>
          </p:cNvSpPr>
          <p:nvPr>
            <p:ph type="sldNum" sz="quarter" idx="12"/>
          </p:nvPr>
        </p:nvSpPr>
        <p:spPr/>
        <p:txBody>
          <a:bodyPr/>
          <a:lstStyle/>
          <a:p>
            <a:fld id="{330EA680-D336-4FF7-8B7A-9848BB0A1C32}" type="slidenum">
              <a:rPr lang="en-US" smtClean="0"/>
              <a:pPr/>
              <a:t>43</a:t>
            </a:fld>
            <a:endParaRPr lang="en-US"/>
          </a:p>
        </p:txBody>
      </p:sp>
    </p:spTree>
    <p:extLst>
      <p:ext uri="{BB962C8B-B14F-4D97-AF65-F5344CB8AC3E}">
        <p14:creationId xmlns:p14="http://schemas.microsoft.com/office/powerpoint/2010/main" val="3992497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316</TotalTime>
  <Words>2153</Words>
  <Application>Microsoft Office PowerPoint</Application>
  <PresentationFormat>Widescreen</PresentationFormat>
  <Paragraphs>326</Paragraphs>
  <Slides>43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Aptos</vt:lpstr>
      <vt:lpstr>Arial</vt:lpstr>
      <vt:lpstr>Arial,Sans-Serif</vt:lpstr>
      <vt:lpstr>Calibri</vt:lpstr>
      <vt:lpstr>Franklin Gothic Book</vt:lpstr>
      <vt:lpstr>Franklin Gothic Medium</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Assumptions</vt:lpstr>
      <vt:lpstr>Dependencies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krunal shah</dc:creator>
  <cp:lastModifiedBy>RUSHABH SHETH</cp:lastModifiedBy>
  <cp:revision>24</cp:revision>
  <cp:lastPrinted>2024-10-30T15:27:09Z</cp:lastPrinted>
  <dcterms:created xsi:type="dcterms:W3CDTF">2024-09-12T08:32:15Z</dcterms:created>
  <dcterms:modified xsi:type="dcterms:W3CDTF">2024-10-30T15:36:33Z</dcterms:modified>
</cp:coreProperties>
</file>